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3.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Material retained (%)</c:v>
                </c:pt>
              </c:strCache>
            </c:strRef>
          </c:tx>
          <c:spPr>
            <a:solidFill>
              <a:srgbClr val="1F6F5F"/>
            </a:solidFill>
            <a:ln w="38100" cap="flat">
              <a:solidFill>
                <a:srgbClr val="1F6F5F"/>
              </a:solidFill>
              <a:prstDash val="solid"/>
              <a:round/>
            </a:ln>
            <a:effectLst/>
          </c:spPr>
          <c:invertIfNegative val="0"/>
          <c:dLbls>
            <c:numFmt formatCode="#,##0" sourceLinked="0"/>
            <c:txPr>
              <a:bodyPr/>
              <a:lstStyle/>
              <a:p>
                <a:pPr>
                  <a:defRPr b="0" i="0" strike="noStrike" sz="900" u="none">
                    <a:solidFill>
                      <a:srgbClr val="5D564B"/>
                    </a:solidFill>
                    <a:latin typeface="Arial"/>
                  </a:defRPr>
                </a:pPr>
              </a:p>
            </c:txPr>
            <c:dLblPos val="t"/>
            <c:showLegendKey val="0"/>
            <c:showVal val="1"/>
            <c:showCatName val="0"/>
            <c:showSerName val="0"/>
            <c:showPercent val="0"/>
            <c:showBubbleSize val="0"/>
            <c:showLeaderLines val="0"/>
          </c:dLbls>
          <c:marker>
            <c:symbol val="circle"/>
            <c:size val="6"/>
            <c:spPr>
              <a:solidFill>
                <a:srgbClr val="1F6F5F"/>
              </a:solidFill>
              <a:ln w="9525" cap="flat">
                <a:solidFill>
                  <a:srgbClr val="1F6F5F"/>
                </a:solidFill>
                <a:prstDash val="solid"/>
                <a:round/>
              </a:ln>
              <a:effectLst/>
            </c:spPr>
          </c:marker>
          <c:cat>
            <c:multiLvlStrRef>
              <c:f>Sheet1!$A$2:$A$8</c:f>
              <c:multiLvlStrCache>
                <c:ptCount val="7"/>
                <c:lvl>
                  <c:pt idx="0">
                    <c:v>20 min</c:v>
                  </c:pt>
                  <c:pt idx="1">
                    <c:v>1 hr</c:v>
                  </c:pt>
                  <c:pt idx="2">
                    <c:v>9 hr</c:v>
                  </c:pt>
                  <c:pt idx="3">
                    <c:v>1 day</c:v>
                  </c:pt>
                  <c:pt idx="4">
                    <c:v>2 days</c:v>
                  </c:pt>
                  <c:pt idx="5">
                    <c:v>6 days</c:v>
                  </c:pt>
                  <c:pt idx="6">
                    <c:v>31 days</c:v>
                  </c:pt>
                </c:lvl>
              </c:multiLvlStrCache>
            </c:multiLvlStrRef>
          </c:cat>
          <c:val>
            <c:numRef>
              <c:f>Sheet1!$B$2:$B$8</c:f>
              <c:numCache>
                <c:formatCode>General</c:formatCode>
                <c:ptCount val="7"/>
                <c:pt idx="0">
                  <c:v>58</c:v>
                </c:pt>
                <c:pt idx="1">
                  <c:v>44</c:v>
                </c:pt>
                <c:pt idx="2">
                  <c:v>36</c:v>
                </c:pt>
                <c:pt idx="3">
                  <c:v>34</c:v>
                </c:pt>
                <c:pt idx="4">
                  <c:v>28</c:v>
                </c:pt>
                <c:pt idx="5">
                  <c:v>25</c:v>
                </c:pt>
                <c:pt idx="6">
                  <c:v>21</c:v>
                </c:pt>
              </c:numCache>
            </c:numRef>
          </c:val>
          <c:smooth val="1"/>
        </c:ser>
        <c:dLbls>
          <c:numFmt formatCode="#,##0" sourceLinked="0"/>
          <c:txPr>
            <a:bodyPr/>
            <a:lstStyle/>
            <a:p>
              <a:pPr>
                <a:defRPr b="0" i="0" strike="noStrike" sz="900" u="none">
                  <a:solidFill>
                    <a:srgbClr val="5D564B"/>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857C6D"/>
                </a:solidFill>
                <a:latin typeface="Arial"/>
              </a:defRPr>
            </a:pPr>
            <a:endParaRPr lang="en-US"/>
          </a:p>
        </c:txPr>
        <c:crossAx val="2094734552"/>
        <c:crosses val="autoZero"/>
        <c:auto val="1"/>
        <c:lblAlgn val="ctr"/>
        <c:noMultiLvlLbl val="1"/>
      </c:catAx>
      <c:valAx>
        <c:axId val="2094734552"/>
        <c:scaling>
          <c:orientation val="minMax"/>
          <c:max val="70"/>
          <c:min val="0"/>
        </c:scaling>
        <c:delete val="0"/>
        <c:axPos val="l"/>
        <c:majorGridlines>
          <c:spPr>
            <a:ln w="12700" cap="flat">
              <a:solidFill>
                <a:srgbClr val="E2D9C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57C6D"/>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After 5 minutes</c:v>
                </c:pt>
              </c:strCache>
            </c:strRef>
          </c:tx>
          <c:spPr>
            <a:solidFill>
              <a:srgbClr val="E2D9C8"/>
            </a:solidFill>
            <a:effectLst/>
          </c:spPr>
          <c:invertIfNegative val="0"/>
          <c:dLbls>
            <c:numFmt formatCode="#,##0" sourceLinked="0"/>
            <c:txPr>
              <a:bodyPr/>
              <a:lstStyle/>
              <a:p>
                <a:pPr>
                  <a:defRPr b="0" i="0" strike="noStrike" sz="1000" u="none">
                    <a:solidFill>
                      <a:srgbClr val="5D564B"/>
                    </a:solidFill>
                    <a:latin typeface="Arial"/>
                  </a:defRPr>
                </a:pPr>
              </a:p>
            </c:txPr>
            <c:showLegendKey val="0"/>
            <c:showVal val="1"/>
            <c:showCatName val="0"/>
            <c:showSerName val="0"/>
            <c:showPercent val="0"/>
            <c:showBubbleSize val="0"/>
            <c:showLeaderLines val="0"/>
          </c:dLbls>
          <c:cat>
            <c:multiLvlStrRef>
              <c:f>Sheet1!$A$2:$A$4</c:f>
              <c:multiLvlStrCache>
                <c:ptCount val="3"/>
                <c:lvl>
                  <c:pt idx="0">
                    <c:v>Study ×4</c:v>
                  </c:pt>
                  <c:pt idx="1">
                    <c:v>Study ×3, test ×1</c:v>
                  </c:pt>
                  <c:pt idx="2">
                    <c:v>Study ×1, test ×3</c:v>
                  </c:pt>
                </c:lvl>
              </c:multiLvlStrCache>
            </c:multiLvlStrRef>
          </c:cat>
          <c:val>
            <c:numRef>
              <c:f>Sheet1!$B$2:$B$4</c:f>
              <c:numCache>
                <c:formatCode>General</c:formatCode>
                <c:ptCount val="3"/>
                <c:pt idx="0">
                  <c:v>83</c:v>
                </c:pt>
                <c:pt idx="1">
                  <c:v>78</c:v>
                </c:pt>
                <c:pt idx="2">
                  <c:v>71</c:v>
                </c:pt>
              </c:numCache>
            </c:numRef>
          </c:val>
        </c:ser>
        <c:ser>
          <c:idx val="1"/>
          <c:order val="1"/>
          <c:tx>
            <c:strRef>
              <c:f>Sheet1!$C$1</c:f>
              <c:strCache>
                <c:ptCount val="1"/>
                <c:pt idx="0">
                  <c:v>After 1 week</c:v>
                </c:pt>
              </c:strCache>
            </c:strRef>
          </c:tx>
          <c:spPr>
            <a:solidFill>
              <a:srgbClr val="1F6F5F"/>
            </a:solidFill>
            <a:effectLst/>
          </c:spPr>
          <c:invertIfNegative val="0"/>
          <c:dLbls>
            <c:numFmt formatCode="#,##0" sourceLinked="0"/>
            <c:txPr>
              <a:bodyPr/>
              <a:lstStyle/>
              <a:p>
                <a:pPr>
                  <a:defRPr b="0" i="0" strike="noStrike" sz="1000" u="none">
                    <a:solidFill>
                      <a:srgbClr val="5D564B"/>
                    </a:solidFill>
                    <a:latin typeface="Arial"/>
                  </a:defRPr>
                </a:pPr>
              </a:p>
            </c:txPr>
            <c:showLegendKey val="0"/>
            <c:showVal val="1"/>
            <c:showCatName val="0"/>
            <c:showSerName val="0"/>
            <c:showPercent val="0"/>
            <c:showBubbleSize val="0"/>
            <c:showLeaderLines val="0"/>
          </c:dLbls>
          <c:cat>
            <c:multiLvlStrRef>
              <c:f>Sheet1!$A$2:$A$4</c:f>
              <c:multiLvlStrCache>
                <c:ptCount val="3"/>
                <c:lvl>
                  <c:pt idx="0">
                    <c:v>Study ×4</c:v>
                  </c:pt>
                  <c:pt idx="1">
                    <c:v>Study ×3, test ×1</c:v>
                  </c:pt>
                  <c:pt idx="2">
                    <c:v>Study ×1, test ×3</c:v>
                  </c:pt>
                </c:lvl>
              </c:multiLvlStrCache>
            </c:multiLvlStrRef>
          </c:cat>
          <c:val>
            <c:numRef>
              <c:f>Sheet1!$C$2:$C$4</c:f>
              <c:numCache>
                <c:formatCode>General</c:formatCode>
                <c:ptCount val="3"/>
                <c:pt idx="0">
                  <c:v>40</c:v>
                </c:pt>
                <c:pt idx="1">
                  <c:v>56</c:v>
                </c:pt>
                <c:pt idx="2">
                  <c:v>61</c:v>
                </c:pt>
              </c:numCache>
            </c:numRef>
          </c:val>
        </c:ser>
        <c:dLbls>
          <c:numFmt formatCode="#,##0" sourceLinked="0"/>
          <c:txPr>
            <a:bodyPr/>
            <a:lstStyle/>
            <a:p>
              <a:pPr>
                <a:defRPr b="0" i="0" strike="noStrike" sz="1000" u="none">
                  <a:solidFill>
                    <a:srgbClr val="5D564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857C6D"/>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E2D9C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57C6D"/>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5D564B"/>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Interval (days)</c:v>
                </c:pt>
              </c:strCache>
            </c:strRef>
          </c:tx>
          <c:spPr>
            <a:solidFill>
              <a:srgbClr val="1F6F5F"/>
            </a:solidFill>
            <a:ln w="38100" cap="flat">
              <a:solidFill>
                <a:srgbClr val="1F6F5F"/>
              </a:solidFill>
              <a:prstDash val="solid"/>
              <a:round/>
            </a:ln>
            <a:effectLst/>
          </c:spPr>
          <c:invertIfNegative val="0"/>
          <c:dLbls>
            <c:numFmt formatCode="#,##0" sourceLinked="0"/>
            <c:txPr>
              <a:bodyPr/>
              <a:lstStyle/>
              <a:p>
                <a:pPr>
                  <a:defRPr b="0" i="0" strike="noStrike" sz="900" u="none">
                    <a:solidFill>
                      <a:srgbClr val="5D564B"/>
                    </a:solidFill>
                    <a:latin typeface="Arial"/>
                  </a:defRPr>
                </a:pPr>
              </a:p>
            </c:txPr>
            <c:dLblPos val="t"/>
            <c:showLegendKey val="0"/>
            <c:showVal val="1"/>
            <c:showCatName val="0"/>
            <c:showSerName val="0"/>
            <c:showPercent val="0"/>
            <c:showBubbleSize val="0"/>
            <c:showLeaderLines val="0"/>
          </c:dLbls>
          <c:marker>
            <c:symbol val="circle"/>
            <c:size val="7"/>
            <c:spPr>
              <a:solidFill>
                <a:srgbClr val="1F6F5F"/>
              </a:solidFill>
              <a:ln w="9525" cap="flat">
                <a:solidFill>
                  <a:srgbClr val="1F6F5F"/>
                </a:solidFill>
                <a:prstDash val="solid"/>
                <a:round/>
              </a:ln>
              <a:effectLst/>
            </c:spPr>
          </c:marker>
          <c:cat>
            <c:multiLvlStrRef>
              <c:f>Sheet1!$A$2:$A$10</c:f>
              <c:multiLvlStrCache>
                <c:ptCount val="9"/>
                <c:lvl>
                  <c:pt idx="0">
                    <c:v>R1</c:v>
                  </c:pt>
                  <c:pt idx="1">
                    <c:v>R2</c:v>
                  </c:pt>
                  <c:pt idx="2">
                    <c:v>R3</c:v>
                  </c:pt>
                  <c:pt idx="3">
                    <c:v>R4</c:v>
                  </c:pt>
                  <c:pt idx="4">
                    <c:v>R5</c:v>
                  </c:pt>
                  <c:pt idx="5">
                    <c:v>R6</c:v>
                  </c:pt>
                  <c:pt idx="6">
                    <c:v>R7</c:v>
                  </c:pt>
                  <c:pt idx="7">
                    <c:v>R8</c:v>
                  </c:pt>
                  <c:pt idx="8">
                    <c:v>R9</c:v>
                  </c:pt>
                </c:lvl>
              </c:multiLvlStrCache>
            </c:multiLvlStrRef>
          </c:cat>
          <c:val>
            <c:numRef>
              <c:f>Sheet1!$B$2:$B$10</c:f>
              <c:numCache>
                <c:formatCode>General</c:formatCode>
                <c:ptCount val="9"/>
                <c:pt idx="0">
                  <c:v>1</c:v>
                </c:pt>
                <c:pt idx="1">
                  <c:v>3</c:v>
                </c:pt>
                <c:pt idx="2">
                  <c:v>7</c:v>
                </c:pt>
                <c:pt idx="3">
                  <c:v>14</c:v>
                </c:pt>
                <c:pt idx="4">
                  <c:v>1</c:v>
                </c:pt>
                <c:pt idx="5">
                  <c:v>3</c:v>
                </c:pt>
                <c:pt idx="6">
                  <c:v>7</c:v>
                </c:pt>
                <c:pt idx="7">
                  <c:v>14</c:v>
                </c:pt>
                <c:pt idx="8">
                  <c:v>30</c:v>
                </c:pt>
              </c:numCache>
            </c:numRef>
          </c:val>
          <c:smooth val="0"/>
        </c:ser>
        <c:dLbls>
          <c:numFmt formatCode="#,##0" sourceLinked="0"/>
          <c:txPr>
            <a:bodyPr/>
            <a:lstStyle/>
            <a:p>
              <a:pPr>
                <a:defRPr b="0" i="0" strike="noStrike" sz="900" u="none">
                  <a:solidFill>
                    <a:srgbClr val="5D564B"/>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857C6D"/>
                </a:solidFill>
                <a:latin typeface="Arial"/>
              </a:defRPr>
            </a:pPr>
            <a:endParaRPr lang="en-US"/>
          </a:p>
        </c:txPr>
        <c:crossAx val="2094734552"/>
        <c:crosses val="autoZero"/>
        <c:auto val="1"/>
        <c:lblAlgn val="ctr"/>
        <c:noMultiLvlLbl val="1"/>
      </c:catAx>
      <c:valAx>
        <c:axId val="2094734552"/>
        <c:scaling>
          <c:orientation val="minMax"/>
          <c:max val="35"/>
          <c:min val="0"/>
        </c:scaling>
        <c:delete val="0"/>
        <c:axPos val="l"/>
        <c:majorGridlines>
          <c:spPr>
            <a:ln w="12700" cap="flat">
              <a:solidFill>
                <a:srgbClr val="E2D9C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57C6D"/>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the methodology of Hifz Companion: what it schedules, why, and what published research that design rests on. It is a design rationale, not a claim of clinical efficacy — see the limitations slide near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parts: the problem, the tradition, the science, the algorithm, and an honest account of the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tradition itself frames hifz as something that leaks and must be actively held. That is exactly the situation spaced repetition was designed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layers, three different scheduling problems. Sabaq is acquisition; sabqi is consolidation; manzil is maintenance.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matters to be accurate here. The three names are real and widespread, but the specific numbers 1-3-7-14-30 are not traditional — they come from the spacing literature.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forgetting curve is the reason intervals expand rather than stay constant. Be clear that the exact percentages do not transfer to Qur'anic memorisation.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strongest evidential plank: the spacing effect is one of the most replicated findings in psychology, and the optimal-gap-grows-with-retention-interval result is what justifies a ladder rather than a fixed weekly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reversal: massed re-reading wins at 5 minutes and loses badly at a week. This is why the app refuses to treat reading a page as practice, and why it asks for a rating instead of a tick.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careful not to overstate the expanding-interval case. The honest version is: final recall is about equal, but average recallability during training is higher, and that is what a hafiz actually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principle is what justifies design choices that users sometimes find annoying: the curtain, the long gaps, the refusal to mark a page done without a rating.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clearest single justification for the whole design. The two highest-graded techniques in the review are precisely retrieval practice and distributed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column: the research principle. Right column: the concrete feature it produced. Nothing in the app is there because it looked nice.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steps, repeated every day. The rating in step 4 is the sole input; everything else is deterministic arithmetic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ratings, collapsing into three branches: lapse, hold, advance. Users only ever see the six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rungs. Note the day numbers: a page completed today is fully through the ladder in about eight weeks, if every recitation is 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ease mechanism is borrowed from the SuperMemo/Anki family, with a narrower band and gentler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columns, and that genuinely is the whole algorithm. Transparency was a deliberate design goal: a user should be able to predict their own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weak flag is the app's memory of a failure, independent of the interval. It is a priority signal, not an extra penalty.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conditions, both required. And the demotion rule matters as much as the promotion rule: manzil is not a graveyard where pages go to be forgotten.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capping and spreading logic is the least glamorous part of the app and probably the most important for whether someone is still using it in a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rule closed a real loophole: without it, four 5s on completion day could walk a brand-new page straight to a 30-day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dip: the value of the design is that the collapse at R5 is cheap and early rather than discovered a year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is not trying to be optimal in the SuperMemo sense. It is trying to be sustainable and legible for a specific, lifelong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Settings → Help runs the scheduler self-test in front of the user. Nothing about the schedule is hidden from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not a disclaimer bolted on. Being explicit about what is evidence and what is a judgement call is part of the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sources, all verifiable. The hadith are linked rather than reproduced at length.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one-line summary. The app is deliberately modest about its own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453C"/>
        </a:solidFill>
      </p:bgPr>
    </p:bg>
    <p:spTree>
      <p:nvGrpSpPr>
        <p:cNvPr id="1" name=""/>
        <p:cNvGrpSpPr/>
        <p:nvPr/>
      </p:nvGrpSpPr>
      <p:grpSpPr>
        <a:xfrm>
          <a:off x="0" y="0"/>
          <a:ext cx="0" cy="0"/>
          <a:chOff x="0" y="0"/>
          <a:chExt cx="0" cy="0"/>
        </a:xfrm>
      </p:grpSpPr>
      <p:sp>
        <p:nvSpPr>
          <p:cNvPr id="2" name="Text 0"/>
          <p:cNvSpPr txBox="1"/>
          <p:nvPr/>
        </p:nvSpPr>
        <p:spPr>
          <a:xfrm>
            <a:off x="731520" y="1051560"/>
            <a:ext cx="7680960" cy="73152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Hifz Companion</a:t>
            </a:r>
            <a:endParaRPr lang="en-US" sz="4200" dirty="0"/>
          </a:p>
        </p:txBody>
      </p:sp>
      <p:sp>
        <p:nvSpPr>
          <p:cNvPr id="3" name="Text 1"/>
          <p:cNvSpPr txBox="1"/>
          <p:nvPr/>
        </p:nvSpPr>
        <p:spPr>
          <a:xfrm>
            <a:off x="731520" y="1810512"/>
            <a:ext cx="7680960" cy="457200"/>
          </a:xfrm>
          <a:prstGeom prst="rect">
            <a:avLst/>
          </a:prstGeom>
          <a:noFill/>
          <a:ln/>
        </p:spPr>
        <p:txBody>
          <a:bodyPr wrap="square" lIns="0" tIns="0" rIns="0" bIns="0" rtlCol="0" anchor="ctr"/>
          <a:lstStyle/>
          <a:p>
            <a:pPr indent="0" marL="0">
              <a:buNone/>
            </a:pPr>
            <a:r>
              <a:rPr lang="en-US" sz="2200" dirty="0">
                <a:solidFill>
                  <a:srgbClr val="CFE3DC"/>
                </a:solidFill>
                <a:latin typeface="Calibri" pitchFamily="34" charset="0"/>
                <a:ea typeface="Calibri" pitchFamily="34" charset="-122"/>
                <a:cs typeface="Calibri" pitchFamily="34" charset="-120"/>
              </a:rPr>
              <a:t>The method behind the app</a:t>
            </a:r>
            <a:endParaRPr lang="en-US" sz="2200" dirty="0"/>
          </a:p>
        </p:txBody>
      </p:sp>
      <p:sp>
        <p:nvSpPr>
          <p:cNvPr id="4" name="Text 2"/>
          <p:cNvSpPr txBox="1"/>
          <p:nvPr/>
        </p:nvSpPr>
        <p:spPr>
          <a:xfrm>
            <a:off x="731520" y="2377440"/>
            <a:ext cx="7680960" cy="822960"/>
          </a:xfrm>
          <a:prstGeom prst="rect">
            <a:avLst/>
          </a:prstGeom>
          <a:noFill/>
          <a:ln/>
        </p:spPr>
        <p:txBody>
          <a:bodyPr wrap="square" lIns="0" tIns="0" rIns="0" bIns="0" rtlCol="0" anchor="ctr"/>
          <a:lstStyle/>
          <a:p>
            <a:pPr indent="0" marL="0">
              <a:lnSpc>
                <a:spcPct val="130000"/>
              </a:lnSpc>
              <a:buNone/>
            </a:pPr>
            <a:r>
              <a:rPr lang="en-US" sz="1400" dirty="0">
                <a:solidFill>
                  <a:srgbClr val="A9C7BE"/>
                </a:solidFill>
                <a:latin typeface="Calibri" pitchFamily="34" charset="0"/>
                <a:ea typeface="Calibri" pitchFamily="34" charset="-122"/>
                <a:cs typeface="Calibri" pitchFamily="34" charset="-120"/>
              </a:rPr>
              <a:t>How the classical three-fold ḥifẓ discipline — sabaq, sabqi, manzil — is joined to</a:t>
            </a:r>
            <a:endParaRPr lang="en-US" sz="1400" dirty="0"/>
          </a:p>
          <a:p>
            <a:pPr indent="0" marL="0">
              <a:lnSpc>
                <a:spcPct val="130000"/>
              </a:lnSpc>
              <a:buNone/>
            </a:pPr>
            <a:r>
              <a:rPr lang="en-US" sz="1400" dirty="0">
                <a:solidFill>
                  <a:srgbClr val="A9C7BE"/>
                </a:solidFill>
                <a:latin typeface="Calibri" pitchFamily="34" charset="0"/>
                <a:ea typeface="Calibri" pitchFamily="34" charset="-122"/>
                <a:cs typeface="Calibri" pitchFamily="34" charset="-120"/>
              </a:rPr>
              <a:t>the evidence on spaced repetition and retrieval practice, and turned into a scheduler.</a:t>
            </a:r>
            <a:endParaRPr lang="en-US" sz="1400" dirty="0"/>
          </a:p>
        </p:txBody>
      </p:sp>
      <p:sp>
        <p:nvSpPr>
          <p:cNvPr id="5" name="Shape 3"/>
          <p:cNvSpPr/>
          <p:nvPr/>
        </p:nvSpPr>
        <p:spPr>
          <a:xfrm>
            <a:off x="731520" y="3429000"/>
            <a:ext cx="3200400" cy="530352"/>
          </a:xfrm>
          <a:prstGeom prst="roundRect">
            <a:avLst>
              <a:gd name="adj" fmla="val 17241"/>
            </a:avLst>
          </a:prstGeom>
          <a:solidFill>
            <a:srgbClr val="B8860B"/>
          </a:solidFill>
          <a:ln/>
        </p:spPr>
      </p:sp>
      <p:sp>
        <p:nvSpPr>
          <p:cNvPr id="6" name="Text 4"/>
          <p:cNvSpPr txBox="1"/>
          <p:nvPr/>
        </p:nvSpPr>
        <p:spPr>
          <a:xfrm>
            <a:off x="731520" y="3547872"/>
            <a:ext cx="3200400"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mazhar17.github.io/hc</a:t>
            </a:r>
            <a:endParaRPr lang="en-US" sz="1400" dirty="0"/>
          </a:p>
        </p:txBody>
      </p:sp>
      <p:sp>
        <p:nvSpPr>
          <p:cNvPr id="7" name="Text 5"/>
          <p:cNvSpPr txBox="1"/>
          <p:nvPr/>
        </p:nvSpPr>
        <p:spPr>
          <a:xfrm>
            <a:off x="4160520" y="3547872"/>
            <a:ext cx="4206240" cy="310896"/>
          </a:xfrm>
          <a:prstGeom prst="rect">
            <a:avLst/>
          </a:prstGeom>
          <a:noFill/>
          <a:ln/>
        </p:spPr>
        <p:txBody>
          <a:bodyPr wrap="square" lIns="0" tIns="0" rIns="0" bIns="0" rtlCol="0" anchor="ctr"/>
          <a:lstStyle/>
          <a:p>
            <a:pPr indent="0" marL="0">
              <a:buNone/>
            </a:pPr>
            <a:r>
              <a:rPr lang="en-US" sz="1200" dirty="0">
                <a:solidFill>
                  <a:srgbClr val="A9C7BE"/>
                </a:solidFill>
                <a:latin typeface="Calibri" pitchFamily="34" charset="0"/>
                <a:ea typeface="Calibri" pitchFamily="34" charset="-122"/>
                <a:cs typeface="Calibri" pitchFamily="34" charset="-120"/>
              </a:rPr>
              <a:t>Version 1.21.4  ·  free, no account, works offline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10896"/>
            <a:ext cx="8046720" cy="237744"/>
          </a:xfrm>
          <a:prstGeom prst="rect">
            <a:avLst/>
          </a:prstGeom>
          <a:noFill/>
          <a:ln/>
        </p:spPr>
        <p:txBody>
          <a:bodyPr wrap="square" lIns="0" tIns="0" rIns="0" bIns="0" rtlCol="0" anchor="ctr"/>
          <a:lstStyle/>
          <a:p>
            <a:pPr indent="0" marL="0">
              <a:buNone/>
            </a:pPr>
            <a:r>
              <a:rPr lang="en-US" sz="1100" b="1" spc="200" kern="0" dirty="0">
                <a:solidFill>
                  <a:srgbClr val="B8860B"/>
                </a:solidFill>
                <a:latin typeface="Calibri" pitchFamily="34" charset="0"/>
                <a:ea typeface="Calibri" pitchFamily="34" charset="-122"/>
                <a:cs typeface="Calibri" pitchFamily="34" charset="-120"/>
              </a:rPr>
              <a:t>CONTENTS</a:t>
            </a:r>
            <a:endParaRPr lang="en-US" sz="1100" dirty="0"/>
          </a:p>
        </p:txBody>
      </p:sp>
      <p:sp>
        <p:nvSpPr>
          <p:cNvPr id="3" name="Text 1"/>
          <p:cNvSpPr txBox="1"/>
          <p:nvPr/>
        </p:nvSpPr>
        <p:spPr>
          <a:xfrm>
            <a:off x="548640" y="530352"/>
            <a:ext cx="8046720" cy="603504"/>
          </a:xfrm>
          <a:prstGeom prst="rect">
            <a:avLst/>
          </a:prstGeom>
          <a:noFill/>
          <a:ln/>
        </p:spPr>
        <p:txBody>
          <a:bodyPr wrap="square" lIns="0" tIns="0" rIns="0" bIns="0" rtlCol="0" anchor="ctr"/>
          <a:lstStyle/>
          <a:p>
            <a:pPr indent="0" marL="0">
              <a:buNone/>
            </a:pPr>
            <a:r>
              <a:rPr lang="en-US" sz="2900" b="1" dirty="0">
                <a:solidFill>
                  <a:srgbClr val="1F6F5F"/>
                </a:solidFill>
                <a:latin typeface="Cambria" pitchFamily="34" charset="0"/>
                <a:ea typeface="Cambria" pitchFamily="34" charset="-122"/>
                <a:cs typeface="Cambria" pitchFamily="34" charset="-120"/>
              </a:rPr>
              <a:t>What this deck covers</a:t>
            </a:r>
            <a:endParaRPr lang="en-US" sz="2900" dirty="0"/>
          </a:p>
        </p:txBody>
      </p:sp>
      <p:sp>
        <p:nvSpPr>
          <p:cNvPr id="4" name="Shape 2"/>
          <p:cNvSpPr/>
          <p:nvPr/>
        </p:nvSpPr>
        <p:spPr>
          <a:xfrm>
            <a:off x="548640" y="1298448"/>
            <a:ext cx="402336" cy="402336"/>
          </a:xfrm>
          <a:prstGeom prst="ellipse">
            <a:avLst/>
          </a:prstGeom>
          <a:solidFill>
            <a:srgbClr val="1F6F5F"/>
          </a:solidFill>
          <a:ln/>
        </p:spPr>
      </p:sp>
      <p:sp>
        <p:nvSpPr>
          <p:cNvPr id="5" name="Text 3"/>
          <p:cNvSpPr txBox="1"/>
          <p:nvPr/>
        </p:nvSpPr>
        <p:spPr>
          <a:xfrm>
            <a:off x="548640" y="1353312"/>
            <a:ext cx="402336" cy="301752"/>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A</a:t>
            </a:r>
            <a:endParaRPr lang="en-US" sz="1350" dirty="0"/>
          </a:p>
        </p:txBody>
      </p:sp>
      <p:sp>
        <p:nvSpPr>
          <p:cNvPr id="6" name="Text 4"/>
          <p:cNvSpPr txBox="1"/>
          <p:nvPr/>
        </p:nvSpPr>
        <p:spPr>
          <a:xfrm>
            <a:off x="1115568" y="1261872"/>
            <a:ext cx="7479792" cy="274320"/>
          </a:xfrm>
          <a:prstGeom prst="rect">
            <a:avLst/>
          </a:prstGeom>
          <a:noFill/>
          <a:ln/>
        </p:spPr>
        <p:txBody>
          <a:bodyPr wrap="square" lIns="0" tIns="0" rIns="0" bIns="0" rtlCol="0" anchor="ctr"/>
          <a:lstStyle/>
          <a:p>
            <a:pPr indent="0" marL="0">
              <a:buNone/>
            </a:pPr>
            <a:r>
              <a:rPr lang="en-US" sz="1400" b="1" dirty="0">
                <a:solidFill>
                  <a:srgbClr val="23201B"/>
                </a:solidFill>
                <a:latin typeface="Calibri" pitchFamily="34" charset="0"/>
                <a:ea typeface="Calibri" pitchFamily="34" charset="-122"/>
                <a:cs typeface="Calibri" pitchFamily="34" charset="-120"/>
              </a:rPr>
              <a:t>The problem</a:t>
            </a:r>
            <a:endParaRPr lang="en-US" sz="1400" dirty="0"/>
          </a:p>
        </p:txBody>
      </p:sp>
      <p:sp>
        <p:nvSpPr>
          <p:cNvPr id="7" name="Text 5"/>
          <p:cNvSpPr txBox="1"/>
          <p:nvPr/>
        </p:nvSpPr>
        <p:spPr>
          <a:xfrm>
            <a:off x="1115568" y="1527048"/>
            <a:ext cx="7479792" cy="365760"/>
          </a:xfrm>
          <a:prstGeom prst="rect">
            <a:avLst/>
          </a:prstGeom>
          <a:noFill/>
          <a:ln/>
        </p:spPr>
        <p:txBody>
          <a:bodyPr wrap="square" lIns="0" tIns="0" rIns="0" bIns="0" rtlCol="0" anchor="ctr"/>
          <a:lstStyle/>
          <a:p>
            <a:pPr indent="0" marL="0">
              <a:lnSpc>
                <a:spcPct val="110000"/>
              </a:lnSpc>
              <a:buNone/>
            </a:pPr>
            <a:r>
              <a:rPr lang="en-US" sz="1150" dirty="0">
                <a:solidFill>
                  <a:srgbClr val="857C6D"/>
                </a:solidFill>
                <a:latin typeface="Calibri" pitchFamily="34" charset="0"/>
                <a:ea typeface="Calibri" pitchFamily="34" charset="-122"/>
                <a:cs typeface="Calibri" pitchFamily="34" charset="-120"/>
              </a:rPr>
              <a:t>Memorising a page is easy. Keeping 604 of them is the hard part.</a:t>
            </a:r>
            <a:endParaRPr lang="en-US" sz="1150" dirty="0"/>
          </a:p>
        </p:txBody>
      </p:sp>
      <p:sp>
        <p:nvSpPr>
          <p:cNvPr id="8" name="Shape 6"/>
          <p:cNvSpPr/>
          <p:nvPr/>
        </p:nvSpPr>
        <p:spPr>
          <a:xfrm>
            <a:off x="548640" y="1956816"/>
            <a:ext cx="402336" cy="402336"/>
          </a:xfrm>
          <a:prstGeom prst="ellipse">
            <a:avLst/>
          </a:prstGeom>
          <a:solidFill>
            <a:srgbClr val="1F6F5F"/>
          </a:solidFill>
          <a:ln/>
        </p:spPr>
      </p:sp>
      <p:sp>
        <p:nvSpPr>
          <p:cNvPr id="9" name="Text 7"/>
          <p:cNvSpPr txBox="1"/>
          <p:nvPr/>
        </p:nvSpPr>
        <p:spPr>
          <a:xfrm>
            <a:off x="548640" y="2011680"/>
            <a:ext cx="402336" cy="301752"/>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B</a:t>
            </a:r>
            <a:endParaRPr lang="en-US" sz="1350" dirty="0"/>
          </a:p>
        </p:txBody>
      </p:sp>
      <p:sp>
        <p:nvSpPr>
          <p:cNvPr id="10" name="Text 8"/>
          <p:cNvSpPr txBox="1"/>
          <p:nvPr/>
        </p:nvSpPr>
        <p:spPr>
          <a:xfrm>
            <a:off x="1115568" y="1920240"/>
            <a:ext cx="7479792" cy="274320"/>
          </a:xfrm>
          <a:prstGeom prst="rect">
            <a:avLst/>
          </a:prstGeom>
          <a:noFill/>
          <a:ln/>
        </p:spPr>
        <p:txBody>
          <a:bodyPr wrap="square" lIns="0" tIns="0" rIns="0" bIns="0" rtlCol="0" anchor="ctr"/>
          <a:lstStyle/>
          <a:p>
            <a:pPr indent="0" marL="0">
              <a:buNone/>
            </a:pPr>
            <a:r>
              <a:rPr lang="en-US" sz="1400" b="1" dirty="0">
                <a:solidFill>
                  <a:srgbClr val="23201B"/>
                </a:solidFill>
                <a:latin typeface="Calibri" pitchFamily="34" charset="0"/>
                <a:ea typeface="Calibri" pitchFamily="34" charset="-122"/>
                <a:cs typeface="Calibri" pitchFamily="34" charset="-120"/>
              </a:rPr>
              <a:t>The classical frame</a:t>
            </a:r>
            <a:endParaRPr lang="en-US" sz="1400" dirty="0"/>
          </a:p>
        </p:txBody>
      </p:sp>
      <p:sp>
        <p:nvSpPr>
          <p:cNvPr id="11" name="Text 9"/>
          <p:cNvSpPr txBox="1"/>
          <p:nvPr/>
        </p:nvSpPr>
        <p:spPr>
          <a:xfrm>
            <a:off x="1115568" y="2185416"/>
            <a:ext cx="7479792" cy="365760"/>
          </a:xfrm>
          <a:prstGeom prst="rect">
            <a:avLst/>
          </a:prstGeom>
          <a:noFill/>
          <a:ln/>
        </p:spPr>
        <p:txBody>
          <a:bodyPr wrap="square" lIns="0" tIns="0" rIns="0" bIns="0" rtlCol="0" anchor="ctr"/>
          <a:lstStyle/>
          <a:p>
            <a:pPr indent="0" marL="0">
              <a:lnSpc>
                <a:spcPct val="110000"/>
              </a:lnSpc>
              <a:buNone/>
            </a:pPr>
            <a:r>
              <a:rPr lang="en-US" sz="1150" dirty="0">
                <a:solidFill>
                  <a:srgbClr val="857C6D"/>
                </a:solidFill>
                <a:latin typeface="Calibri" pitchFamily="34" charset="0"/>
                <a:ea typeface="Calibri" pitchFamily="34" charset="-122"/>
                <a:cs typeface="Calibri" pitchFamily="34" charset="-120"/>
              </a:rPr>
              <a:t>Sabaq, sabqi and manzil — what they are and where the terms come from.</a:t>
            </a:r>
            <a:endParaRPr lang="en-US" sz="1150" dirty="0"/>
          </a:p>
        </p:txBody>
      </p:sp>
      <p:sp>
        <p:nvSpPr>
          <p:cNvPr id="12" name="Shape 10"/>
          <p:cNvSpPr/>
          <p:nvPr/>
        </p:nvSpPr>
        <p:spPr>
          <a:xfrm>
            <a:off x="548640" y="2615184"/>
            <a:ext cx="402336" cy="402336"/>
          </a:xfrm>
          <a:prstGeom prst="ellipse">
            <a:avLst/>
          </a:prstGeom>
          <a:solidFill>
            <a:srgbClr val="2B5F9E"/>
          </a:solidFill>
          <a:ln/>
        </p:spPr>
      </p:sp>
      <p:sp>
        <p:nvSpPr>
          <p:cNvPr id="13" name="Text 11"/>
          <p:cNvSpPr txBox="1"/>
          <p:nvPr/>
        </p:nvSpPr>
        <p:spPr>
          <a:xfrm>
            <a:off x="548640" y="2670048"/>
            <a:ext cx="402336" cy="301752"/>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C</a:t>
            </a:r>
            <a:endParaRPr lang="en-US" sz="1350" dirty="0"/>
          </a:p>
        </p:txBody>
      </p:sp>
      <p:sp>
        <p:nvSpPr>
          <p:cNvPr id="14" name="Text 12"/>
          <p:cNvSpPr txBox="1"/>
          <p:nvPr/>
        </p:nvSpPr>
        <p:spPr>
          <a:xfrm>
            <a:off x="1115568" y="2578608"/>
            <a:ext cx="7479792" cy="274320"/>
          </a:xfrm>
          <a:prstGeom prst="rect">
            <a:avLst/>
          </a:prstGeom>
          <a:noFill/>
          <a:ln/>
        </p:spPr>
        <p:txBody>
          <a:bodyPr wrap="square" lIns="0" tIns="0" rIns="0" bIns="0" rtlCol="0" anchor="ctr"/>
          <a:lstStyle/>
          <a:p>
            <a:pPr indent="0" marL="0">
              <a:buNone/>
            </a:pPr>
            <a:r>
              <a:rPr lang="en-US" sz="1400" b="1" dirty="0">
                <a:solidFill>
                  <a:srgbClr val="23201B"/>
                </a:solidFill>
                <a:latin typeface="Calibri" pitchFamily="34" charset="0"/>
                <a:ea typeface="Calibri" pitchFamily="34" charset="-122"/>
                <a:cs typeface="Calibri" pitchFamily="34" charset="-120"/>
              </a:rPr>
              <a:t>The evidence</a:t>
            </a:r>
            <a:endParaRPr lang="en-US" sz="1400" dirty="0"/>
          </a:p>
        </p:txBody>
      </p:sp>
      <p:sp>
        <p:nvSpPr>
          <p:cNvPr id="15" name="Text 13"/>
          <p:cNvSpPr txBox="1"/>
          <p:nvPr/>
        </p:nvSpPr>
        <p:spPr>
          <a:xfrm>
            <a:off x="1115568" y="2843784"/>
            <a:ext cx="7479792" cy="365760"/>
          </a:xfrm>
          <a:prstGeom prst="rect">
            <a:avLst/>
          </a:prstGeom>
          <a:noFill/>
          <a:ln/>
        </p:spPr>
        <p:txBody>
          <a:bodyPr wrap="square" lIns="0" tIns="0" rIns="0" bIns="0" rtlCol="0" anchor="ctr"/>
          <a:lstStyle/>
          <a:p>
            <a:pPr indent="0" marL="0">
              <a:lnSpc>
                <a:spcPct val="110000"/>
              </a:lnSpc>
              <a:buNone/>
            </a:pPr>
            <a:r>
              <a:rPr lang="en-US" sz="1150" dirty="0">
                <a:solidFill>
                  <a:srgbClr val="857C6D"/>
                </a:solidFill>
                <a:latin typeface="Calibri" pitchFamily="34" charset="0"/>
                <a:ea typeface="Calibri" pitchFamily="34" charset="-122"/>
                <a:cs typeface="Calibri" pitchFamily="34" charset="-120"/>
              </a:rPr>
              <a:t>Forgetting curves, the spacing effect, retrieval practice, expanding intervals.</a:t>
            </a:r>
            <a:endParaRPr lang="en-US" sz="1150" dirty="0"/>
          </a:p>
        </p:txBody>
      </p:sp>
      <p:sp>
        <p:nvSpPr>
          <p:cNvPr id="16" name="Shape 14"/>
          <p:cNvSpPr/>
          <p:nvPr/>
        </p:nvSpPr>
        <p:spPr>
          <a:xfrm>
            <a:off x="548640" y="3273552"/>
            <a:ext cx="402336" cy="402336"/>
          </a:xfrm>
          <a:prstGeom prst="ellipse">
            <a:avLst/>
          </a:prstGeom>
          <a:solidFill>
            <a:srgbClr val="2B5F9E"/>
          </a:solidFill>
          <a:ln/>
        </p:spPr>
      </p:sp>
      <p:sp>
        <p:nvSpPr>
          <p:cNvPr id="17" name="Text 15"/>
          <p:cNvSpPr txBox="1"/>
          <p:nvPr/>
        </p:nvSpPr>
        <p:spPr>
          <a:xfrm>
            <a:off x="548640" y="3328416"/>
            <a:ext cx="402336" cy="301752"/>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D</a:t>
            </a:r>
            <a:endParaRPr lang="en-US" sz="1350" dirty="0"/>
          </a:p>
        </p:txBody>
      </p:sp>
      <p:sp>
        <p:nvSpPr>
          <p:cNvPr id="18" name="Text 16"/>
          <p:cNvSpPr txBox="1"/>
          <p:nvPr/>
        </p:nvSpPr>
        <p:spPr>
          <a:xfrm>
            <a:off x="1115568" y="3236976"/>
            <a:ext cx="7479792" cy="274320"/>
          </a:xfrm>
          <a:prstGeom prst="rect">
            <a:avLst/>
          </a:prstGeom>
          <a:noFill/>
          <a:ln/>
        </p:spPr>
        <p:txBody>
          <a:bodyPr wrap="square" lIns="0" tIns="0" rIns="0" bIns="0" rtlCol="0" anchor="ctr"/>
          <a:lstStyle/>
          <a:p>
            <a:pPr indent="0" marL="0">
              <a:buNone/>
            </a:pPr>
            <a:r>
              <a:rPr lang="en-US" sz="1400" b="1" dirty="0">
                <a:solidFill>
                  <a:srgbClr val="23201B"/>
                </a:solidFill>
                <a:latin typeface="Calibri" pitchFamily="34" charset="0"/>
                <a:ea typeface="Calibri" pitchFamily="34" charset="-122"/>
                <a:cs typeface="Calibri" pitchFamily="34" charset="-120"/>
              </a:rPr>
              <a:t>The algorithm</a:t>
            </a:r>
            <a:endParaRPr lang="en-US" sz="1400" dirty="0"/>
          </a:p>
        </p:txBody>
      </p:sp>
      <p:sp>
        <p:nvSpPr>
          <p:cNvPr id="19" name="Text 17"/>
          <p:cNvSpPr txBox="1"/>
          <p:nvPr/>
        </p:nvSpPr>
        <p:spPr>
          <a:xfrm>
            <a:off x="1115568" y="3502152"/>
            <a:ext cx="7479792" cy="365760"/>
          </a:xfrm>
          <a:prstGeom prst="rect">
            <a:avLst/>
          </a:prstGeom>
          <a:noFill/>
          <a:ln/>
        </p:spPr>
        <p:txBody>
          <a:bodyPr wrap="square" lIns="0" tIns="0" rIns="0" bIns="0" rtlCol="0" anchor="ctr"/>
          <a:lstStyle/>
          <a:p>
            <a:pPr indent="0" marL="0">
              <a:lnSpc>
                <a:spcPct val="110000"/>
              </a:lnSpc>
              <a:buNone/>
            </a:pPr>
            <a:r>
              <a:rPr lang="en-US" sz="1150" dirty="0">
                <a:solidFill>
                  <a:srgbClr val="857C6D"/>
                </a:solidFill>
                <a:latin typeface="Calibri" pitchFamily="34" charset="0"/>
                <a:ea typeface="Calibri" pitchFamily="34" charset="-122"/>
                <a:cs typeface="Calibri" pitchFamily="34" charset="-120"/>
              </a:rPr>
              <a:t>The rating scale, the ladder, ease, lapses, graduation, the daily cap.</a:t>
            </a:r>
            <a:endParaRPr lang="en-US" sz="1150" dirty="0"/>
          </a:p>
        </p:txBody>
      </p:sp>
      <p:sp>
        <p:nvSpPr>
          <p:cNvPr id="20" name="Shape 18"/>
          <p:cNvSpPr/>
          <p:nvPr/>
        </p:nvSpPr>
        <p:spPr>
          <a:xfrm>
            <a:off x="548640" y="3931920"/>
            <a:ext cx="402336" cy="402336"/>
          </a:xfrm>
          <a:prstGeom prst="ellipse">
            <a:avLst/>
          </a:prstGeom>
          <a:solidFill>
            <a:srgbClr val="B8860B"/>
          </a:solidFill>
          <a:ln/>
        </p:spPr>
      </p:sp>
      <p:sp>
        <p:nvSpPr>
          <p:cNvPr id="21" name="Text 19"/>
          <p:cNvSpPr txBox="1"/>
          <p:nvPr/>
        </p:nvSpPr>
        <p:spPr>
          <a:xfrm>
            <a:off x="548640" y="3986784"/>
            <a:ext cx="402336" cy="301752"/>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E</a:t>
            </a:r>
            <a:endParaRPr lang="en-US" sz="1350" dirty="0"/>
          </a:p>
        </p:txBody>
      </p:sp>
      <p:sp>
        <p:nvSpPr>
          <p:cNvPr id="22" name="Text 20"/>
          <p:cNvSpPr txBox="1"/>
          <p:nvPr/>
        </p:nvSpPr>
        <p:spPr>
          <a:xfrm>
            <a:off x="1115568" y="3895344"/>
            <a:ext cx="7479792" cy="274320"/>
          </a:xfrm>
          <a:prstGeom prst="rect">
            <a:avLst/>
          </a:prstGeom>
          <a:noFill/>
          <a:ln/>
        </p:spPr>
        <p:txBody>
          <a:bodyPr wrap="square" lIns="0" tIns="0" rIns="0" bIns="0" rtlCol="0" anchor="ctr"/>
          <a:lstStyle/>
          <a:p>
            <a:pPr indent="0" marL="0">
              <a:buNone/>
            </a:pPr>
            <a:r>
              <a:rPr lang="en-US" sz="1400" b="1" dirty="0">
                <a:solidFill>
                  <a:srgbClr val="23201B"/>
                </a:solidFill>
                <a:latin typeface="Calibri" pitchFamily="34" charset="0"/>
                <a:ea typeface="Calibri" pitchFamily="34" charset="-122"/>
                <a:cs typeface="Calibri" pitchFamily="34" charset="-120"/>
              </a:rPr>
              <a:t>Honesty</a:t>
            </a:r>
            <a:endParaRPr lang="en-US" sz="1400" dirty="0"/>
          </a:p>
        </p:txBody>
      </p:sp>
      <p:sp>
        <p:nvSpPr>
          <p:cNvPr id="23" name="Text 21"/>
          <p:cNvSpPr txBox="1"/>
          <p:nvPr/>
        </p:nvSpPr>
        <p:spPr>
          <a:xfrm>
            <a:off x="1115568" y="4160520"/>
            <a:ext cx="7479792" cy="365760"/>
          </a:xfrm>
          <a:prstGeom prst="rect">
            <a:avLst/>
          </a:prstGeom>
          <a:noFill/>
          <a:ln/>
        </p:spPr>
        <p:txBody>
          <a:bodyPr wrap="square" lIns="0" tIns="0" rIns="0" bIns="0" rtlCol="0" anchor="ctr"/>
          <a:lstStyle/>
          <a:p>
            <a:pPr indent="0" marL="0">
              <a:lnSpc>
                <a:spcPct val="110000"/>
              </a:lnSpc>
              <a:buNone/>
            </a:pPr>
            <a:r>
              <a:rPr lang="en-US" sz="1150" dirty="0">
                <a:solidFill>
                  <a:srgbClr val="857C6D"/>
                </a:solidFill>
                <a:latin typeface="Calibri" pitchFamily="34" charset="0"/>
                <a:ea typeface="Calibri" pitchFamily="34" charset="-122"/>
                <a:cs typeface="Calibri" pitchFamily="34" charset="-120"/>
              </a:rPr>
              <a:t>A worked example, how it differs from SM-2, and what the app does not claim.</a:t>
            </a:r>
            <a:endParaRPr lang="en-US" sz="1150" dirty="0"/>
          </a:p>
        </p:txBody>
      </p:sp>
      <p:sp>
        <p:nvSpPr>
          <p:cNvPr id="24" name="Text 22"/>
          <p:cNvSpPr txBox="1"/>
          <p:nvPr/>
        </p:nvSpPr>
        <p:spPr>
          <a:xfrm>
            <a:off x="548640" y="4590288"/>
            <a:ext cx="8046720" cy="365760"/>
          </a:xfrm>
          <a:prstGeom prst="rect">
            <a:avLst/>
          </a:prstGeom>
          <a:noFill/>
          <a:ln/>
        </p:spPr>
        <p:txBody>
          <a:bodyPr wrap="square" lIns="0" tIns="0" rIns="0" bIns="0" rtlCol="0" anchor="ctr"/>
          <a:lstStyle/>
          <a:p>
            <a:pPr indent="0" marL="0">
              <a:buNone/>
            </a:pPr>
            <a:r>
              <a:rPr lang="en-US" sz="1050" i="1" dirty="0">
                <a:solidFill>
                  <a:srgbClr val="857C6D"/>
                </a:solidFill>
                <a:latin typeface="Calibri" pitchFamily="34" charset="0"/>
                <a:ea typeface="Calibri" pitchFamily="34" charset="-122"/>
                <a:cs typeface="Calibri" pitchFamily="34" charset="-120"/>
              </a:rPr>
              <a:t>Every research claim in this deck carries its source; the full reference list is on the second-last slide.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10896"/>
            <a:ext cx="8046720" cy="237744"/>
          </a:xfrm>
          <a:prstGeom prst="rect">
            <a:avLst/>
          </a:prstGeom>
          <a:noFill/>
          <a:ln/>
        </p:spPr>
        <p:txBody>
          <a:bodyPr wrap="square" lIns="0" tIns="0" rIns="0" bIns="0" rtlCol="0" anchor="ctr"/>
          <a:lstStyle/>
          <a:p>
            <a:pPr indent="0" marL="0">
              <a:buNone/>
            </a:pPr>
            <a:r>
              <a:rPr lang="en-US" sz="1100" b="1" spc="200" kern="0" dirty="0">
                <a:solidFill>
                  <a:srgbClr val="B8860B"/>
                </a:solidFill>
                <a:latin typeface="Calibri" pitchFamily="34" charset="0"/>
                <a:ea typeface="Calibri" pitchFamily="34" charset="-122"/>
                <a:cs typeface="Calibri" pitchFamily="34" charset="-120"/>
              </a:rPr>
              <a:t>THE PROBLEM</a:t>
            </a:r>
            <a:endParaRPr lang="en-US" sz="1100" dirty="0"/>
          </a:p>
        </p:txBody>
      </p:sp>
      <p:sp>
        <p:nvSpPr>
          <p:cNvPr id="3" name="Text 1"/>
          <p:cNvSpPr txBox="1"/>
          <p:nvPr/>
        </p:nvSpPr>
        <p:spPr>
          <a:xfrm>
            <a:off x="548640" y="530352"/>
            <a:ext cx="8046720" cy="603504"/>
          </a:xfrm>
          <a:prstGeom prst="rect">
            <a:avLst/>
          </a:prstGeom>
          <a:noFill/>
          <a:ln/>
        </p:spPr>
        <p:txBody>
          <a:bodyPr wrap="square" lIns="0" tIns="0" rIns="0" bIns="0" rtlCol="0" anchor="ctr"/>
          <a:lstStyle/>
          <a:p>
            <a:pPr indent="0" marL="0">
              <a:buNone/>
            </a:pPr>
            <a:r>
              <a:rPr lang="en-US" sz="2900" b="1" dirty="0">
                <a:solidFill>
                  <a:srgbClr val="1F6F5F"/>
                </a:solidFill>
                <a:latin typeface="Cambria" pitchFamily="34" charset="0"/>
                <a:ea typeface="Cambria" pitchFamily="34" charset="-122"/>
                <a:cs typeface="Cambria" pitchFamily="34" charset="-120"/>
              </a:rPr>
              <a:t>Memorising is not the hard part</a:t>
            </a:r>
            <a:endParaRPr lang="en-US" sz="2900" dirty="0"/>
          </a:p>
        </p:txBody>
      </p:sp>
      <p:sp>
        <p:nvSpPr>
          <p:cNvPr id="4" name="Text 2"/>
          <p:cNvSpPr txBox="1"/>
          <p:nvPr/>
        </p:nvSpPr>
        <p:spPr>
          <a:xfrm>
            <a:off x="548640" y="1170432"/>
            <a:ext cx="8046720" cy="548640"/>
          </a:xfrm>
          <a:prstGeom prst="rect">
            <a:avLst/>
          </a:prstGeom>
          <a:noFill/>
          <a:ln/>
        </p:spPr>
        <p:txBody>
          <a:bodyPr wrap="square" lIns="0" tIns="0" rIns="0" bIns="0" rtlCol="0" anchor="ctr"/>
          <a:lstStyle/>
          <a:p>
            <a:pPr indent="0" marL="0">
              <a:lnSpc>
                <a:spcPct val="120000"/>
              </a:lnSpc>
              <a:buNone/>
            </a:pPr>
            <a:r>
              <a:rPr lang="en-US" sz="1400" dirty="0">
                <a:solidFill>
                  <a:srgbClr val="5D564B"/>
                </a:solidFill>
                <a:latin typeface="Calibri" pitchFamily="34" charset="0"/>
                <a:ea typeface="Calibri" pitchFamily="34" charset="-122"/>
                <a:cs typeface="Calibri" pitchFamily="34" charset="-120"/>
              </a:rPr>
              <a:t>A page can be committed to memory in a week. Holding six hundred of them for a lifetime is a</a:t>
            </a:r>
            <a:endParaRPr lang="en-US" sz="1400" dirty="0"/>
          </a:p>
          <a:p>
            <a:pPr indent="0" marL="0">
              <a:lnSpc>
                <a:spcPct val="120000"/>
              </a:lnSpc>
              <a:buNone/>
            </a:pPr>
            <a:r>
              <a:rPr lang="en-US" sz="1400" dirty="0">
                <a:solidFill>
                  <a:srgbClr val="5D564B"/>
                </a:solidFill>
                <a:latin typeface="Calibri" pitchFamily="34" charset="0"/>
                <a:ea typeface="Calibri" pitchFamily="34" charset="-122"/>
                <a:cs typeface="Calibri" pitchFamily="34" charset="-120"/>
              </a:rPr>
              <a:t>different problem — and it is a scheduling problem.</a:t>
            </a:r>
            <a:endParaRPr lang="en-US" sz="1400" dirty="0"/>
          </a:p>
        </p:txBody>
      </p:sp>
      <p:sp>
        <p:nvSpPr>
          <p:cNvPr id="5" name="Shape 3"/>
          <p:cNvSpPr/>
          <p:nvPr/>
        </p:nvSpPr>
        <p:spPr>
          <a:xfrm>
            <a:off x="548640" y="1828800"/>
            <a:ext cx="4846320" cy="1600200"/>
          </a:xfrm>
          <a:prstGeom prst="roundRect">
            <a:avLst>
              <a:gd name="adj" fmla="val 4571"/>
            </a:avLst>
          </a:prstGeom>
          <a:solidFill>
            <a:srgbClr val="EFF5F2"/>
          </a:solidFill>
          <a:ln w="12700">
            <a:solidFill>
              <a:srgbClr val="E2D9C8"/>
            </a:solidFill>
            <a:prstDash val="solid"/>
          </a:ln>
        </p:spPr>
      </p:sp>
      <p:sp>
        <p:nvSpPr>
          <p:cNvPr id="6" name="Text 4"/>
          <p:cNvSpPr txBox="1"/>
          <p:nvPr/>
        </p:nvSpPr>
        <p:spPr>
          <a:xfrm>
            <a:off x="822960" y="2048256"/>
            <a:ext cx="4297680" cy="850392"/>
          </a:xfrm>
          <a:prstGeom prst="rect">
            <a:avLst/>
          </a:prstGeom>
          <a:noFill/>
          <a:ln/>
        </p:spPr>
        <p:txBody>
          <a:bodyPr wrap="square" lIns="0" tIns="0" rIns="0" bIns="0" rtlCol="0" anchor="ctr"/>
          <a:lstStyle/>
          <a:p>
            <a:pPr indent="0" marL="0">
              <a:lnSpc>
                <a:spcPct val="120000"/>
              </a:lnSpc>
              <a:buNone/>
            </a:pPr>
            <a:r>
              <a:rPr lang="en-US" sz="1400" i="1" dirty="0">
                <a:solidFill>
                  <a:srgbClr val="14453C"/>
                </a:solidFill>
                <a:latin typeface="Cambria" pitchFamily="34" charset="0"/>
                <a:ea typeface="Cambria" pitchFamily="34" charset="-122"/>
                <a:cs typeface="Cambria" pitchFamily="34" charset="-120"/>
              </a:rPr>
              <a:t>“Commit yourself to the Qur’an, for by Him in whose Hand is my soul, it is surely more prone to break away than a camel in its bind.”</a:t>
            </a:r>
            <a:endParaRPr lang="en-US" sz="1400" dirty="0"/>
          </a:p>
        </p:txBody>
      </p:sp>
      <p:sp>
        <p:nvSpPr>
          <p:cNvPr id="7" name="Text 5"/>
          <p:cNvSpPr txBox="1"/>
          <p:nvPr/>
        </p:nvSpPr>
        <p:spPr>
          <a:xfrm>
            <a:off x="822960" y="2971800"/>
            <a:ext cx="4297680" cy="274320"/>
          </a:xfrm>
          <a:prstGeom prst="rect">
            <a:avLst/>
          </a:prstGeom>
          <a:noFill/>
          <a:ln/>
        </p:spPr>
        <p:txBody>
          <a:bodyPr wrap="square" lIns="0" tIns="0" rIns="0" bIns="0"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Ṣaḥīḥ al-Bukhārī 5033 (Book 66, Hadith 56)</a:t>
            </a:r>
            <a:endParaRPr lang="en-US" sz="1100" dirty="0"/>
          </a:p>
        </p:txBody>
      </p:sp>
      <p:sp>
        <p:nvSpPr>
          <p:cNvPr id="8" name="Shape 6"/>
          <p:cNvSpPr/>
          <p:nvPr/>
        </p:nvSpPr>
        <p:spPr>
          <a:xfrm>
            <a:off x="5623560" y="1828800"/>
            <a:ext cx="2971800" cy="1600200"/>
          </a:xfrm>
          <a:prstGeom prst="roundRect">
            <a:avLst>
              <a:gd name="adj" fmla="val 4571"/>
            </a:avLst>
          </a:prstGeom>
          <a:solidFill>
            <a:srgbClr val="F6F1E7"/>
          </a:solidFill>
          <a:ln w="12700">
            <a:solidFill>
              <a:srgbClr val="E2D9C8"/>
            </a:solidFill>
            <a:prstDash val="solid"/>
          </a:ln>
        </p:spPr>
      </p:sp>
      <p:sp>
        <p:nvSpPr>
          <p:cNvPr id="9" name="Text 7"/>
          <p:cNvSpPr txBox="1"/>
          <p:nvPr/>
        </p:nvSpPr>
        <p:spPr>
          <a:xfrm>
            <a:off x="5861304" y="2048256"/>
            <a:ext cx="2514600" cy="310896"/>
          </a:xfrm>
          <a:prstGeom prst="rect">
            <a:avLst/>
          </a:prstGeom>
          <a:noFill/>
          <a:ln/>
        </p:spPr>
        <p:txBody>
          <a:bodyPr wrap="square" lIns="0" tIns="0" rIns="0" bIns="0" rtlCol="0" anchor="ctr"/>
          <a:lstStyle/>
          <a:p>
            <a:pPr indent="0" marL="0">
              <a:buNone/>
            </a:pPr>
            <a:r>
              <a:rPr lang="en-US" sz="1500" b="1" dirty="0">
                <a:solidFill>
                  <a:srgbClr val="1F6F5F"/>
                </a:solidFill>
                <a:latin typeface="Cambria" pitchFamily="34" charset="0"/>
                <a:ea typeface="Cambria" pitchFamily="34" charset="-122"/>
                <a:cs typeface="Cambria" pitchFamily="34" charset="-120"/>
              </a:rPr>
              <a:t>The mudārasah precedent</a:t>
            </a:r>
            <a:endParaRPr lang="en-US" sz="1500" dirty="0"/>
          </a:p>
        </p:txBody>
      </p:sp>
      <p:sp>
        <p:nvSpPr>
          <p:cNvPr id="10" name="Text 8"/>
          <p:cNvSpPr txBox="1"/>
          <p:nvPr/>
        </p:nvSpPr>
        <p:spPr>
          <a:xfrm>
            <a:off x="5861304" y="2432304"/>
            <a:ext cx="2496312" cy="777240"/>
          </a:xfrm>
          <a:prstGeom prst="rect">
            <a:avLst/>
          </a:prstGeom>
          <a:noFill/>
          <a:ln/>
        </p:spPr>
        <p:txBody>
          <a:bodyPr wrap="square" lIns="0" tIns="0" rIns="0" bIns="0" rtlCol="0" anchor="t"/>
          <a:lstStyle/>
          <a:p>
            <a:pPr indent="0" marL="0">
              <a:lnSpc>
                <a:spcPct val="112000"/>
              </a:lnSpc>
              <a:buNone/>
            </a:pPr>
            <a:r>
              <a:rPr lang="en-US" sz="1150" dirty="0">
                <a:solidFill>
                  <a:srgbClr val="5D564B"/>
                </a:solidFill>
                <a:latin typeface="Calibri" pitchFamily="34" charset="0"/>
                <a:ea typeface="Calibri" pitchFamily="34" charset="-122"/>
                <a:cs typeface="Calibri" pitchFamily="34" charset="-120"/>
              </a:rPr>
              <a:t>Jibrīl would review the Qur’an with the Prophet ﷺ once each year, and twice in the year he died.</a:t>
            </a:r>
            <a:endParaRPr lang="en-US" sz="1150" dirty="0"/>
          </a:p>
          <a:p>
            <a:pPr indent="0" marL="0">
              <a:lnSpc>
                <a:spcPct val="112000"/>
              </a:lnSpc>
              <a:buNone/>
            </a:pPr>
            <a:endParaRPr lang="en-US" sz="1150" dirty="0"/>
          </a:p>
          <a:p>
            <a:pPr indent="0" marL="0">
              <a:lnSpc>
                <a:spcPct val="112000"/>
              </a:lnSpc>
              <a:buNone/>
            </a:pPr>
            <a:r>
              <a:rPr lang="en-US" sz="1150" dirty="0">
                <a:solidFill>
                  <a:srgbClr val="5D564B"/>
                </a:solidFill>
                <a:latin typeface="Calibri" pitchFamily="34" charset="0"/>
                <a:ea typeface="Calibri" pitchFamily="34" charset="-122"/>
                <a:cs typeface="Calibri" pitchFamily="34" charset="-120"/>
              </a:rPr>
              <a:t>Ṣaḥīḥ al-Bukhārī 4997–4998.</a:t>
            </a:r>
            <a:endParaRPr lang="en-US" sz="1150" dirty="0"/>
          </a:p>
        </p:txBody>
      </p:sp>
      <p:sp>
        <p:nvSpPr>
          <p:cNvPr id="11" name="Text 9"/>
          <p:cNvSpPr txBox="1"/>
          <p:nvPr/>
        </p:nvSpPr>
        <p:spPr>
          <a:xfrm>
            <a:off x="548640" y="3703320"/>
            <a:ext cx="8046720" cy="548640"/>
          </a:xfrm>
          <a:prstGeom prst="rect">
            <a:avLst/>
          </a:prstGeom>
          <a:noFill/>
          <a:ln/>
        </p:spPr>
        <p:txBody>
          <a:bodyPr wrap="square" lIns="0" tIns="0" rIns="0" bIns="0" rtlCol="0" anchor="ctr"/>
          <a:lstStyle/>
          <a:p>
            <a:pPr indent="0" marL="0">
              <a:lnSpc>
                <a:spcPct val="120000"/>
              </a:lnSpc>
              <a:buNone/>
            </a:pPr>
            <a:r>
              <a:rPr lang="en-US" sz="1350" b="1" dirty="0">
                <a:solidFill>
                  <a:srgbClr val="14453C"/>
                </a:solidFill>
                <a:latin typeface="Calibri" pitchFamily="34" charset="0"/>
                <a:ea typeface="Calibri" pitchFamily="34" charset="-122"/>
                <a:cs typeface="Calibri" pitchFamily="34" charset="-120"/>
              </a:rPr>
              <a:t>So the app never asks “have you read this page?”  It asks: which pages must be recited from memory today, and how did each one go?</a:t>
            </a:r>
            <a:endParaRPr lang="en-US" sz="1350" dirty="0"/>
          </a:p>
        </p:txBody>
      </p:sp>
      <p:sp>
        <p:nvSpPr>
          <p:cNvPr id="12" name="Text 10"/>
          <p:cNvSpPr txBox="1"/>
          <p:nvPr/>
        </p:nvSpPr>
        <p:spPr>
          <a:xfrm>
            <a:off x="548640" y="4590288"/>
            <a:ext cx="8046720" cy="365760"/>
          </a:xfrm>
          <a:prstGeom prst="rect">
            <a:avLst/>
          </a:prstGeom>
          <a:noFill/>
          <a:ln/>
        </p:spPr>
        <p:txBody>
          <a:bodyPr wrap="square" lIns="0" tIns="0" rIns="0" bIns="0" rtlCol="0" anchor="ctr"/>
          <a:lstStyle/>
          <a:p>
            <a:pPr indent="0" marL="0">
              <a:buNone/>
            </a:pPr>
            <a:r>
              <a:rPr lang="en-US" sz="1050" i="1" dirty="0">
                <a:solidFill>
                  <a:srgbClr val="857C6D"/>
                </a:solidFill>
                <a:latin typeface="Calibri" pitchFamily="34" charset="0"/>
                <a:ea typeface="Calibri" pitchFamily="34" charset="-122"/>
                <a:cs typeface="Calibri" pitchFamily="34" charset="-120"/>
              </a:rPr>
              <a:t>Hadith texts as translated on sunnah.com; the app links sources rather than reproducing them.</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10896"/>
            <a:ext cx="8046720" cy="237744"/>
          </a:xfrm>
          <a:prstGeom prst="rect">
            <a:avLst/>
          </a:prstGeom>
          <a:noFill/>
          <a:ln/>
        </p:spPr>
        <p:txBody>
          <a:bodyPr wrap="square" lIns="0" tIns="0" rIns="0" bIns="0" rtlCol="0" anchor="ctr"/>
          <a:lstStyle/>
          <a:p>
            <a:pPr indent="0" marL="0">
              <a:buNone/>
            </a:pPr>
            <a:r>
              <a:rPr lang="en-US" sz="1100" b="1" spc="200" kern="0" dirty="0">
                <a:solidFill>
                  <a:srgbClr val="B8860B"/>
                </a:solidFill>
                <a:latin typeface="Calibri" pitchFamily="34" charset="0"/>
                <a:ea typeface="Calibri" pitchFamily="34" charset="-122"/>
                <a:cs typeface="Calibri" pitchFamily="34" charset="-120"/>
              </a:rPr>
              <a:t>PART B · THE TRADITION</a:t>
            </a:r>
            <a:endParaRPr lang="en-US" sz="1100" dirty="0"/>
          </a:p>
        </p:txBody>
      </p:sp>
      <p:sp>
        <p:nvSpPr>
          <p:cNvPr id="3" name="Text 1"/>
          <p:cNvSpPr txBox="1"/>
          <p:nvPr/>
        </p:nvSpPr>
        <p:spPr>
          <a:xfrm>
            <a:off x="548640" y="530352"/>
            <a:ext cx="8046720" cy="603504"/>
          </a:xfrm>
          <a:prstGeom prst="rect">
            <a:avLst/>
          </a:prstGeom>
          <a:noFill/>
          <a:ln/>
        </p:spPr>
        <p:txBody>
          <a:bodyPr wrap="square" lIns="0" tIns="0" rIns="0" bIns="0" rtlCol="0" anchor="ctr"/>
          <a:lstStyle/>
          <a:p>
            <a:pPr indent="0" marL="0">
              <a:buNone/>
            </a:pPr>
            <a:r>
              <a:rPr lang="en-US" sz="2900" b="1" dirty="0">
                <a:solidFill>
                  <a:srgbClr val="1F6F5F"/>
                </a:solidFill>
                <a:latin typeface="Cambria" pitchFamily="34" charset="0"/>
                <a:ea typeface="Cambria" pitchFamily="34" charset="-122"/>
                <a:cs typeface="Cambria" pitchFamily="34" charset="-120"/>
              </a:rPr>
              <a:t>The classical frame: three kinds of work</a:t>
            </a:r>
            <a:endParaRPr lang="en-US" sz="2900" dirty="0"/>
          </a:p>
        </p:txBody>
      </p:sp>
      <p:sp>
        <p:nvSpPr>
          <p:cNvPr id="4" name="Text 2"/>
          <p:cNvSpPr txBox="1"/>
          <p:nvPr/>
        </p:nvSpPr>
        <p:spPr>
          <a:xfrm>
            <a:off x="548640" y="1152144"/>
            <a:ext cx="8046720" cy="365760"/>
          </a:xfrm>
          <a:prstGeom prst="rect">
            <a:avLst/>
          </a:prstGeom>
          <a:noFill/>
          <a:ln/>
        </p:spPr>
        <p:txBody>
          <a:bodyPr wrap="square" lIns="0" tIns="0" rIns="0" bIns="0" rtlCol="0" anchor="ctr"/>
          <a:lstStyle/>
          <a:p>
            <a:pPr indent="0" marL="0">
              <a:buNone/>
            </a:pPr>
            <a:r>
              <a:rPr lang="en-US" sz="1350" dirty="0">
                <a:solidFill>
                  <a:srgbClr val="5D564B"/>
                </a:solidFill>
                <a:latin typeface="Calibri" pitchFamily="34" charset="0"/>
                <a:ea typeface="Calibri" pitchFamily="34" charset="-122"/>
                <a:cs typeface="Calibri" pitchFamily="34" charset="-120"/>
              </a:rPr>
              <a:t>The madrasa curriculum has long divided a ḥāfiẓ’s daily work into three layers. The app schedules all three; it does not invent them.</a:t>
            </a:r>
            <a:endParaRPr lang="en-US" sz="1350" dirty="0"/>
          </a:p>
        </p:txBody>
      </p:sp>
      <p:sp>
        <p:nvSpPr>
          <p:cNvPr id="5" name="Shape 3"/>
          <p:cNvSpPr/>
          <p:nvPr/>
        </p:nvSpPr>
        <p:spPr>
          <a:xfrm>
            <a:off x="548640" y="1664208"/>
            <a:ext cx="2560320" cy="2286000"/>
          </a:xfrm>
          <a:prstGeom prst="roundRect">
            <a:avLst>
              <a:gd name="adj" fmla="val 3200"/>
            </a:avLst>
          </a:prstGeom>
          <a:solidFill>
            <a:srgbClr val="F6F1E7"/>
          </a:solidFill>
          <a:ln w="12700">
            <a:solidFill>
              <a:srgbClr val="E2D9C8"/>
            </a:solidFill>
            <a:prstDash val="solid"/>
          </a:ln>
        </p:spPr>
      </p:sp>
      <p:sp>
        <p:nvSpPr>
          <p:cNvPr id="6" name="Shape 4"/>
          <p:cNvSpPr/>
          <p:nvPr/>
        </p:nvSpPr>
        <p:spPr>
          <a:xfrm>
            <a:off x="749808" y="1865376"/>
            <a:ext cx="420624" cy="420624"/>
          </a:xfrm>
          <a:prstGeom prst="ellipse">
            <a:avLst/>
          </a:prstGeom>
          <a:solidFill>
            <a:srgbClr val="1F6F5F"/>
          </a:solidFill>
          <a:ln/>
        </p:spPr>
      </p:sp>
      <p:sp>
        <p:nvSpPr>
          <p:cNvPr id="7" name="Text 5"/>
          <p:cNvSpPr txBox="1"/>
          <p:nvPr/>
        </p:nvSpPr>
        <p:spPr>
          <a:xfrm>
            <a:off x="749808" y="1929384"/>
            <a:ext cx="420624"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txBox="1"/>
          <p:nvPr/>
        </p:nvSpPr>
        <p:spPr>
          <a:xfrm>
            <a:off x="1280160" y="1883664"/>
            <a:ext cx="1609344" cy="310896"/>
          </a:xfrm>
          <a:prstGeom prst="rect">
            <a:avLst/>
          </a:prstGeom>
          <a:noFill/>
          <a:ln/>
        </p:spPr>
        <p:txBody>
          <a:bodyPr wrap="square" lIns="0" tIns="0" rIns="0" bIns="0" rtlCol="0" anchor="ctr"/>
          <a:lstStyle/>
          <a:p>
            <a:pPr indent="0" marL="0">
              <a:buNone/>
            </a:pPr>
            <a:r>
              <a:rPr lang="en-US" sz="1500" b="1" dirty="0">
                <a:solidFill>
                  <a:srgbClr val="1F6F5F"/>
                </a:solidFill>
                <a:latin typeface="Cambria" pitchFamily="34" charset="0"/>
                <a:ea typeface="Cambria" pitchFamily="34" charset="-122"/>
                <a:cs typeface="Cambria" pitchFamily="34" charset="-120"/>
              </a:rPr>
              <a:t>Sabaq — the new lesson</a:t>
            </a:r>
            <a:endParaRPr lang="en-US" sz="1500" dirty="0"/>
          </a:p>
        </p:txBody>
      </p:sp>
      <p:sp>
        <p:nvSpPr>
          <p:cNvPr id="9" name="Text 7"/>
          <p:cNvSpPr txBox="1"/>
          <p:nvPr/>
        </p:nvSpPr>
        <p:spPr>
          <a:xfrm>
            <a:off x="786384" y="2414016"/>
            <a:ext cx="2084832" cy="1316736"/>
          </a:xfrm>
          <a:prstGeom prst="rect">
            <a:avLst/>
          </a:prstGeom>
          <a:noFill/>
          <a:ln/>
        </p:spPr>
        <p:txBody>
          <a:bodyPr wrap="square" lIns="0" tIns="0" rIns="0" bIns="0" rtlCol="0" anchor="t"/>
          <a:lstStyle/>
          <a:p>
            <a:pPr indent="0" marL="0">
              <a:lnSpc>
                <a:spcPct val="112000"/>
              </a:lnSpc>
              <a:buNone/>
            </a:pPr>
            <a:r>
              <a:rPr lang="en-US" sz="1150" dirty="0">
                <a:solidFill>
                  <a:srgbClr val="5D564B"/>
                </a:solidFill>
                <a:latin typeface="Calibri" pitchFamily="34" charset="0"/>
                <a:ea typeface="Calibri" pitchFamily="34" charset="-122"/>
                <a:cs typeface="Calibri" pitchFamily="34" charset="-120"/>
              </a:rPr>
              <a:t>The page being memorised now.</a:t>
            </a:r>
            <a:endParaRPr lang="en-US" sz="1150" dirty="0"/>
          </a:p>
          <a:p>
            <a:pPr indent="0" marL="0">
              <a:lnSpc>
                <a:spcPct val="112000"/>
              </a:lnSpc>
              <a:buNone/>
            </a:pPr>
            <a:endParaRPr lang="en-US" sz="1150" dirty="0"/>
          </a:p>
          <a:p>
            <a:pPr indent="0" marL="0">
              <a:lnSpc>
                <a:spcPct val="112000"/>
              </a:lnSpc>
              <a:buNone/>
            </a:pPr>
            <a:r>
              <a:rPr lang="en-US" sz="1150" dirty="0">
                <a:solidFill>
                  <a:srgbClr val="5D564B"/>
                </a:solidFill>
                <a:latin typeface="Calibri" pitchFamily="34" charset="0"/>
                <a:ea typeface="Calibri" pitchFamily="34" charset="-122"/>
                <a:cs typeface="Calibri" pitchFamily="34" charset="-120"/>
              </a:rPr>
              <a:t>One page a week by default; a half, third or quarter page is equally valid.</a:t>
            </a:r>
            <a:endParaRPr lang="en-US" sz="1150" dirty="0"/>
          </a:p>
          <a:p>
            <a:pPr indent="0" marL="0">
              <a:lnSpc>
                <a:spcPct val="112000"/>
              </a:lnSpc>
              <a:buNone/>
            </a:pPr>
            <a:endParaRPr lang="en-US" sz="1150" dirty="0"/>
          </a:p>
          <a:p>
            <a:pPr indent="0" marL="0">
              <a:lnSpc>
                <a:spcPct val="112000"/>
              </a:lnSpc>
              <a:buNone/>
            </a:pPr>
            <a:r>
              <a:rPr lang="en-US" sz="1150" dirty="0">
                <a:solidFill>
                  <a:srgbClr val="5D564B"/>
                </a:solidFill>
                <a:latin typeface="Calibri" pitchFamily="34" charset="0"/>
                <a:ea typeface="Calibri" pitchFamily="34" charset="-122"/>
                <a:cs typeface="Calibri" pitchFamily="34" charset="-120"/>
              </a:rPr>
              <a:t>Across the seven days: learn segment by segment, join, then consolidate.</a:t>
            </a:r>
            <a:endParaRPr lang="en-US" sz="1150" dirty="0"/>
          </a:p>
        </p:txBody>
      </p:sp>
      <p:sp>
        <p:nvSpPr>
          <p:cNvPr id="10" name="Shape 8"/>
          <p:cNvSpPr/>
          <p:nvPr/>
        </p:nvSpPr>
        <p:spPr>
          <a:xfrm>
            <a:off x="3291840" y="1664208"/>
            <a:ext cx="2560320" cy="2286000"/>
          </a:xfrm>
          <a:prstGeom prst="roundRect">
            <a:avLst>
              <a:gd name="adj" fmla="val 3200"/>
            </a:avLst>
          </a:prstGeom>
          <a:solidFill>
            <a:srgbClr val="F6F1E7"/>
          </a:solidFill>
          <a:ln w="12700">
            <a:solidFill>
              <a:srgbClr val="E2D9C8"/>
            </a:solidFill>
            <a:prstDash val="solid"/>
          </a:ln>
        </p:spPr>
      </p:sp>
      <p:sp>
        <p:nvSpPr>
          <p:cNvPr id="11" name="Shape 9"/>
          <p:cNvSpPr/>
          <p:nvPr/>
        </p:nvSpPr>
        <p:spPr>
          <a:xfrm>
            <a:off x="3493008" y="1865376"/>
            <a:ext cx="420624" cy="420624"/>
          </a:xfrm>
          <a:prstGeom prst="ellipse">
            <a:avLst/>
          </a:prstGeom>
          <a:solidFill>
            <a:srgbClr val="2B5F9E"/>
          </a:solidFill>
          <a:ln/>
        </p:spPr>
      </p:sp>
      <p:sp>
        <p:nvSpPr>
          <p:cNvPr id="12" name="Text 10"/>
          <p:cNvSpPr txBox="1"/>
          <p:nvPr/>
        </p:nvSpPr>
        <p:spPr>
          <a:xfrm>
            <a:off x="3493008" y="1929384"/>
            <a:ext cx="420624"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txBox="1"/>
          <p:nvPr/>
        </p:nvSpPr>
        <p:spPr>
          <a:xfrm>
            <a:off x="4023360" y="1883664"/>
            <a:ext cx="1609344" cy="310896"/>
          </a:xfrm>
          <a:prstGeom prst="rect">
            <a:avLst/>
          </a:prstGeom>
          <a:noFill/>
          <a:ln/>
        </p:spPr>
        <p:txBody>
          <a:bodyPr wrap="square" lIns="0" tIns="0" rIns="0" bIns="0" rtlCol="0" anchor="ctr"/>
          <a:lstStyle/>
          <a:p>
            <a:pPr indent="0" marL="0">
              <a:buNone/>
            </a:pPr>
            <a:r>
              <a:rPr lang="en-US" sz="1500" b="1" dirty="0">
                <a:solidFill>
                  <a:srgbClr val="2B5F9E"/>
                </a:solidFill>
                <a:latin typeface="Cambria" pitchFamily="34" charset="0"/>
                <a:ea typeface="Cambria" pitchFamily="34" charset="-122"/>
                <a:cs typeface="Cambria" pitchFamily="34" charset="-120"/>
              </a:rPr>
              <a:t>Sabqi — recent revision</a:t>
            </a:r>
            <a:endParaRPr lang="en-US" sz="1500" dirty="0"/>
          </a:p>
        </p:txBody>
      </p:sp>
      <p:sp>
        <p:nvSpPr>
          <p:cNvPr id="14" name="Text 12"/>
          <p:cNvSpPr txBox="1"/>
          <p:nvPr/>
        </p:nvSpPr>
        <p:spPr>
          <a:xfrm>
            <a:off x="3529584" y="2414016"/>
            <a:ext cx="2084832" cy="1316736"/>
          </a:xfrm>
          <a:prstGeom prst="rect">
            <a:avLst/>
          </a:prstGeom>
          <a:noFill/>
          <a:ln/>
        </p:spPr>
        <p:txBody>
          <a:bodyPr wrap="square" lIns="0" tIns="0" rIns="0" bIns="0" rtlCol="0" anchor="t"/>
          <a:lstStyle/>
          <a:p>
            <a:pPr indent="0" marL="0">
              <a:lnSpc>
                <a:spcPct val="112000"/>
              </a:lnSpc>
              <a:buNone/>
            </a:pPr>
            <a:r>
              <a:rPr lang="en-US" sz="1150" dirty="0">
                <a:solidFill>
                  <a:srgbClr val="5D564B"/>
                </a:solidFill>
                <a:latin typeface="Calibri" pitchFamily="34" charset="0"/>
                <a:ea typeface="Calibri" pitchFamily="34" charset="-122"/>
                <a:cs typeface="Calibri" pitchFamily="34" charset="-120"/>
              </a:rPr>
              <a:t>Pages learned in the last weeks — still fragile.</a:t>
            </a:r>
            <a:endParaRPr lang="en-US" sz="1150" dirty="0"/>
          </a:p>
          <a:p>
            <a:pPr indent="0" marL="0">
              <a:lnSpc>
                <a:spcPct val="112000"/>
              </a:lnSpc>
              <a:buNone/>
            </a:pPr>
            <a:endParaRPr lang="en-US" sz="1150" dirty="0"/>
          </a:p>
          <a:p>
            <a:pPr indent="0" marL="0">
              <a:lnSpc>
                <a:spcPct val="112000"/>
              </a:lnSpc>
              <a:buNone/>
            </a:pPr>
            <a:r>
              <a:rPr lang="en-US" sz="1150" dirty="0">
                <a:solidFill>
                  <a:srgbClr val="5D564B"/>
                </a:solidFill>
                <a:latin typeface="Calibri" pitchFamily="34" charset="0"/>
                <a:ea typeface="Calibri" pitchFamily="34" charset="-122"/>
                <a:cs typeface="Calibri" pitchFamily="34" charset="-120"/>
              </a:rPr>
              <a:t>Revised at growing intervals until they hold.</a:t>
            </a:r>
            <a:endParaRPr lang="en-US" sz="1150" dirty="0"/>
          </a:p>
          <a:p>
            <a:pPr indent="0" marL="0">
              <a:lnSpc>
                <a:spcPct val="112000"/>
              </a:lnSpc>
              <a:buNone/>
            </a:pPr>
            <a:endParaRPr lang="en-US" sz="1150" dirty="0"/>
          </a:p>
          <a:p>
            <a:pPr indent="0" marL="0">
              <a:lnSpc>
                <a:spcPct val="112000"/>
              </a:lnSpc>
              <a:buNone/>
            </a:pPr>
            <a:r>
              <a:rPr lang="en-US" sz="1150" dirty="0">
                <a:solidFill>
                  <a:srgbClr val="5D564B"/>
                </a:solidFill>
                <a:latin typeface="Calibri" pitchFamily="34" charset="0"/>
                <a:ea typeface="Calibri" pitchFamily="34" charset="-122"/>
                <a:cs typeface="Calibri" pitchFamily="34" charset="-120"/>
              </a:rPr>
              <a:t>This is the layer where ḥifẓ quietly fails, so the app gives it priority.</a:t>
            </a:r>
            <a:endParaRPr lang="en-US" sz="1150" dirty="0"/>
          </a:p>
        </p:txBody>
      </p:sp>
      <p:sp>
        <p:nvSpPr>
          <p:cNvPr id="15" name="Shape 13"/>
          <p:cNvSpPr/>
          <p:nvPr/>
        </p:nvSpPr>
        <p:spPr>
          <a:xfrm>
            <a:off x="6035040" y="1664208"/>
            <a:ext cx="2560320" cy="2286000"/>
          </a:xfrm>
          <a:prstGeom prst="roundRect">
            <a:avLst>
              <a:gd name="adj" fmla="val 3200"/>
            </a:avLst>
          </a:prstGeom>
          <a:solidFill>
            <a:srgbClr val="F6F1E7"/>
          </a:solidFill>
          <a:ln w="12700">
            <a:solidFill>
              <a:srgbClr val="E2D9C8"/>
            </a:solidFill>
            <a:prstDash val="solid"/>
          </a:ln>
        </p:spPr>
      </p:sp>
      <p:sp>
        <p:nvSpPr>
          <p:cNvPr id="16" name="Shape 14"/>
          <p:cNvSpPr/>
          <p:nvPr/>
        </p:nvSpPr>
        <p:spPr>
          <a:xfrm>
            <a:off x="6236208" y="1865376"/>
            <a:ext cx="420624" cy="420624"/>
          </a:xfrm>
          <a:prstGeom prst="ellipse">
            <a:avLst/>
          </a:prstGeom>
          <a:solidFill>
            <a:srgbClr val="7A4B8F"/>
          </a:solidFill>
          <a:ln/>
        </p:spPr>
      </p:sp>
      <p:sp>
        <p:nvSpPr>
          <p:cNvPr id="17" name="Text 15"/>
          <p:cNvSpPr txBox="1"/>
          <p:nvPr/>
        </p:nvSpPr>
        <p:spPr>
          <a:xfrm>
            <a:off x="6236208" y="1929384"/>
            <a:ext cx="420624"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6"/>
          <p:cNvSpPr txBox="1"/>
          <p:nvPr/>
        </p:nvSpPr>
        <p:spPr>
          <a:xfrm>
            <a:off x="6766560" y="1883664"/>
            <a:ext cx="1609344" cy="310896"/>
          </a:xfrm>
          <a:prstGeom prst="rect">
            <a:avLst/>
          </a:prstGeom>
          <a:noFill/>
          <a:ln/>
        </p:spPr>
        <p:txBody>
          <a:bodyPr wrap="square" lIns="0" tIns="0" rIns="0" bIns="0" rtlCol="0" anchor="ctr"/>
          <a:lstStyle/>
          <a:p>
            <a:pPr indent="0" marL="0">
              <a:buNone/>
            </a:pPr>
            <a:r>
              <a:rPr lang="en-US" sz="1500" b="1" dirty="0">
                <a:solidFill>
                  <a:srgbClr val="7A4B8F"/>
                </a:solidFill>
                <a:latin typeface="Cambria" pitchFamily="34" charset="0"/>
                <a:ea typeface="Cambria" pitchFamily="34" charset="-122"/>
                <a:cs typeface="Cambria" pitchFamily="34" charset="-120"/>
              </a:rPr>
              <a:t>Manzil — the rotation</a:t>
            </a:r>
            <a:endParaRPr lang="en-US" sz="1500" dirty="0"/>
          </a:p>
        </p:txBody>
      </p:sp>
      <p:sp>
        <p:nvSpPr>
          <p:cNvPr id="19" name="Text 17"/>
          <p:cNvSpPr txBox="1"/>
          <p:nvPr/>
        </p:nvSpPr>
        <p:spPr>
          <a:xfrm>
            <a:off x="6272784" y="2414016"/>
            <a:ext cx="2084832" cy="1316736"/>
          </a:xfrm>
          <a:prstGeom prst="rect">
            <a:avLst/>
          </a:prstGeom>
          <a:noFill/>
          <a:ln/>
        </p:spPr>
        <p:txBody>
          <a:bodyPr wrap="square" lIns="0" tIns="0" rIns="0" bIns="0" rtlCol="0" anchor="t"/>
          <a:lstStyle/>
          <a:p>
            <a:pPr indent="0" marL="0">
              <a:lnSpc>
                <a:spcPct val="112000"/>
              </a:lnSpc>
              <a:buNone/>
            </a:pPr>
            <a:r>
              <a:rPr lang="en-US" sz="1150" dirty="0">
                <a:solidFill>
                  <a:srgbClr val="5D564B"/>
                </a:solidFill>
                <a:latin typeface="Calibri" pitchFamily="34" charset="0"/>
                <a:ea typeface="Calibri" pitchFamily="34" charset="-122"/>
                <a:cs typeface="Calibri" pitchFamily="34" charset="-120"/>
              </a:rPr>
              <a:t>Everything older, on a steady cycle (30 days by default).</a:t>
            </a:r>
            <a:endParaRPr lang="en-US" sz="1150" dirty="0"/>
          </a:p>
          <a:p>
            <a:pPr indent="0" marL="0">
              <a:lnSpc>
                <a:spcPct val="112000"/>
              </a:lnSpc>
              <a:buNone/>
            </a:pPr>
            <a:endParaRPr lang="en-US" sz="1150" dirty="0"/>
          </a:p>
          <a:p>
            <a:pPr indent="0" marL="0">
              <a:lnSpc>
                <a:spcPct val="112000"/>
              </a:lnSpc>
              <a:buNone/>
            </a:pPr>
            <a:r>
              <a:rPr lang="en-US" sz="1150" dirty="0">
                <a:solidFill>
                  <a:srgbClr val="5D564B"/>
                </a:solidFill>
                <a:latin typeface="Calibri" pitchFamily="34" charset="0"/>
                <a:ea typeface="Calibri" pitchFamily="34" charset="-122"/>
                <a:cs typeface="Calibri" pitchFamily="34" charset="-120"/>
              </a:rPr>
              <a:t>A page is admitted only after it has proved itself — three good recitations at ≥ 30-day spacing.</a:t>
            </a:r>
            <a:endParaRPr lang="en-US" sz="1150" dirty="0"/>
          </a:p>
        </p:txBody>
      </p:sp>
      <p:sp>
        <p:nvSpPr>
          <p:cNvPr id="20" name="Text 18"/>
          <p:cNvSpPr txBox="1"/>
          <p:nvPr/>
        </p:nvSpPr>
        <p:spPr>
          <a:xfrm>
            <a:off x="548640" y="4114800"/>
            <a:ext cx="8046720" cy="365760"/>
          </a:xfrm>
          <a:prstGeom prst="rect">
            <a:avLst/>
          </a:prstGeom>
          <a:noFill/>
          <a:ln/>
        </p:spPr>
        <p:txBody>
          <a:bodyPr wrap="square" lIns="0" tIns="0" rIns="0" bIns="0" rtlCol="0" anchor="ctr"/>
          <a:lstStyle/>
          <a:p>
            <a:pPr indent="0" marL="0">
              <a:buNone/>
            </a:pPr>
            <a:r>
              <a:rPr lang="en-US" sz="1050" i="1" dirty="0">
                <a:solidFill>
                  <a:srgbClr val="857C6D"/>
                </a:solidFill>
                <a:latin typeface="Calibri" pitchFamily="34" charset="0"/>
                <a:ea typeface="Calibri" pitchFamily="34" charset="-122"/>
                <a:cs typeface="Calibri" pitchFamily="34" charset="-120"/>
              </a:rPr>
              <a:t>Terminology varies by region: in some traditions the recent layer is called sabqi, in others dawr or murājaʿah. The app uses the South-Asian naming.</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10896"/>
            <a:ext cx="8046720" cy="237744"/>
          </a:xfrm>
          <a:prstGeom prst="rect">
            <a:avLst/>
          </a:prstGeom>
          <a:noFill/>
          <a:ln/>
        </p:spPr>
        <p:txBody>
          <a:bodyPr wrap="square" lIns="0" tIns="0" rIns="0" bIns="0" rtlCol="0" anchor="ctr"/>
          <a:lstStyle/>
          <a:p>
            <a:pPr indent="0" marL="0">
              <a:buNone/>
            </a:pPr>
            <a:r>
              <a:rPr lang="en-US" sz="1100" b="1" spc="200" kern="0" dirty="0">
                <a:solidFill>
                  <a:srgbClr val="B8860B"/>
                </a:solidFill>
                <a:latin typeface="Calibri" pitchFamily="34" charset="0"/>
                <a:ea typeface="Calibri" pitchFamily="34" charset="-122"/>
                <a:cs typeface="Calibri" pitchFamily="34" charset="-120"/>
              </a:rPr>
              <a:t>PART B · THE TRADITION</a:t>
            </a:r>
            <a:endParaRPr lang="en-US" sz="1100" dirty="0"/>
          </a:p>
        </p:txBody>
      </p:sp>
      <p:sp>
        <p:nvSpPr>
          <p:cNvPr id="3" name="Text 1"/>
          <p:cNvSpPr txBox="1"/>
          <p:nvPr/>
        </p:nvSpPr>
        <p:spPr>
          <a:xfrm>
            <a:off x="548640" y="530352"/>
            <a:ext cx="8046720" cy="603504"/>
          </a:xfrm>
          <a:prstGeom prst="rect">
            <a:avLst/>
          </a:prstGeom>
          <a:noFill/>
          <a:ln/>
        </p:spPr>
        <p:txBody>
          <a:bodyPr wrap="square" lIns="0" tIns="0" rIns="0" bIns="0" rtlCol="0" anchor="ctr"/>
          <a:lstStyle/>
          <a:p>
            <a:pPr indent="0" marL="0">
              <a:buNone/>
            </a:pPr>
            <a:r>
              <a:rPr lang="en-US" sz="2900" b="1" dirty="0">
                <a:solidFill>
                  <a:srgbClr val="1F6F5F"/>
                </a:solidFill>
                <a:latin typeface="Cambria" pitchFamily="34" charset="0"/>
                <a:ea typeface="Cambria" pitchFamily="34" charset="-122"/>
                <a:cs typeface="Cambria" pitchFamily="34" charset="-120"/>
              </a:rPr>
              <a:t>Where the three terms come from</a:t>
            </a:r>
            <a:endParaRPr lang="en-US" sz="2900" dirty="0"/>
          </a:p>
        </p:txBody>
      </p:sp>
      <p:sp>
        <p:nvSpPr>
          <p:cNvPr id="4" name="Text 2"/>
          <p:cNvSpPr txBox="1"/>
          <p:nvPr/>
        </p:nvSpPr>
        <p:spPr>
          <a:xfrm>
            <a:off x="548640" y="1207008"/>
            <a:ext cx="5120640" cy="2651760"/>
          </a:xfrm>
          <a:prstGeom prst="rect">
            <a:avLst/>
          </a:prstGeom>
          <a:noFill/>
          <a:ln/>
        </p:spPr>
        <p:txBody>
          <a:bodyPr wrap="square" lIns="0" tIns="0" rIns="0" bIns="0" rtlCol="0" anchor="ctr"/>
          <a:lstStyle/>
          <a:p>
            <a:pPr marL="342900" indent="-342900">
              <a:spcAft>
                <a:spcPts val="700"/>
              </a:spcAft>
              <a:buSzPct val="100000"/>
              <a:buChar char="▪"/>
            </a:pPr>
            <a:r>
              <a:rPr lang="en-US" sz="1350" dirty="0">
                <a:solidFill>
                  <a:srgbClr val="5D564B"/>
                </a:solidFill>
                <a:latin typeface="Calibri" pitchFamily="34" charset="0"/>
                <a:ea typeface="Calibri" pitchFamily="34" charset="-122"/>
                <a:cs typeface="Calibri" pitchFamily="34" charset="-120"/>
              </a:rPr>
              <a:t>They are pedagogical vocabulary, not Qur’anic or hadith terms. No verse or hadith names sabaq, sabqi or manzil as a study scheme.</a:t>
            </a:r>
            <a:endParaRPr lang="en-US" sz="1350" dirty="0"/>
          </a:p>
          <a:p>
            <a:pPr marL="342900" indent="-342900">
              <a:spcAft>
                <a:spcPts val="700"/>
              </a:spcAft>
              <a:buSzPct val="100000"/>
              <a:buChar char="▪"/>
            </a:pPr>
            <a:r>
              <a:rPr lang="en-US" sz="1350" dirty="0">
                <a:solidFill>
                  <a:srgbClr val="5D564B"/>
                </a:solidFill>
                <a:latin typeface="Calibri" pitchFamily="34" charset="0"/>
                <a:ea typeface="Calibri" pitchFamily="34" charset="-122"/>
                <a:cs typeface="Calibri" pitchFamily="34" charset="-120"/>
              </a:rPr>
              <a:t>Sabaq (سبق) — “lesson”; in Persian and Urdu madrasa usage, the day’s new portion.</a:t>
            </a:r>
            <a:endParaRPr lang="en-US" sz="1350" dirty="0"/>
          </a:p>
          <a:p>
            <a:pPr marL="342900" indent="-342900">
              <a:spcAft>
                <a:spcPts val="700"/>
              </a:spcAft>
              <a:buSzPct val="100000"/>
              <a:buChar char="▪"/>
            </a:pPr>
            <a:r>
              <a:rPr lang="en-US" sz="1350" dirty="0">
                <a:solidFill>
                  <a:srgbClr val="5D564B"/>
                </a:solidFill>
                <a:latin typeface="Calibri" pitchFamily="34" charset="0"/>
                <a:ea typeface="Calibri" pitchFamily="34" charset="-122"/>
                <a:cs typeface="Calibri" pitchFamily="34" charset="-120"/>
              </a:rPr>
              <a:t>Sabqi (سبقی) — “belonging to the lesson”; the recently-learned portion still under close revision.</a:t>
            </a:r>
            <a:endParaRPr lang="en-US" sz="1350" dirty="0"/>
          </a:p>
          <a:p>
            <a:pPr marL="342900" indent="-342900">
              <a:spcAft>
                <a:spcPts val="700"/>
              </a:spcAft>
              <a:buSzPct val="100000"/>
              <a:buChar char="▪"/>
            </a:pPr>
            <a:r>
              <a:rPr lang="en-US" sz="1350" dirty="0">
                <a:solidFill>
                  <a:srgbClr val="5D564B"/>
                </a:solidFill>
                <a:latin typeface="Calibri" pitchFamily="34" charset="0"/>
                <a:ea typeface="Calibri" pitchFamily="34" charset="-122"/>
                <a:cs typeface="Calibri" pitchFamily="34" charset="-120"/>
              </a:rPr>
              <a:t>Manzil (منزل) — “stage / stopping-place”. Two distinct senses: (a) one of the seven traditional divisions of the Qur’an for a weekly khatm, and (b) in ḥifẓ usage, the consolidated older portion in long rotation. The app uses sense (b).</a:t>
            </a:r>
            <a:endParaRPr lang="en-US" sz="1350" dirty="0"/>
          </a:p>
        </p:txBody>
      </p:sp>
      <p:sp>
        <p:nvSpPr>
          <p:cNvPr id="5" name="Shape 3"/>
          <p:cNvSpPr/>
          <p:nvPr/>
        </p:nvSpPr>
        <p:spPr>
          <a:xfrm>
            <a:off x="5897880" y="1207008"/>
            <a:ext cx="2697480" cy="2651760"/>
          </a:xfrm>
          <a:prstGeom prst="roundRect">
            <a:avLst>
              <a:gd name="adj" fmla="val 2759"/>
            </a:avLst>
          </a:prstGeom>
          <a:solidFill>
            <a:srgbClr val="F6F1E7"/>
          </a:solidFill>
          <a:ln w="12700">
            <a:solidFill>
              <a:srgbClr val="E2D9C8"/>
            </a:solidFill>
            <a:prstDash val="solid"/>
          </a:ln>
        </p:spPr>
      </p:sp>
      <p:sp>
        <p:nvSpPr>
          <p:cNvPr id="6" name="Text 4"/>
          <p:cNvSpPr txBox="1"/>
          <p:nvPr/>
        </p:nvSpPr>
        <p:spPr>
          <a:xfrm>
            <a:off x="6135624" y="1426464"/>
            <a:ext cx="2240280" cy="310896"/>
          </a:xfrm>
          <a:prstGeom prst="rect">
            <a:avLst/>
          </a:prstGeom>
          <a:noFill/>
          <a:ln/>
        </p:spPr>
        <p:txBody>
          <a:bodyPr wrap="square" lIns="0" tIns="0" rIns="0" bIns="0" rtlCol="0" anchor="ctr"/>
          <a:lstStyle/>
          <a:p>
            <a:pPr indent="0" marL="0">
              <a:buNone/>
            </a:pPr>
            <a:r>
              <a:rPr lang="en-US" sz="1500" b="1" dirty="0">
                <a:solidFill>
                  <a:srgbClr val="1F6F5F"/>
                </a:solidFill>
                <a:latin typeface="Cambria" pitchFamily="34" charset="0"/>
                <a:ea typeface="Cambria" pitchFamily="34" charset="-122"/>
                <a:cs typeface="Cambria" pitchFamily="34" charset="-120"/>
              </a:rPr>
              <a:t>What is attested</a:t>
            </a:r>
            <a:endParaRPr lang="en-US" sz="1500" dirty="0"/>
          </a:p>
        </p:txBody>
      </p:sp>
      <p:sp>
        <p:nvSpPr>
          <p:cNvPr id="7" name="Text 5"/>
          <p:cNvSpPr txBox="1"/>
          <p:nvPr/>
        </p:nvSpPr>
        <p:spPr>
          <a:xfrm>
            <a:off x="6135624" y="1810512"/>
            <a:ext cx="2221992" cy="1828800"/>
          </a:xfrm>
          <a:prstGeom prst="rect">
            <a:avLst/>
          </a:prstGeom>
          <a:noFill/>
          <a:ln/>
        </p:spPr>
        <p:txBody>
          <a:bodyPr wrap="square" lIns="0" tIns="0" rIns="0" bIns="0" rtlCol="0" anchor="t"/>
          <a:lstStyle/>
          <a:p>
            <a:pPr indent="0" marL="0">
              <a:lnSpc>
                <a:spcPct val="112000"/>
              </a:lnSpc>
              <a:buNone/>
            </a:pPr>
            <a:r>
              <a:rPr lang="en-US" sz="1150" dirty="0">
                <a:solidFill>
                  <a:srgbClr val="5D564B"/>
                </a:solidFill>
                <a:latin typeface="Calibri" pitchFamily="34" charset="0"/>
                <a:ea typeface="Calibri" pitchFamily="34" charset="-122"/>
                <a:cs typeface="Calibri" pitchFamily="34" charset="-120"/>
              </a:rPr>
              <a:t>• The seven-manzil division of the Qur’an is long attested in the tradition.</a:t>
            </a:r>
            <a:endParaRPr lang="en-US" sz="1150" dirty="0"/>
          </a:p>
          <a:p>
            <a:pPr indent="0" marL="0">
              <a:lnSpc>
                <a:spcPct val="112000"/>
              </a:lnSpc>
              <a:buNone/>
            </a:pPr>
            <a:endParaRPr lang="en-US" sz="1150" dirty="0"/>
          </a:p>
          <a:p>
            <a:pPr indent="0" marL="0">
              <a:lnSpc>
                <a:spcPct val="112000"/>
              </a:lnSpc>
              <a:buNone/>
            </a:pPr>
            <a:r>
              <a:rPr lang="en-US" sz="1150" dirty="0">
                <a:solidFill>
                  <a:srgbClr val="5D564B"/>
                </a:solidFill>
                <a:latin typeface="Calibri" pitchFamily="34" charset="0"/>
                <a:ea typeface="Calibri" pitchFamily="34" charset="-122"/>
                <a:cs typeface="Calibri" pitchFamily="34" charset="-120"/>
              </a:rPr>
              <a:t>• The three-layer daily routine is attested as widespread madrasa practice, transmitted through teachers.</a:t>
            </a:r>
            <a:endParaRPr lang="en-US" sz="1150" dirty="0"/>
          </a:p>
          <a:p>
            <a:pPr indent="0" marL="0">
              <a:lnSpc>
                <a:spcPct val="112000"/>
              </a:lnSpc>
              <a:buNone/>
            </a:pPr>
            <a:endParaRPr lang="en-US" sz="1150" dirty="0"/>
          </a:p>
          <a:p>
            <a:pPr indent="0" marL="0">
              <a:lnSpc>
                <a:spcPct val="112000"/>
              </a:lnSpc>
              <a:buNone/>
            </a:pPr>
            <a:r>
              <a:rPr lang="en-US" sz="1150" dirty="0">
                <a:solidFill>
                  <a:srgbClr val="5D564B"/>
                </a:solidFill>
                <a:latin typeface="Calibri" pitchFamily="34" charset="0"/>
                <a:ea typeface="Calibri" pitchFamily="34" charset="-122"/>
                <a:cs typeface="Calibri" pitchFamily="34" charset="-120"/>
              </a:rPr>
              <a:t>• No classical treatise fixes the interval lengths. Those are the app’s own choice.</a:t>
            </a:r>
            <a:endParaRPr lang="en-US" sz="1150" dirty="0"/>
          </a:p>
        </p:txBody>
      </p:sp>
      <p:sp>
        <p:nvSpPr>
          <p:cNvPr id="8" name="Text 6"/>
          <p:cNvSpPr txBox="1"/>
          <p:nvPr/>
        </p:nvSpPr>
        <p:spPr>
          <a:xfrm>
            <a:off x="548640" y="4041648"/>
            <a:ext cx="8046720" cy="365760"/>
          </a:xfrm>
          <a:prstGeom prst="rect">
            <a:avLst/>
          </a:prstGeom>
          <a:noFill/>
          <a:ln/>
        </p:spPr>
        <p:txBody>
          <a:bodyPr wrap="square" lIns="0" tIns="0" rIns="0" bIns="0" rtlCol="0" anchor="ctr"/>
          <a:lstStyle/>
          <a:p>
            <a:pPr indent="0" marL="0">
              <a:buNone/>
            </a:pPr>
            <a:r>
              <a:rPr lang="en-US" sz="1050" i="1" dirty="0">
                <a:solidFill>
                  <a:srgbClr val="857C6D"/>
                </a:solidFill>
                <a:latin typeface="Calibri" pitchFamily="34" charset="0"/>
                <a:ea typeface="Calibri" pitchFamily="34" charset="-122"/>
                <a:cs typeface="Calibri" pitchFamily="34" charset="-120"/>
              </a:rPr>
              <a:t>Stated honestly: this deck cites the practice as living pedagogy, not as a ruling. The interval arithmetic is modern and evidence-based, not traditional.</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10896"/>
            <a:ext cx="8046720" cy="237744"/>
          </a:xfrm>
          <a:prstGeom prst="rect">
            <a:avLst/>
          </a:prstGeom>
          <a:noFill/>
          <a:ln/>
        </p:spPr>
        <p:txBody>
          <a:bodyPr wrap="square" lIns="0" tIns="0" rIns="0" bIns="0" rtlCol="0" anchor="ctr"/>
          <a:lstStyle/>
          <a:p>
            <a:pPr indent="0" marL="0">
              <a:buNone/>
            </a:pPr>
            <a:r>
              <a:rPr lang="en-US" sz="1100" b="1" spc="200" kern="0" dirty="0">
                <a:solidFill>
                  <a:srgbClr val="B8860B"/>
                </a:solidFill>
                <a:latin typeface="Calibri" pitchFamily="34" charset="0"/>
                <a:ea typeface="Calibri" pitchFamily="34" charset="-122"/>
                <a:cs typeface="Calibri" pitchFamily="34" charset="-120"/>
              </a:rPr>
              <a:t>PART C · THE EVIDENCE</a:t>
            </a:r>
            <a:endParaRPr lang="en-US" sz="1100" dirty="0"/>
          </a:p>
        </p:txBody>
      </p:sp>
      <p:sp>
        <p:nvSpPr>
          <p:cNvPr id="3" name="Text 1"/>
          <p:cNvSpPr txBox="1"/>
          <p:nvPr/>
        </p:nvSpPr>
        <p:spPr>
          <a:xfrm>
            <a:off x="548640" y="530352"/>
            <a:ext cx="8046720" cy="603504"/>
          </a:xfrm>
          <a:prstGeom prst="rect">
            <a:avLst/>
          </a:prstGeom>
          <a:noFill/>
          <a:ln/>
        </p:spPr>
        <p:txBody>
          <a:bodyPr wrap="square" lIns="0" tIns="0" rIns="0" bIns="0" rtlCol="0" anchor="ctr"/>
          <a:lstStyle/>
          <a:p>
            <a:pPr indent="0" marL="0">
              <a:buNone/>
            </a:pPr>
            <a:r>
              <a:rPr lang="en-US" sz="2900" b="1" dirty="0">
                <a:solidFill>
                  <a:srgbClr val="1F6F5F"/>
                </a:solidFill>
                <a:latin typeface="Cambria" pitchFamily="34" charset="0"/>
                <a:ea typeface="Cambria" pitchFamily="34" charset="-122"/>
                <a:cs typeface="Cambria" pitchFamily="34" charset="-120"/>
              </a:rPr>
              <a:t>Why any of this needs a schedule</a:t>
            </a:r>
            <a:endParaRPr lang="en-US" sz="2900" dirty="0"/>
          </a:p>
        </p:txBody>
      </p:sp>
      <p:sp>
        <p:nvSpPr>
          <p:cNvPr id="4" name="Text 2"/>
          <p:cNvSpPr txBox="1"/>
          <p:nvPr/>
        </p:nvSpPr>
        <p:spPr>
          <a:xfrm>
            <a:off x="548640" y="1133856"/>
            <a:ext cx="8046720" cy="548640"/>
          </a:xfrm>
          <a:prstGeom prst="rect">
            <a:avLst/>
          </a:prstGeom>
          <a:noFill/>
          <a:ln/>
        </p:spPr>
        <p:txBody>
          <a:bodyPr wrap="square" lIns="0" tIns="0" rIns="0" bIns="0" rtlCol="0" anchor="ctr"/>
          <a:lstStyle/>
          <a:p>
            <a:pPr indent="0" marL="0">
              <a:lnSpc>
                <a:spcPct val="120000"/>
              </a:lnSpc>
              <a:buNone/>
            </a:pPr>
            <a:r>
              <a:rPr lang="en-US" sz="1350" dirty="0">
                <a:solidFill>
                  <a:srgbClr val="5D564B"/>
                </a:solidFill>
                <a:latin typeface="Calibri" pitchFamily="34" charset="0"/>
                <a:ea typeface="Calibri" pitchFamily="34" charset="-122"/>
                <a:cs typeface="Calibri" pitchFamily="34" charset="-120"/>
              </a:rPr>
              <a:t>Ebbinghaus (1885) measured his own retention of learned material over time. Recall falls steeply</a:t>
            </a:r>
            <a:endParaRPr lang="en-US" sz="1350" dirty="0"/>
          </a:p>
          <a:p>
            <a:pPr indent="0" marL="0">
              <a:lnSpc>
                <a:spcPct val="120000"/>
              </a:lnSpc>
              <a:buNone/>
            </a:pPr>
            <a:r>
              <a:rPr lang="en-US" sz="1350" dirty="0">
                <a:solidFill>
                  <a:srgbClr val="5D564B"/>
                </a:solidFill>
                <a:latin typeface="Calibri" pitchFamily="34" charset="0"/>
                <a:ea typeface="Calibri" pitchFamily="34" charset="-122"/>
                <a:cs typeface="Calibri" pitchFamily="34" charset="-120"/>
              </a:rPr>
              <a:t>at first, then flattens — and each successful review flattens the curve further.</a:t>
            </a:r>
            <a:endParaRPr lang="en-US" sz="1350" dirty="0"/>
          </a:p>
        </p:txBody>
      </p:sp>
      <p:graphicFrame>
        <p:nvGraphicFramePr>
          <p:cNvPr id="5" name="Chart 0" descr=""/>
          <p:cNvGraphicFramePr/>
          <p:nvPr/>
        </p:nvGraphicFramePr>
        <p:xfrm>
          <a:off x="548640" y="1737360"/>
          <a:ext cx="5029200" cy="26517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806440" y="1737360"/>
            <a:ext cx="2788920" cy="2651760"/>
          </a:xfrm>
          <a:prstGeom prst="roundRect">
            <a:avLst>
              <a:gd name="adj" fmla="val 2759"/>
            </a:avLst>
          </a:prstGeom>
          <a:solidFill>
            <a:srgbClr val="F6F1E7"/>
          </a:solidFill>
          <a:ln w="12700">
            <a:solidFill>
              <a:srgbClr val="E2D9C8"/>
            </a:solidFill>
            <a:prstDash val="solid"/>
          </a:ln>
        </p:spPr>
      </p:sp>
      <p:sp>
        <p:nvSpPr>
          <p:cNvPr id="7" name="Text 4"/>
          <p:cNvSpPr txBox="1"/>
          <p:nvPr/>
        </p:nvSpPr>
        <p:spPr>
          <a:xfrm>
            <a:off x="6044184" y="1956816"/>
            <a:ext cx="2331720" cy="310896"/>
          </a:xfrm>
          <a:prstGeom prst="rect">
            <a:avLst/>
          </a:prstGeom>
          <a:noFill/>
          <a:ln/>
        </p:spPr>
        <p:txBody>
          <a:bodyPr wrap="square" lIns="0" tIns="0" rIns="0" bIns="0" rtlCol="0" anchor="ctr"/>
          <a:lstStyle/>
          <a:p>
            <a:pPr indent="0" marL="0">
              <a:buNone/>
            </a:pPr>
            <a:r>
              <a:rPr lang="en-US" sz="1500" b="1" dirty="0">
                <a:solidFill>
                  <a:srgbClr val="1F6F5F"/>
                </a:solidFill>
                <a:latin typeface="Cambria" pitchFamily="34" charset="0"/>
                <a:ea typeface="Cambria" pitchFamily="34" charset="-122"/>
                <a:cs typeface="Cambria" pitchFamily="34" charset="-120"/>
              </a:rPr>
              <a:t>What the app takes from this</a:t>
            </a:r>
            <a:endParaRPr lang="en-US" sz="1500" dirty="0"/>
          </a:p>
        </p:txBody>
      </p:sp>
      <p:sp>
        <p:nvSpPr>
          <p:cNvPr id="8" name="Text 5"/>
          <p:cNvSpPr txBox="1"/>
          <p:nvPr/>
        </p:nvSpPr>
        <p:spPr>
          <a:xfrm>
            <a:off x="6044184" y="2340864"/>
            <a:ext cx="2313432" cy="1828800"/>
          </a:xfrm>
          <a:prstGeom prst="rect">
            <a:avLst/>
          </a:prstGeom>
          <a:noFill/>
          <a:ln/>
        </p:spPr>
        <p:txBody>
          <a:bodyPr wrap="square" lIns="0" tIns="0" rIns="0" bIns="0" rtlCol="0" anchor="t"/>
          <a:lstStyle/>
          <a:p>
            <a:pPr indent="0" marL="0">
              <a:lnSpc>
                <a:spcPct val="112000"/>
              </a:lnSpc>
              <a:buNone/>
            </a:pPr>
            <a:r>
              <a:rPr lang="en-US" sz="1100" dirty="0">
                <a:solidFill>
                  <a:srgbClr val="5D564B"/>
                </a:solidFill>
                <a:latin typeface="Calibri" pitchFamily="34" charset="0"/>
                <a:ea typeface="Calibri" pitchFamily="34" charset="-122"/>
                <a:cs typeface="Calibri" pitchFamily="34" charset="-120"/>
              </a:rPr>
              <a:t>Not the numbers — Ebbinghaus used nonsense syllables on a single subject; Qur’anic text is meaningful and heard aloud.</a:t>
            </a:r>
            <a:endParaRPr lang="en-US" sz="1100" dirty="0"/>
          </a:p>
          <a:p>
            <a:pPr indent="0" marL="0">
              <a:lnSpc>
                <a:spcPct val="112000"/>
              </a:lnSpc>
              <a:buNone/>
            </a:pPr>
            <a:endParaRPr lang="en-US" sz="1100" dirty="0"/>
          </a:p>
          <a:p>
            <a:pPr indent="0" marL="0">
              <a:lnSpc>
                <a:spcPct val="112000"/>
              </a:lnSpc>
              <a:buNone/>
            </a:pPr>
            <a:r>
              <a:rPr lang="en-US" sz="1100" dirty="0">
                <a:solidFill>
                  <a:srgbClr val="5D564B"/>
                </a:solidFill>
                <a:latin typeface="Calibri" pitchFamily="34" charset="0"/>
                <a:ea typeface="Calibri" pitchFamily="34" charset="-122"/>
                <a:cs typeface="Calibri" pitchFamily="34" charset="-120"/>
              </a:rPr>
              <a:t>What transfers is the shape: forgetting is fastest right after learning, so the first review must come soon and later ones can be far apart.</a:t>
            </a:r>
            <a:endParaRPr lang="en-US" sz="1100" dirty="0"/>
          </a:p>
          <a:p>
            <a:pPr indent="0" marL="0">
              <a:lnSpc>
                <a:spcPct val="112000"/>
              </a:lnSpc>
              <a:buNone/>
            </a:pPr>
            <a:endParaRPr lang="en-US" sz="1100" dirty="0"/>
          </a:p>
          <a:p>
            <a:pPr indent="0" marL="0">
              <a:lnSpc>
                <a:spcPct val="112000"/>
              </a:lnSpc>
              <a:buNone/>
            </a:pPr>
            <a:r>
              <a:rPr lang="en-US" sz="1100" dirty="0">
                <a:solidFill>
                  <a:srgbClr val="5D564B"/>
                </a:solidFill>
                <a:latin typeface="Calibri" pitchFamily="34" charset="0"/>
                <a:ea typeface="Calibri" pitchFamily="34" charset="-122"/>
                <a:cs typeface="Calibri" pitchFamily="34" charset="-120"/>
              </a:rPr>
              <a:t>That is the shape of the ladder.</a:t>
            </a:r>
            <a:endParaRPr lang="en-US" sz="1100" dirty="0"/>
          </a:p>
        </p:txBody>
      </p:sp>
      <p:sp>
        <p:nvSpPr>
          <p:cNvPr id="9" name="Text 6"/>
          <p:cNvSpPr txBox="1"/>
          <p:nvPr/>
        </p:nvSpPr>
        <p:spPr>
          <a:xfrm>
            <a:off x="548640" y="4498848"/>
            <a:ext cx="8046720" cy="365760"/>
          </a:xfrm>
          <a:prstGeom prst="rect">
            <a:avLst/>
          </a:prstGeom>
          <a:noFill/>
          <a:ln/>
        </p:spPr>
        <p:txBody>
          <a:bodyPr wrap="square" lIns="0" tIns="0" rIns="0" bIns="0" rtlCol="0" anchor="ctr"/>
          <a:lstStyle/>
          <a:p>
            <a:pPr indent="0" marL="0">
              <a:buNone/>
            </a:pPr>
            <a:r>
              <a:rPr lang="en-US" sz="1050" i="1" dirty="0">
                <a:solidFill>
                  <a:srgbClr val="857C6D"/>
                </a:solidFill>
                <a:latin typeface="Calibri" pitchFamily="34" charset="0"/>
                <a:ea typeface="Calibri" pitchFamily="34" charset="-122"/>
                <a:cs typeface="Calibri" pitchFamily="34" charset="-120"/>
              </a:rPr>
              <a:t>Ebbinghaus, H. (1885/1913). Memory: A Contribution to Experimental Psychology. Figures are his savings-method percentages.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10896"/>
            <a:ext cx="8046720" cy="237744"/>
          </a:xfrm>
          <a:prstGeom prst="rect">
            <a:avLst/>
          </a:prstGeom>
          <a:noFill/>
          <a:ln/>
        </p:spPr>
        <p:txBody>
          <a:bodyPr wrap="square" lIns="0" tIns="0" rIns="0" bIns="0" rtlCol="0" anchor="ctr"/>
          <a:lstStyle/>
          <a:p>
            <a:pPr indent="0" marL="0">
              <a:buNone/>
            </a:pPr>
            <a:r>
              <a:rPr lang="en-US" sz="1100" b="1" spc="200" kern="0" dirty="0">
                <a:solidFill>
                  <a:srgbClr val="B8860B"/>
                </a:solidFill>
                <a:latin typeface="Calibri" pitchFamily="34" charset="0"/>
                <a:ea typeface="Calibri" pitchFamily="34" charset="-122"/>
                <a:cs typeface="Calibri" pitchFamily="34" charset="-120"/>
              </a:rPr>
              <a:t>PART C · THE EVIDENCE</a:t>
            </a:r>
            <a:endParaRPr lang="en-US" sz="1100" dirty="0"/>
          </a:p>
        </p:txBody>
      </p:sp>
      <p:sp>
        <p:nvSpPr>
          <p:cNvPr id="3" name="Text 1"/>
          <p:cNvSpPr txBox="1"/>
          <p:nvPr/>
        </p:nvSpPr>
        <p:spPr>
          <a:xfrm>
            <a:off x="548640" y="530352"/>
            <a:ext cx="8046720" cy="603504"/>
          </a:xfrm>
          <a:prstGeom prst="rect">
            <a:avLst/>
          </a:prstGeom>
          <a:noFill/>
          <a:ln/>
        </p:spPr>
        <p:txBody>
          <a:bodyPr wrap="square" lIns="0" tIns="0" rIns="0" bIns="0" rtlCol="0" anchor="ctr"/>
          <a:lstStyle/>
          <a:p>
            <a:pPr indent="0" marL="0">
              <a:buNone/>
            </a:pPr>
            <a:r>
              <a:rPr lang="en-US" sz="2900" b="1" dirty="0">
                <a:solidFill>
                  <a:srgbClr val="1F6F5F"/>
                </a:solidFill>
                <a:latin typeface="Cambria" pitchFamily="34" charset="0"/>
                <a:ea typeface="Cambria" pitchFamily="34" charset="-122"/>
                <a:cs typeface="Cambria" pitchFamily="34" charset="-120"/>
              </a:rPr>
              <a:t>Principle 1 — spacing beats massing</a:t>
            </a:r>
            <a:endParaRPr lang="en-US" sz="2900" dirty="0"/>
          </a:p>
        </p:txBody>
      </p:sp>
      <p:sp>
        <p:nvSpPr>
          <p:cNvPr id="4" name="Text 2"/>
          <p:cNvSpPr txBox="1"/>
          <p:nvPr/>
        </p:nvSpPr>
        <p:spPr>
          <a:xfrm>
            <a:off x="548640" y="1152144"/>
            <a:ext cx="8046720" cy="310896"/>
          </a:xfrm>
          <a:prstGeom prst="rect">
            <a:avLst/>
          </a:prstGeom>
          <a:noFill/>
          <a:ln/>
        </p:spPr>
        <p:txBody>
          <a:bodyPr wrap="square" lIns="0" tIns="0" rIns="0" bIns="0" rtlCol="0" anchor="ctr"/>
          <a:lstStyle/>
          <a:p>
            <a:pPr indent="0" marL="0">
              <a:buNone/>
            </a:pPr>
            <a:r>
              <a:rPr lang="en-US" sz="1350" dirty="0">
                <a:solidFill>
                  <a:srgbClr val="5D564B"/>
                </a:solidFill>
                <a:latin typeface="Calibri" pitchFamily="34" charset="0"/>
                <a:ea typeface="Calibri" pitchFamily="34" charset="-122"/>
                <a:cs typeface="Calibri" pitchFamily="34" charset="-120"/>
              </a:rPr>
              <a:t>Cepeda, Pashler, Vul, Wixted &amp; Rohrer (2006) — a meta-analysis of a century of distributed-practice research.</a:t>
            </a:r>
            <a:endParaRPr lang="en-US" sz="1350" dirty="0"/>
          </a:p>
        </p:txBody>
      </p:sp>
      <p:sp>
        <p:nvSpPr>
          <p:cNvPr id="5" name="Text 3"/>
          <p:cNvSpPr txBox="1"/>
          <p:nvPr/>
        </p:nvSpPr>
        <p:spPr>
          <a:xfrm>
            <a:off x="548640" y="1645920"/>
            <a:ext cx="2468880" cy="658368"/>
          </a:xfrm>
          <a:prstGeom prst="rect">
            <a:avLst/>
          </a:prstGeom>
          <a:noFill/>
          <a:ln/>
        </p:spPr>
        <p:txBody>
          <a:bodyPr wrap="square" lIns="0" tIns="0" rIns="0" bIns="0" rtlCol="0" anchor="ctr"/>
          <a:lstStyle/>
          <a:p>
            <a:pPr algn="ctr" indent="0" marL="0">
              <a:buNone/>
            </a:pPr>
            <a:r>
              <a:rPr lang="en-US" sz="4400" b="1" dirty="0">
                <a:solidFill>
                  <a:srgbClr val="1F6F5F"/>
                </a:solidFill>
                <a:latin typeface="Cambria" pitchFamily="34" charset="0"/>
                <a:ea typeface="Cambria" pitchFamily="34" charset="-122"/>
                <a:cs typeface="Cambria" pitchFamily="34" charset="-120"/>
              </a:rPr>
              <a:t>184</a:t>
            </a:r>
            <a:endParaRPr lang="en-US" sz="4400" dirty="0"/>
          </a:p>
        </p:txBody>
      </p:sp>
      <p:sp>
        <p:nvSpPr>
          <p:cNvPr id="6" name="Text 4"/>
          <p:cNvSpPr txBox="1"/>
          <p:nvPr/>
        </p:nvSpPr>
        <p:spPr>
          <a:xfrm>
            <a:off x="548640" y="2322576"/>
            <a:ext cx="2468880" cy="548640"/>
          </a:xfrm>
          <a:prstGeom prst="rect">
            <a:avLst/>
          </a:prstGeom>
          <a:noFill/>
          <a:ln/>
        </p:spPr>
        <p:txBody>
          <a:bodyPr wrap="square" lIns="0" tIns="0" rIns="0" bIns="0" rtlCol="0" anchor="ctr"/>
          <a:lstStyle/>
          <a:p>
            <a:pPr algn="ctr" indent="0" marL="0">
              <a:lnSpc>
                <a:spcPct val="110000"/>
              </a:lnSpc>
              <a:buNone/>
            </a:pPr>
            <a:r>
              <a:rPr lang="en-US" sz="1150" dirty="0">
                <a:solidFill>
                  <a:srgbClr val="5D564B"/>
                </a:solidFill>
                <a:latin typeface="Calibri" pitchFamily="34" charset="0"/>
                <a:ea typeface="Calibri" pitchFamily="34" charset="-122"/>
                <a:cs typeface="Calibri" pitchFamily="34" charset="-120"/>
              </a:rPr>
              <a:t>articles reviewed</a:t>
            </a:r>
            <a:endParaRPr lang="en-US" sz="1150" dirty="0"/>
          </a:p>
        </p:txBody>
      </p:sp>
      <p:sp>
        <p:nvSpPr>
          <p:cNvPr id="7" name="Text 5"/>
          <p:cNvSpPr txBox="1"/>
          <p:nvPr/>
        </p:nvSpPr>
        <p:spPr>
          <a:xfrm>
            <a:off x="3337560" y="1645920"/>
            <a:ext cx="2468880" cy="658368"/>
          </a:xfrm>
          <a:prstGeom prst="rect">
            <a:avLst/>
          </a:prstGeom>
          <a:noFill/>
          <a:ln/>
        </p:spPr>
        <p:txBody>
          <a:bodyPr wrap="square" lIns="0" tIns="0" rIns="0" bIns="0" rtlCol="0" anchor="ctr"/>
          <a:lstStyle/>
          <a:p>
            <a:pPr algn="ctr" indent="0" marL="0">
              <a:buNone/>
            </a:pPr>
            <a:r>
              <a:rPr lang="en-US" sz="4400" b="1" dirty="0">
                <a:solidFill>
                  <a:srgbClr val="1F6F5F"/>
                </a:solidFill>
                <a:latin typeface="Cambria" pitchFamily="34" charset="0"/>
                <a:ea typeface="Cambria" pitchFamily="34" charset="-122"/>
                <a:cs typeface="Cambria" pitchFamily="34" charset="-120"/>
              </a:rPr>
              <a:t>317</a:t>
            </a:r>
            <a:endParaRPr lang="en-US" sz="4400" dirty="0"/>
          </a:p>
        </p:txBody>
      </p:sp>
      <p:sp>
        <p:nvSpPr>
          <p:cNvPr id="8" name="Text 6"/>
          <p:cNvSpPr txBox="1"/>
          <p:nvPr/>
        </p:nvSpPr>
        <p:spPr>
          <a:xfrm>
            <a:off x="3337560" y="2322576"/>
            <a:ext cx="2468880" cy="548640"/>
          </a:xfrm>
          <a:prstGeom prst="rect">
            <a:avLst/>
          </a:prstGeom>
          <a:noFill/>
          <a:ln/>
        </p:spPr>
        <p:txBody>
          <a:bodyPr wrap="square" lIns="0" tIns="0" rIns="0" bIns="0" rtlCol="0" anchor="ctr"/>
          <a:lstStyle/>
          <a:p>
            <a:pPr algn="ctr" indent="0" marL="0">
              <a:lnSpc>
                <a:spcPct val="110000"/>
              </a:lnSpc>
              <a:buNone/>
            </a:pPr>
            <a:r>
              <a:rPr lang="en-US" sz="1150" dirty="0">
                <a:solidFill>
                  <a:srgbClr val="5D564B"/>
                </a:solidFill>
                <a:latin typeface="Calibri" pitchFamily="34" charset="0"/>
                <a:ea typeface="Calibri" pitchFamily="34" charset="-122"/>
                <a:cs typeface="Calibri" pitchFamily="34" charset="-120"/>
              </a:rPr>
              <a:t>experiments</a:t>
            </a:r>
            <a:endParaRPr lang="en-US" sz="1150" dirty="0"/>
          </a:p>
        </p:txBody>
      </p:sp>
      <p:sp>
        <p:nvSpPr>
          <p:cNvPr id="9" name="Text 7"/>
          <p:cNvSpPr txBox="1"/>
          <p:nvPr/>
        </p:nvSpPr>
        <p:spPr>
          <a:xfrm>
            <a:off x="6126480" y="1645920"/>
            <a:ext cx="2468880" cy="658368"/>
          </a:xfrm>
          <a:prstGeom prst="rect">
            <a:avLst/>
          </a:prstGeom>
          <a:noFill/>
          <a:ln/>
        </p:spPr>
        <p:txBody>
          <a:bodyPr wrap="square" lIns="0" tIns="0" rIns="0" bIns="0" rtlCol="0" anchor="ctr"/>
          <a:lstStyle/>
          <a:p>
            <a:pPr algn="ctr" indent="0" marL="0">
              <a:buNone/>
            </a:pPr>
            <a:r>
              <a:rPr lang="en-US" sz="4400" b="1" dirty="0">
                <a:solidFill>
                  <a:srgbClr val="1F6F5F"/>
                </a:solidFill>
                <a:latin typeface="Cambria" pitchFamily="34" charset="0"/>
                <a:ea typeface="Cambria" pitchFamily="34" charset="-122"/>
                <a:cs typeface="Cambria" pitchFamily="34" charset="-120"/>
              </a:rPr>
              <a:t>839</a:t>
            </a:r>
            <a:endParaRPr lang="en-US" sz="4400" dirty="0"/>
          </a:p>
        </p:txBody>
      </p:sp>
      <p:sp>
        <p:nvSpPr>
          <p:cNvPr id="10" name="Text 8"/>
          <p:cNvSpPr txBox="1"/>
          <p:nvPr/>
        </p:nvSpPr>
        <p:spPr>
          <a:xfrm>
            <a:off x="6126480" y="2322576"/>
            <a:ext cx="2468880" cy="548640"/>
          </a:xfrm>
          <a:prstGeom prst="rect">
            <a:avLst/>
          </a:prstGeom>
          <a:noFill/>
          <a:ln/>
        </p:spPr>
        <p:txBody>
          <a:bodyPr wrap="square" lIns="0" tIns="0" rIns="0" bIns="0" rtlCol="0" anchor="ctr"/>
          <a:lstStyle/>
          <a:p>
            <a:pPr algn="ctr" indent="0" marL="0">
              <a:lnSpc>
                <a:spcPct val="110000"/>
              </a:lnSpc>
              <a:buNone/>
            </a:pPr>
            <a:r>
              <a:rPr lang="en-US" sz="1150" dirty="0">
                <a:solidFill>
                  <a:srgbClr val="5D564B"/>
                </a:solidFill>
                <a:latin typeface="Calibri" pitchFamily="34" charset="0"/>
                <a:ea typeface="Calibri" pitchFamily="34" charset="-122"/>
                <a:cs typeface="Calibri" pitchFamily="34" charset="-120"/>
              </a:rPr>
              <a:t>assessments of the spacing effect</a:t>
            </a:r>
            <a:endParaRPr lang="en-US" sz="1150" dirty="0"/>
          </a:p>
        </p:txBody>
      </p:sp>
      <p:sp>
        <p:nvSpPr>
          <p:cNvPr id="11" name="Shape 9"/>
          <p:cNvSpPr/>
          <p:nvPr/>
        </p:nvSpPr>
        <p:spPr>
          <a:xfrm>
            <a:off x="548640" y="2980944"/>
            <a:ext cx="8046720" cy="1371600"/>
          </a:xfrm>
          <a:prstGeom prst="roundRect">
            <a:avLst>
              <a:gd name="adj" fmla="val 5333"/>
            </a:avLst>
          </a:prstGeom>
          <a:solidFill>
            <a:srgbClr val="F6F1E7"/>
          </a:solidFill>
          <a:ln w="12700">
            <a:solidFill>
              <a:srgbClr val="E2D9C8"/>
            </a:solidFill>
            <a:prstDash val="solid"/>
          </a:ln>
        </p:spPr>
      </p:sp>
      <p:sp>
        <p:nvSpPr>
          <p:cNvPr id="12" name="Text 10"/>
          <p:cNvSpPr txBox="1"/>
          <p:nvPr/>
        </p:nvSpPr>
        <p:spPr>
          <a:xfrm>
            <a:off x="786384" y="3200400"/>
            <a:ext cx="7589520" cy="310896"/>
          </a:xfrm>
          <a:prstGeom prst="rect">
            <a:avLst/>
          </a:prstGeom>
          <a:noFill/>
          <a:ln/>
        </p:spPr>
        <p:txBody>
          <a:bodyPr wrap="square" lIns="0" tIns="0" rIns="0" bIns="0" rtlCol="0" anchor="ctr"/>
          <a:lstStyle/>
          <a:p>
            <a:pPr indent="0" marL="0">
              <a:buNone/>
            </a:pPr>
            <a:r>
              <a:rPr lang="en-US" sz="1500" b="1" dirty="0">
                <a:solidFill>
                  <a:srgbClr val="1F6F5F"/>
                </a:solidFill>
                <a:latin typeface="Cambria" pitchFamily="34" charset="0"/>
                <a:ea typeface="Cambria" pitchFamily="34" charset="-122"/>
                <a:cs typeface="Cambria" pitchFamily="34" charset="-120"/>
              </a:rPr>
              <a:t>The finding, and the part the app depends on</a:t>
            </a:r>
            <a:endParaRPr lang="en-US" sz="1500" dirty="0"/>
          </a:p>
        </p:txBody>
      </p:sp>
      <p:sp>
        <p:nvSpPr>
          <p:cNvPr id="13" name="Text 11"/>
          <p:cNvSpPr txBox="1"/>
          <p:nvPr/>
        </p:nvSpPr>
        <p:spPr>
          <a:xfrm>
            <a:off x="786384" y="3584448"/>
            <a:ext cx="7571232" cy="548640"/>
          </a:xfrm>
          <a:prstGeom prst="rect">
            <a:avLst/>
          </a:prstGeom>
          <a:noFill/>
          <a:ln/>
        </p:spPr>
        <p:txBody>
          <a:bodyPr wrap="square" lIns="0" tIns="0" rIns="0" bIns="0" rtlCol="0" anchor="t"/>
          <a:lstStyle/>
          <a:p>
            <a:pPr indent="0" marL="0">
              <a:lnSpc>
                <a:spcPct val="112000"/>
              </a:lnSpc>
              <a:buNone/>
            </a:pPr>
            <a:r>
              <a:rPr lang="en-US" sz="1150" dirty="0">
                <a:solidFill>
                  <a:srgbClr val="5D564B"/>
                </a:solidFill>
                <a:latin typeface="Calibri" pitchFamily="34" charset="0"/>
                <a:ea typeface="Calibri" pitchFamily="34" charset="-122"/>
                <a:cs typeface="Calibri" pitchFamily="34" charset="-120"/>
              </a:rPr>
              <a:t>Spaced practice reliably outperformed massed practice. More importantly for a scheduler: the best gap between reviews is not fixed — it grows with how long you need to remember the material.</a:t>
            </a:r>
            <a:endParaRPr lang="en-US" sz="1150" dirty="0"/>
          </a:p>
          <a:p>
            <a:pPr indent="0" marL="0">
              <a:lnSpc>
                <a:spcPct val="112000"/>
              </a:lnSpc>
              <a:buNone/>
            </a:pPr>
            <a:endParaRPr lang="en-US" sz="1150" dirty="0"/>
          </a:p>
          <a:p>
            <a:pPr indent="0" marL="0">
              <a:lnSpc>
                <a:spcPct val="112000"/>
              </a:lnSpc>
              <a:buNone/>
            </a:pPr>
            <a:r>
              <a:rPr lang="en-US" sz="1150" dirty="0">
                <a:solidFill>
                  <a:srgbClr val="5D564B"/>
                </a:solidFill>
                <a:latin typeface="Calibri" pitchFamily="34" charset="0"/>
                <a:ea typeface="Calibri" pitchFamily="34" charset="-122"/>
                <a:cs typeface="Calibri" pitchFamily="34" charset="-120"/>
              </a:rPr>
              <a:t>Ḥifẓ is the extreme case: the target is the rest of your life, so the app’s intervals climb into the tens of days and stay there.</a:t>
            </a:r>
            <a:endParaRPr lang="en-US" sz="1150" dirty="0"/>
          </a:p>
        </p:txBody>
      </p:sp>
      <p:sp>
        <p:nvSpPr>
          <p:cNvPr id="14" name="Text 12"/>
          <p:cNvSpPr txBox="1"/>
          <p:nvPr/>
        </p:nvSpPr>
        <p:spPr>
          <a:xfrm>
            <a:off x="548640" y="4498848"/>
            <a:ext cx="8046720" cy="365760"/>
          </a:xfrm>
          <a:prstGeom prst="rect">
            <a:avLst/>
          </a:prstGeom>
          <a:noFill/>
          <a:ln/>
        </p:spPr>
        <p:txBody>
          <a:bodyPr wrap="square" lIns="0" tIns="0" rIns="0" bIns="0" rtlCol="0" anchor="ctr"/>
          <a:lstStyle/>
          <a:p>
            <a:pPr indent="0" marL="0">
              <a:buNone/>
            </a:pPr>
            <a:r>
              <a:rPr lang="en-US" sz="1050" i="1" dirty="0">
                <a:solidFill>
                  <a:srgbClr val="857C6D"/>
                </a:solidFill>
                <a:latin typeface="Calibri" pitchFamily="34" charset="0"/>
                <a:ea typeface="Calibri" pitchFamily="34" charset="-122"/>
                <a:cs typeface="Calibri" pitchFamily="34" charset="-120"/>
              </a:rPr>
              <a:t>Cepeda et al. (2006), Psychological Bulletin, 132(3), 354–380.</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10896"/>
            <a:ext cx="8046720" cy="237744"/>
          </a:xfrm>
          <a:prstGeom prst="rect">
            <a:avLst/>
          </a:prstGeom>
          <a:noFill/>
          <a:ln/>
        </p:spPr>
        <p:txBody>
          <a:bodyPr wrap="square" lIns="0" tIns="0" rIns="0" bIns="0" rtlCol="0" anchor="ctr"/>
          <a:lstStyle/>
          <a:p>
            <a:pPr indent="0" marL="0">
              <a:buNone/>
            </a:pPr>
            <a:r>
              <a:rPr lang="en-US" sz="1100" b="1" spc="200" kern="0" dirty="0">
                <a:solidFill>
                  <a:srgbClr val="B8860B"/>
                </a:solidFill>
                <a:latin typeface="Calibri" pitchFamily="34" charset="0"/>
                <a:ea typeface="Calibri" pitchFamily="34" charset="-122"/>
                <a:cs typeface="Calibri" pitchFamily="34" charset="-120"/>
              </a:rPr>
              <a:t>PART C · THE EVIDENCE</a:t>
            </a:r>
            <a:endParaRPr lang="en-US" sz="1100" dirty="0"/>
          </a:p>
        </p:txBody>
      </p:sp>
      <p:sp>
        <p:nvSpPr>
          <p:cNvPr id="3" name="Text 1"/>
          <p:cNvSpPr txBox="1"/>
          <p:nvPr/>
        </p:nvSpPr>
        <p:spPr>
          <a:xfrm>
            <a:off x="548640" y="530352"/>
            <a:ext cx="8046720" cy="603504"/>
          </a:xfrm>
          <a:prstGeom prst="rect">
            <a:avLst/>
          </a:prstGeom>
          <a:noFill/>
          <a:ln/>
        </p:spPr>
        <p:txBody>
          <a:bodyPr wrap="square" lIns="0" tIns="0" rIns="0" bIns="0" rtlCol="0" anchor="ctr"/>
          <a:lstStyle/>
          <a:p>
            <a:pPr indent="0" marL="0">
              <a:buNone/>
            </a:pPr>
            <a:r>
              <a:rPr lang="en-US" sz="2900" b="1" dirty="0">
                <a:solidFill>
                  <a:srgbClr val="1F6F5F"/>
                </a:solidFill>
                <a:latin typeface="Cambria" pitchFamily="34" charset="0"/>
                <a:ea typeface="Cambria" pitchFamily="34" charset="-122"/>
                <a:cs typeface="Cambria" pitchFamily="34" charset="-120"/>
              </a:rPr>
              <a:t>Principle 2 — recall, don’t re-read</a:t>
            </a:r>
            <a:endParaRPr lang="en-US" sz="2900" dirty="0"/>
          </a:p>
        </p:txBody>
      </p:sp>
      <p:sp>
        <p:nvSpPr>
          <p:cNvPr id="4" name="Text 2"/>
          <p:cNvSpPr txBox="1"/>
          <p:nvPr/>
        </p:nvSpPr>
        <p:spPr>
          <a:xfrm>
            <a:off x="548640" y="1133856"/>
            <a:ext cx="8046720" cy="548640"/>
          </a:xfrm>
          <a:prstGeom prst="rect">
            <a:avLst/>
          </a:prstGeom>
          <a:noFill/>
          <a:ln/>
        </p:spPr>
        <p:txBody>
          <a:bodyPr wrap="square" lIns="0" tIns="0" rIns="0" bIns="0" rtlCol="0" anchor="ctr"/>
          <a:lstStyle/>
          <a:p>
            <a:pPr indent="0" marL="0">
              <a:lnSpc>
                <a:spcPct val="120000"/>
              </a:lnSpc>
              <a:buNone/>
            </a:pPr>
            <a:r>
              <a:rPr lang="en-US" sz="1350" dirty="0">
                <a:solidFill>
                  <a:srgbClr val="5D564B"/>
                </a:solidFill>
                <a:latin typeface="Calibri" pitchFamily="34" charset="0"/>
                <a:ea typeface="Calibri" pitchFamily="34" charset="-122"/>
                <a:cs typeface="Calibri" pitchFamily="34" charset="-120"/>
              </a:rPr>
              <a:t>Roediger &amp; Karpicke (2006): students who were tested on a passage remembered far more a week later</a:t>
            </a:r>
            <a:endParaRPr lang="en-US" sz="1350" dirty="0"/>
          </a:p>
          <a:p>
            <a:pPr indent="0" marL="0">
              <a:lnSpc>
                <a:spcPct val="120000"/>
              </a:lnSpc>
              <a:buNone/>
            </a:pPr>
            <a:r>
              <a:rPr lang="en-US" sz="1350" dirty="0">
                <a:solidFill>
                  <a:srgbClr val="5D564B"/>
                </a:solidFill>
                <a:latin typeface="Calibri" pitchFamily="34" charset="0"/>
                <a:ea typeface="Calibri" pitchFamily="34" charset="-122"/>
                <a:cs typeface="Calibri" pitchFamily="34" charset="-120"/>
              </a:rPr>
              <a:t>than students who re-read it — even though re-reading felt better at the time.</a:t>
            </a:r>
            <a:endParaRPr lang="en-US" sz="1350" dirty="0"/>
          </a:p>
        </p:txBody>
      </p:sp>
      <p:graphicFrame>
        <p:nvGraphicFramePr>
          <p:cNvPr id="5" name="Chart 0" descr=""/>
          <p:cNvGraphicFramePr/>
          <p:nvPr/>
        </p:nvGraphicFramePr>
        <p:xfrm>
          <a:off x="548640" y="1755648"/>
          <a:ext cx="5120640" cy="25146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897880" y="1755648"/>
            <a:ext cx="2697480" cy="2514600"/>
          </a:xfrm>
          <a:prstGeom prst="roundRect">
            <a:avLst>
              <a:gd name="adj" fmla="val 2909"/>
            </a:avLst>
          </a:prstGeom>
          <a:solidFill>
            <a:srgbClr val="F6F1E7"/>
          </a:solidFill>
          <a:ln w="12700">
            <a:solidFill>
              <a:srgbClr val="E2D9C8"/>
            </a:solidFill>
            <a:prstDash val="solid"/>
          </a:ln>
        </p:spPr>
      </p:sp>
      <p:sp>
        <p:nvSpPr>
          <p:cNvPr id="7" name="Text 4"/>
          <p:cNvSpPr txBox="1"/>
          <p:nvPr/>
        </p:nvSpPr>
        <p:spPr>
          <a:xfrm>
            <a:off x="6135624" y="1975104"/>
            <a:ext cx="2240280" cy="310896"/>
          </a:xfrm>
          <a:prstGeom prst="rect">
            <a:avLst/>
          </a:prstGeom>
          <a:noFill/>
          <a:ln/>
        </p:spPr>
        <p:txBody>
          <a:bodyPr wrap="square" lIns="0" tIns="0" rIns="0" bIns="0" rtlCol="0" anchor="ctr"/>
          <a:lstStyle/>
          <a:p>
            <a:pPr indent="0" marL="0">
              <a:buNone/>
            </a:pPr>
            <a:r>
              <a:rPr lang="en-US" sz="1500" b="1" dirty="0">
                <a:solidFill>
                  <a:srgbClr val="1F6F5F"/>
                </a:solidFill>
                <a:latin typeface="Cambria" pitchFamily="34" charset="0"/>
                <a:ea typeface="Cambria" pitchFamily="34" charset="-122"/>
                <a:cs typeface="Cambria" pitchFamily="34" charset="-120"/>
              </a:rPr>
              <a:t>In the app: the curtain</a:t>
            </a:r>
            <a:endParaRPr lang="en-US" sz="1500" dirty="0"/>
          </a:p>
        </p:txBody>
      </p:sp>
      <p:sp>
        <p:nvSpPr>
          <p:cNvPr id="8" name="Text 5"/>
          <p:cNvSpPr txBox="1"/>
          <p:nvPr/>
        </p:nvSpPr>
        <p:spPr>
          <a:xfrm>
            <a:off x="6135624" y="2359152"/>
            <a:ext cx="2221992" cy="1691640"/>
          </a:xfrm>
          <a:prstGeom prst="rect">
            <a:avLst/>
          </a:prstGeom>
          <a:noFill/>
          <a:ln/>
        </p:spPr>
        <p:txBody>
          <a:bodyPr wrap="square" lIns="0" tIns="0" rIns="0" bIns="0" rtlCol="0" anchor="t"/>
          <a:lstStyle/>
          <a:p>
            <a:pPr indent="0" marL="0">
              <a:lnSpc>
                <a:spcPct val="112000"/>
              </a:lnSpc>
              <a:buNone/>
            </a:pPr>
            <a:r>
              <a:rPr lang="en-US" sz="1150" dirty="0">
                <a:solidFill>
                  <a:srgbClr val="5D564B"/>
                </a:solidFill>
                <a:latin typeface="Calibri" pitchFamily="34" charset="0"/>
                <a:ea typeface="Calibri" pitchFamily="34" charset="-122"/>
                <a:cs typeface="Calibri" pitchFamily="34" charset="-120"/>
              </a:rPr>
              <a:t>The Study tab covers the Mushaf page. You recite from memory first, then reveal line by line to check.</a:t>
            </a:r>
            <a:endParaRPr lang="en-US" sz="1150" dirty="0"/>
          </a:p>
          <a:p>
            <a:pPr indent="0" marL="0">
              <a:lnSpc>
                <a:spcPct val="112000"/>
              </a:lnSpc>
              <a:buNone/>
            </a:pPr>
            <a:endParaRPr lang="en-US" sz="1150" dirty="0"/>
          </a:p>
          <a:p>
            <a:pPr indent="0" marL="0">
              <a:lnSpc>
                <a:spcPct val="112000"/>
              </a:lnSpc>
              <a:buNone/>
            </a:pPr>
            <a:r>
              <a:rPr lang="en-US" sz="1150" dirty="0">
                <a:solidFill>
                  <a:srgbClr val="5D564B"/>
                </a:solidFill>
                <a:latin typeface="Calibri" pitchFamily="34" charset="0"/>
                <a:ea typeface="Calibri" pitchFamily="34" charset="-122"/>
                <a:cs typeface="Calibri" pitchFamily="34" charset="-120"/>
              </a:rPr>
              <a:t>While the curtain is down, the translations, tafsīr and the video lesson are hidden too, so nothing can prompt you — and nothing is ever marked merely “read”.</a:t>
            </a:r>
            <a:endParaRPr lang="en-US" sz="1150" dirty="0"/>
          </a:p>
        </p:txBody>
      </p:sp>
      <p:sp>
        <p:nvSpPr>
          <p:cNvPr id="9" name="Text 6"/>
          <p:cNvSpPr txBox="1"/>
          <p:nvPr/>
        </p:nvSpPr>
        <p:spPr>
          <a:xfrm>
            <a:off x="548640" y="4434840"/>
            <a:ext cx="8046720" cy="365760"/>
          </a:xfrm>
          <a:prstGeom prst="rect">
            <a:avLst/>
          </a:prstGeom>
          <a:noFill/>
          <a:ln/>
        </p:spPr>
        <p:txBody>
          <a:bodyPr wrap="square" lIns="0" tIns="0" rIns="0" bIns="0" rtlCol="0" anchor="ctr"/>
          <a:lstStyle/>
          <a:p>
            <a:pPr indent="0" marL="0">
              <a:buNone/>
            </a:pPr>
            <a:r>
              <a:rPr lang="en-US" sz="1050" i="1" dirty="0">
                <a:solidFill>
                  <a:srgbClr val="857C6D"/>
                </a:solidFill>
                <a:latin typeface="Calibri" pitchFamily="34" charset="0"/>
                <a:ea typeface="Calibri" pitchFamily="34" charset="-122"/>
                <a:cs typeface="Calibri" pitchFamily="34" charset="-120"/>
              </a:rPr>
              <a:t>Roediger &amp; Karpicke (2006), Psychological Science, 17(3), 249–255 — Experiment 2 final free-recall percentages.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10896"/>
            <a:ext cx="8046720" cy="237744"/>
          </a:xfrm>
          <a:prstGeom prst="rect">
            <a:avLst/>
          </a:prstGeom>
          <a:noFill/>
          <a:ln/>
        </p:spPr>
        <p:txBody>
          <a:bodyPr wrap="square" lIns="0" tIns="0" rIns="0" bIns="0" rtlCol="0" anchor="ctr"/>
          <a:lstStyle/>
          <a:p>
            <a:pPr indent="0" marL="0">
              <a:buNone/>
            </a:pPr>
            <a:r>
              <a:rPr lang="en-US" sz="1100" b="1" spc="200" kern="0" dirty="0">
                <a:solidFill>
                  <a:srgbClr val="B8860B"/>
                </a:solidFill>
                <a:latin typeface="Calibri" pitchFamily="34" charset="0"/>
                <a:ea typeface="Calibri" pitchFamily="34" charset="-122"/>
                <a:cs typeface="Calibri" pitchFamily="34" charset="-120"/>
              </a:rPr>
              <a:t>PART C · THE EVIDENCE</a:t>
            </a:r>
            <a:endParaRPr lang="en-US" sz="1100" dirty="0"/>
          </a:p>
        </p:txBody>
      </p:sp>
      <p:sp>
        <p:nvSpPr>
          <p:cNvPr id="3" name="Text 1"/>
          <p:cNvSpPr txBox="1"/>
          <p:nvPr/>
        </p:nvSpPr>
        <p:spPr>
          <a:xfrm>
            <a:off x="548640" y="530352"/>
            <a:ext cx="8046720" cy="603504"/>
          </a:xfrm>
          <a:prstGeom prst="rect">
            <a:avLst/>
          </a:prstGeom>
          <a:noFill/>
          <a:ln/>
        </p:spPr>
        <p:txBody>
          <a:bodyPr wrap="square" lIns="0" tIns="0" rIns="0" bIns="0" rtlCol="0" anchor="ctr"/>
          <a:lstStyle/>
          <a:p>
            <a:pPr indent="0" marL="0">
              <a:buNone/>
            </a:pPr>
            <a:r>
              <a:rPr lang="en-US" sz="2900" b="1" dirty="0">
                <a:solidFill>
                  <a:srgbClr val="1F6F5F"/>
                </a:solidFill>
                <a:latin typeface="Cambria" pitchFamily="34" charset="0"/>
                <a:ea typeface="Cambria" pitchFamily="34" charset="-122"/>
                <a:cs typeface="Cambria" pitchFamily="34" charset="-120"/>
              </a:rPr>
              <a:t>Principle 3 — intervals that expand</a:t>
            </a:r>
            <a:endParaRPr lang="en-US" sz="2900" dirty="0"/>
          </a:p>
        </p:txBody>
      </p:sp>
      <p:sp>
        <p:nvSpPr>
          <p:cNvPr id="4" name="Text 2"/>
          <p:cNvSpPr txBox="1"/>
          <p:nvPr/>
        </p:nvSpPr>
        <p:spPr>
          <a:xfrm>
            <a:off x="548640" y="1188720"/>
            <a:ext cx="5074920" cy="1828800"/>
          </a:xfrm>
          <a:prstGeom prst="rect">
            <a:avLst/>
          </a:prstGeom>
          <a:noFill/>
          <a:ln/>
        </p:spPr>
        <p:txBody>
          <a:bodyPr wrap="square" lIns="0" tIns="0" rIns="0" bIns="0" rtlCol="0" anchor="ctr"/>
          <a:lstStyle/>
          <a:p>
            <a:pPr marL="342900" indent="-342900">
              <a:spcAft>
                <a:spcPts val="700"/>
              </a:spcAft>
              <a:buSzPct val="100000"/>
              <a:buChar char="▪"/>
            </a:pPr>
            <a:r>
              <a:rPr lang="en-US" sz="1350" dirty="0">
                <a:solidFill>
                  <a:srgbClr val="5D564B"/>
                </a:solidFill>
                <a:latin typeface="Calibri" pitchFamily="34" charset="0"/>
                <a:ea typeface="Calibri" pitchFamily="34" charset="-122"/>
                <a:cs typeface="Calibri" pitchFamily="34" charset="-120"/>
              </a:rPr>
              <a:t>Landauer &amp; Bjork (1978) showed that reviews at expanding gaps beat reviews at equal gaps for learning names — the origin of every expanding-interval system since.</a:t>
            </a:r>
            <a:endParaRPr lang="en-US" sz="1350" dirty="0"/>
          </a:p>
          <a:p>
            <a:pPr marL="342900" indent="-342900">
              <a:spcAft>
                <a:spcPts val="700"/>
              </a:spcAft>
              <a:buSzPct val="100000"/>
              <a:buChar char="▪"/>
            </a:pPr>
            <a:r>
              <a:rPr lang="en-US" sz="1350" dirty="0">
                <a:solidFill>
                  <a:srgbClr val="5D564B"/>
                </a:solidFill>
                <a:latin typeface="Calibri" pitchFamily="34" charset="0"/>
                <a:ea typeface="Calibri" pitchFamily="34" charset="-122"/>
                <a:cs typeface="Calibri" pitchFamily="34" charset="-120"/>
              </a:rPr>
              <a:t>Later work qualified it: at final test, expanding and equal schedules often perform about the same (Karpicke &amp; Roediger, 2007; Storm, Bjork &amp; Storm, 2010).</a:t>
            </a:r>
            <a:endParaRPr lang="en-US" sz="1350" dirty="0"/>
          </a:p>
          <a:p>
            <a:pPr marL="342900" indent="-342900">
              <a:spcAft>
                <a:spcPts val="700"/>
              </a:spcAft>
              <a:buSzPct val="100000"/>
              <a:buChar char="▪"/>
            </a:pPr>
            <a:r>
              <a:rPr lang="en-US" sz="1350" dirty="0">
                <a:solidFill>
                  <a:srgbClr val="5D564B"/>
                </a:solidFill>
                <a:latin typeface="Calibri" pitchFamily="34" charset="0"/>
                <a:ea typeface="Calibri" pitchFamily="34" charset="-122"/>
                <a:cs typeface="Calibri" pitchFamily="34" charset="-120"/>
              </a:rPr>
              <a:t>Kang, Lindsey, Mozer &amp; Pashler (2014) explain why an expanding schedule is still preferable in practice.</a:t>
            </a:r>
            <a:endParaRPr lang="en-US" sz="1350" dirty="0"/>
          </a:p>
        </p:txBody>
      </p:sp>
      <p:sp>
        <p:nvSpPr>
          <p:cNvPr id="5" name="Shape 3"/>
          <p:cNvSpPr/>
          <p:nvPr/>
        </p:nvSpPr>
        <p:spPr>
          <a:xfrm>
            <a:off x="548640" y="3127248"/>
            <a:ext cx="5074920" cy="1280160"/>
          </a:xfrm>
          <a:prstGeom prst="roundRect">
            <a:avLst>
              <a:gd name="adj" fmla="val 5714"/>
            </a:avLst>
          </a:prstGeom>
          <a:solidFill>
            <a:srgbClr val="EFF5F2"/>
          </a:solidFill>
          <a:ln w="12700">
            <a:solidFill>
              <a:srgbClr val="E2D9C8"/>
            </a:solidFill>
            <a:prstDash val="solid"/>
          </a:ln>
        </p:spPr>
      </p:sp>
      <p:sp>
        <p:nvSpPr>
          <p:cNvPr id="6" name="Text 4"/>
          <p:cNvSpPr txBox="1"/>
          <p:nvPr/>
        </p:nvSpPr>
        <p:spPr>
          <a:xfrm>
            <a:off x="777240" y="3273552"/>
            <a:ext cx="4617720" cy="274320"/>
          </a:xfrm>
          <a:prstGeom prst="rect">
            <a:avLst/>
          </a:prstGeom>
          <a:noFill/>
          <a:ln/>
        </p:spPr>
        <p:txBody>
          <a:bodyPr wrap="square" lIns="0" tIns="0" rIns="0" bIns="0" rtlCol="0" anchor="ctr"/>
          <a:lstStyle/>
          <a:p>
            <a:pPr indent="0" marL="0">
              <a:buNone/>
            </a:pPr>
            <a:r>
              <a:rPr lang="en-US" sz="1250" b="1" dirty="0">
                <a:solidFill>
                  <a:srgbClr val="14453C"/>
                </a:solidFill>
                <a:latin typeface="Calibri" pitchFamily="34" charset="0"/>
                <a:ea typeface="Calibri" pitchFamily="34" charset="-122"/>
                <a:cs typeface="Calibri" pitchFamily="34" charset="-120"/>
              </a:rPr>
              <a:t>Average recall DURING training</a:t>
            </a:r>
            <a:endParaRPr lang="en-US" sz="1250" dirty="0"/>
          </a:p>
        </p:txBody>
      </p:sp>
      <p:sp>
        <p:nvSpPr>
          <p:cNvPr id="7" name="Shape 5"/>
          <p:cNvSpPr/>
          <p:nvPr/>
        </p:nvSpPr>
        <p:spPr>
          <a:xfrm>
            <a:off x="777240" y="3611880"/>
            <a:ext cx="2148840" cy="457200"/>
          </a:xfrm>
          <a:prstGeom prst="roundRect">
            <a:avLst>
              <a:gd name="adj" fmla="val 40000"/>
            </a:avLst>
          </a:prstGeom>
          <a:solidFill>
            <a:srgbClr val="1F6F5F"/>
          </a:solidFill>
          <a:ln/>
        </p:spPr>
      </p:sp>
      <p:sp>
        <p:nvSpPr>
          <p:cNvPr id="8" name="Text 6"/>
          <p:cNvSpPr txBox="1"/>
          <p:nvPr/>
        </p:nvSpPr>
        <p:spPr>
          <a:xfrm>
            <a:off x="777240" y="3712464"/>
            <a:ext cx="214884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Expanding · 51%</a:t>
            </a:r>
            <a:endParaRPr lang="en-US" sz="1300" dirty="0"/>
          </a:p>
        </p:txBody>
      </p:sp>
      <p:sp>
        <p:nvSpPr>
          <p:cNvPr id="9" name="Shape 7"/>
          <p:cNvSpPr/>
          <p:nvPr/>
        </p:nvSpPr>
        <p:spPr>
          <a:xfrm>
            <a:off x="3154680" y="3611880"/>
            <a:ext cx="2148840" cy="457200"/>
          </a:xfrm>
          <a:prstGeom prst="roundRect">
            <a:avLst>
              <a:gd name="adj" fmla="val 40000"/>
            </a:avLst>
          </a:prstGeom>
          <a:solidFill>
            <a:srgbClr val="857C6D"/>
          </a:solidFill>
          <a:ln/>
        </p:spPr>
      </p:sp>
      <p:sp>
        <p:nvSpPr>
          <p:cNvPr id="10" name="Text 8"/>
          <p:cNvSpPr txBox="1"/>
          <p:nvPr/>
        </p:nvSpPr>
        <p:spPr>
          <a:xfrm>
            <a:off x="3154680" y="3712464"/>
            <a:ext cx="2148840"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Equal gaps · 43%</a:t>
            </a:r>
            <a:endParaRPr lang="en-US" sz="1300" dirty="0"/>
          </a:p>
        </p:txBody>
      </p:sp>
      <p:sp>
        <p:nvSpPr>
          <p:cNvPr id="11" name="Shape 9"/>
          <p:cNvSpPr/>
          <p:nvPr/>
        </p:nvSpPr>
        <p:spPr>
          <a:xfrm>
            <a:off x="5852160" y="1188720"/>
            <a:ext cx="2743200" cy="3218688"/>
          </a:xfrm>
          <a:prstGeom prst="roundRect">
            <a:avLst>
              <a:gd name="adj" fmla="val 2667"/>
            </a:avLst>
          </a:prstGeom>
          <a:solidFill>
            <a:srgbClr val="F6F1E7"/>
          </a:solidFill>
          <a:ln w="12700">
            <a:solidFill>
              <a:srgbClr val="E2D9C8"/>
            </a:solidFill>
            <a:prstDash val="solid"/>
          </a:ln>
        </p:spPr>
      </p:sp>
      <p:sp>
        <p:nvSpPr>
          <p:cNvPr id="12" name="Text 10"/>
          <p:cNvSpPr txBox="1"/>
          <p:nvPr/>
        </p:nvSpPr>
        <p:spPr>
          <a:xfrm>
            <a:off x="6089904" y="1408176"/>
            <a:ext cx="2286000" cy="310896"/>
          </a:xfrm>
          <a:prstGeom prst="rect">
            <a:avLst/>
          </a:prstGeom>
          <a:noFill/>
          <a:ln/>
        </p:spPr>
        <p:txBody>
          <a:bodyPr wrap="square" lIns="0" tIns="0" rIns="0" bIns="0" rtlCol="0" anchor="ctr"/>
          <a:lstStyle/>
          <a:p>
            <a:pPr indent="0" marL="0">
              <a:buNone/>
            </a:pPr>
            <a:r>
              <a:rPr lang="en-US" sz="1500" b="1" dirty="0">
                <a:solidFill>
                  <a:srgbClr val="1F6F5F"/>
                </a:solidFill>
                <a:latin typeface="Cambria" pitchFamily="34" charset="0"/>
                <a:ea typeface="Cambria" pitchFamily="34" charset="-122"/>
                <a:cs typeface="Cambria" pitchFamily="34" charset="-120"/>
              </a:rPr>
              <a:t>Why that matters for ḥifẓ</a:t>
            </a:r>
            <a:endParaRPr lang="en-US" sz="1500" dirty="0"/>
          </a:p>
        </p:txBody>
      </p:sp>
      <p:sp>
        <p:nvSpPr>
          <p:cNvPr id="13" name="Text 11"/>
          <p:cNvSpPr txBox="1"/>
          <p:nvPr/>
        </p:nvSpPr>
        <p:spPr>
          <a:xfrm>
            <a:off x="6089904" y="1792224"/>
            <a:ext cx="2267712" cy="2395728"/>
          </a:xfrm>
          <a:prstGeom prst="rect">
            <a:avLst/>
          </a:prstGeom>
          <a:noFill/>
          <a:ln/>
        </p:spPr>
        <p:txBody>
          <a:bodyPr wrap="square" lIns="0" tIns="0" rIns="0" bIns="0" rtlCol="0" anchor="t"/>
          <a:lstStyle/>
          <a:p>
            <a:pPr indent="0" marL="0">
              <a:lnSpc>
                <a:spcPct val="112000"/>
              </a:lnSpc>
              <a:buNone/>
            </a:pPr>
            <a:r>
              <a:rPr lang="en-US" sz="1150" dirty="0">
                <a:solidFill>
                  <a:srgbClr val="5D564B"/>
                </a:solidFill>
                <a:latin typeface="Calibri" pitchFamily="34" charset="0"/>
                <a:ea typeface="Calibri" pitchFamily="34" charset="-122"/>
                <a:cs typeface="Calibri" pitchFamily="34" charset="-120"/>
              </a:rPr>
              <a:t>A ḥāfiẓ is not preparing for one exam. Every recitation — in ṣalāh, in tarāwīḥ, to a teacher — is itself the performance.</a:t>
            </a:r>
            <a:endParaRPr lang="en-US" sz="1150" dirty="0"/>
          </a:p>
          <a:p>
            <a:pPr indent="0" marL="0">
              <a:lnSpc>
                <a:spcPct val="112000"/>
              </a:lnSpc>
              <a:buNone/>
            </a:pPr>
            <a:endParaRPr lang="en-US" sz="1150" dirty="0"/>
          </a:p>
          <a:p>
            <a:pPr indent="0" marL="0">
              <a:lnSpc>
                <a:spcPct val="112000"/>
              </a:lnSpc>
              <a:buNone/>
            </a:pPr>
            <a:r>
              <a:rPr lang="en-US" sz="1150" dirty="0">
                <a:solidFill>
                  <a:srgbClr val="5D564B"/>
                </a:solidFill>
                <a:latin typeface="Calibri" pitchFamily="34" charset="0"/>
                <a:ea typeface="Calibri" pitchFamily="34" charset="-122"/>
                <a:cs typeface="Calibri" pitchFamily="34" charset="-120"/>
              </a:rPr>
              <a:t>A schedule that keeps recall higher throughout the months of training is therefore better, even when the final-test difference is nil.</a:t>
            </a:r>
            <a:endParaRPr lang="en-US" sz="1150" dirty="0"/>
          </a:p>
          <a:p>
            <a:pPr indent="0" marL="0">
              <a:lnSpc>
                <a:spcPct val="112000"/>
              </a:lnSpc>
              <a:buNone/>
            </a:pPr>
            <a:endParaRPr lang="en-US" sz="1150" dirty="0"/>
          </a:p>
          <a:p>
            <a:pPr indent="0" marL="0">
              <a:lnSpc>
                <a:spcPct val="112000"/>
              </a:lnSpc>
              <a:buNone/>
            </a:pPr>
            <a:r>
              <a:rPr lang="en-US" sz="1150" dirty="0">
                <a:solidFill>
                  <a:srgbClr val="5D564B"/>
                </a:solidFill>
                <a:latin typeface="Calibri" pitchFamily="34" charset="0"/>
                <a:ea typeface="Calibri" pitchFamily="34" charset="-122"/>
                <a:cs typeface="Calibri" pitchFamily="34" charset="-120"/>
              </a:rPr>
              <a:t>An expanding schedule also fails cheaply: an early short gap catches a page that has not stuck. Hence the ladder.</a:t>
            </a:r>
            <a:endParaRPr lang="en-US" sz="1150" dirty="0"/>
          </a:p>
        </p:txBody>
      </p:sp>
      <p:sp>
        <p:nvSpPr>
          <p:cNvPr id="14" name="Text 12"/>
          <p:cNvSpPr txBox="1"/>
          <p:nvPr/>
        </p:nvSpPr>
        <p:spPr>
          <a:xfrm>
            <a:off x="548640" y="4498848"/>
            <a:ext cx="8046720" cy="365760"/>
          </a:xfrm>
          <a:prstGeom prst="rect">
            <a:avLst/>
          </a:prstGeom>
          <a:noFill/>
          <a:ln/>
        </p:spPr>
        <p:txBody>
          <a:bodyPr wrap="square" lIns="0" tIns="0" rIns="0" bIns="0" rtlCol="0" anchor="ctr"/>
          <a:lstStyle/>
          <a:p>
            <a:pPr indent="0" marL="0">
              <a:buNone/>
            </a:pPr>
            <a:r>
              <a:rPr lang="en-US" sz="1050" i="1" dirty="0">
                <a:solidFill>
                  <a:srgbClr val="857C6D"/>
                </a:solidFill>
                <a:latin typeface="Calibri" pitchFamily="34" charset="0"/>
                <a:ea typeface="Calibri" pitchFamily="34" charset="-122"/>
                <a:cs typeface="Calibri" pitchFamily="34" charset="-120"/>
              </a:rPr>
              <a:t>Landauer &amp; Bjork (1978); Kang et al. (2014), Psychonomic Bulletin &amp; Review, 21(6), 1544–1550.</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10896"/>
            <a:ext cx="8046720" cy="237744"/>
          </a:xfrm>
          <a:prstGeom prst="rect">
            <a:avLst/>
          </a:prstGeom>
          <a:noFill/>
          <a:ln/>
        </p:spPr>
        <p:txBody>
          <a:bodyPr wrap="square" lIns="0" tIns="0" rIns="0" bIns="0" rtlCol="0" anchor="ctr"/>
          <a:lstStyle/>
          <a:p>
            <a:pPr indent="0" marL="0">
              <a:buNone/>
            </a:pPr>
            <a:r>
              <a:rPr lang="en-US" sz="1100" b="1" spc="200" kern="0" dirty="0">
                <a:solidFill>
                  <a:srgbClr val="B8860B"/>
                </a:solidFill>
                <a:latin typeface="Calibri" pitchFamily="34" charset="0"/>
                <a:ea typeface="Calibri" pitchFamily="34" charset="-122"/>
                <a:cs typeface="Calibri" pitchFamily="34" charset="-120"/>
              </a:rPr>
              <a:t>PART C · THE EVIDENCE</a:t>
            </a:r>
            <a:endParaRPr lang="en-US" sz="1100" dirty="0"/>
          </a:p>
        </p:txBody>
      </p:sp>
      <p:sp>
        <p:nvSpPr>
          <p:cNvPr id="3" name="Text 1"/>
          <p:cNvSpPr txBox="1"/>
          <p:nvPr/>
        </p:nvSpPr>
        <p:spPr>
          <a:xfrm>
            <a:off x="548640" y="530352"/>
            <a:ext cx="8046720" cy="603504"/>
          </a:xfrm>
          <a:prstGeom prst="rect">
            <a:avLst/>
          </a:prstGeom>
          <a:noFill/>
          <a:ln/>
        </p:spPr>
        <p:txBody>
          <a:bodyPr wrap="square" lIns="0" tIns="0" rIns="0" bIns="0" rtlCol="0" anchor="ctr"/>
          <a:lstStyle/>
          <a:p>
            <a:pPr indent="0" marL="0">
              <a:buNone/>
            </a:pPr>
            <a:r>
              <a:rPr lang="en-US" sz="2900" b="1" dirty="0">
                <a:solidFill>
                  <a:srgbClr val="1F6F5F"/>
                </a:solidFill>
                <a:latin typeface="Cambria" pitchFamily="34" charset="0"/>
                <a:ea typeface="Cambria" pitchFamily="34" charset="-122"/>
                <a:cs typeface="Cambria" pitchFamily="34" charset="-120"/>
              </a:rPr>
              <a:t>Principle 4 — difficulty that helps</a:t>
            </a:r>
            <a:endParaRPr lang="en-US" sz="2900" dirty="0"/>
          </a:p>
        </p:txBody>
      </p:sp>
      <p:sp>
        <p:nvSpPr>
          <p:cNvPr id="4" name="Text 2"/>
          <p:cNvSpPr txBox="1"/>
          <p:nvPr/>
        </p:nvSpPr>
        <p:spPr>
          <a:xfrm>
            <a:off x="548640" y="1133856"/>
            <a:ext cx="8046720" cy="548640"/>
          </a:xfrm>
          <a:prstGeom prst="rect">
            <a:avLst/>
          </a:prstGeom>
          <a:noFill/>
          <a:ln/>
        </p:spPr>
        <p:txBody>
          <a:bodyPr wrap="square" lIns="0" tIns="0" rIns="0" bIns="0" rtlCol="0" anchor="ctr"/>
          <a:lstStyle/>
          <a:p>
            <a:pPr indent="0" marL="0">
              <a:lnSpc>
                <a:spcPct val="120000"/>
              </a:lnSpc>
              <a:buNone/>
            </a:pPr>
            <a:r>
              <a:rPr lang="en-US" sz="1350" dirty="0">
                <a:solidFill>
                  <a:srgbClr val="5D564B"/>
                </a:solidFill>
                <a:latin typeface="Calibri" pitchFamily="34" charset="0"/>
                <a:ea typeface="Calibri" pitchFamily="34" charset="-122"/>
                <a:cs typeface="Calibri" pitchFamily="34" charset="-120"/>
              </a:rPr>
              <a:t>Bjork &amp; Bjork (2011): conditions that slow learning down and feel harder often produce better long-term</a:t>
            </a:r>
            <a:endParaRPr lang="en-US" sz="1350" dirty="0"/>
          </a:p>
          <a:p>
            <a:pPr indent="0" marL="0">
              <a:lnSpc>
                <a:spcPct val="120000"/>
              </a:lnSpc>
              <a:buNone/>
            </a:pPr>
            <a:r>
              <a:rPr lang="en-US" sz="1350" dirty="0">
                <a:solidFill>
                  <a:srgbClr val="5D564B"/>
                </a:solidFill>
                <a:latin typeface="Calibri" pitchFamily="34" charset="0"/>
                <a:ea typeface="Calibri" pitchFamily="34" charset="-122"/>
                <a:cs typeface="Calibri" pitchFamily="34" charset="-120"/>
              </a:rPr>
              <a:t>retention. Fluency is a poor guide to whether something has actually been learned.</a:t>
            </a:r>
            <a:endParaRPr lang="en-US" sz="1350" dirty="0"/>
          </a:p>
        </p:txBody>
      </p:sp>
      <p:sp>
        <p:nvSpPr>
          <p:cNvPr id="5" name="Shape 3"/>
          <p:cNvSpPr/>
          <p:nvPr/>
        </p:nvSpPr>
        <p:spPr>
          <a:xfrm>
            <a:off x="548640" y="1755648"/>
            <a:ext cx="3931920" cy="1170432"/>
          </a:xfrm>
          <a:prstGeom prst="roundRect">
            <a:avLst>
              <a:gd name="adj" fmla="val 6250"/>
            </a:avLst>
          </a:prstGeom>
          <a:solidFill>
            <a:srgbClr val="F6F1E7"/>
          </a:solidFill>
          <a:ln w="12700">
            <a:solidFill>
              <a:srgbClr val="E2D9C8"/>
            </a:solidFill>
            <a:prstDash val="solid"/>
          </a:ln>
        </p:spPr>
      </p:sp>
      <p:sp>
        <p:nvSpPr>
          <p:cNvPr id="6" name="Text 4"/>
          <p:cNvSpPr txBox="1"/>
          <p:nvPr/>
        </p:nvSpPr>
        <p:spPr>
          <a:xfrm>
            <a:off x="786384" y="1975104"/>
            <a:ext cx="3474720" cy="310896"/>
          </a:xfrm>
          <a:prstGeom prst="rect">
            <a:avLst/>
          </a:prstGeom>
          <a:noFill/>
          <a:ln/>
        </p:spPr>
        <p:txBody>
          <a:bodyPr wrap="square" lIns="0" tIns="0" rIns="0" bIns="0" rtlCol="0" anchor="ctr"/>
          <a:lstStyle/>
          <a:p>
            <a:pPr indent="0" marL="0">
              <a:buNone/>
            </a:pPr>
            <a:r>
              <a:rPr lang="en-US" sz="1500" b="1" dirty="0">
                <a:solidFill>
                  <a:srgbClr val="1F6F5F"/>
                </a:solidFill>
                <a:latin typeface="Cambria" pitchFamily="34" charset="0"/>
                <a:ea typeface="Cambria" pitchFamily="34" charset="-122"/>
                <a:cs typeface="Cambria" pitchFamily="34" charset="-120"/>
              </a:rPr>
              <a:t>Recall before you check</a:t>
            </a:r>
            <a:endParaRPr lang="en-US" sz="1500" dirty="0"/>
          </a:p>
        </p:txBody>
      </p:sp>
      <p:sp>
        <p:nvSpPr>
          <p:cNvPr id="7" name="Text 5"/>
          <p:cNvSpPr txBox="1"/>
          <p:nvPr/>
        </p:nvSpPr>
        <p:spPr>
          <a:xfrm>
            <a:off x="786384" y="2359152"/>
            <a:ext cx="3456432" cy="347472"/>
          </a:xfrm>
          <a:prstGeom prst="rect">
            <a:avLst/>
          </a:prstGeom>
          <a:noFill/>
          <a:ln/>
        </p:spPr>
        <p:txBody>
          <a:bodyPr wrap="square" lIns="0" tIns="0" rIns="0" bIns="0" rtlCol="0" anchor="t"/>
          <a:lstStyle/>
          <a:p>
            <a:pPr indent="0" marL="0">
              <a:lnSpc>
                <a:spcPct val="112000"/>
              </a:lnSpc>
              <a:buNone/>
            </a:pPr>
            <a:r>
              <a:rPr lang="en-US" sz="1150" dirty="0">
                <a:solidFill>
                  <a:srgbClr val="5D564B"/>
                </a:solidFill>
                <a:latin typeface="Calibri" pitchFamily="34" charset="0"/>
                <a:ea typeface="Calibri" pitchFamily="34" charset="-122"/>
                <a:cs typeface="Calibri" pitchFamily="34" charset="-120"/>
              </a:rPr>
              <a:t>The curtain hides the page. Reciting first is harder than reading along — and that is the point.</a:t>
            </a:r>
            <a:endParaRPr lang="en-US" sz="1150" dirty="0"/>
          </a:p>
        </p:txBody>
      </p:sp>
      <p:sp>
        <p:nvSpPr>
          <p:cNvPr id="8" name="Shape 6"/>
          <p:cNvSpPr/>
          <p:nvPr/>
        </p:nvSpPr>
        <p:spPr>
          <a:xfrm>
            <a:off x="4663440" y="1755648"/>
            <a:ext cx="3931920" cy="1170432"/>
          </a:xfrm>
          <a:prstGeom prst="roundRect">
            <a:avLst>
              <a:gd name="adj" fmla="val 6250"/>
            </a:avLst>
          </a:prstGeom>
          <a:solidFill>
            <a:srgbClr val="F6F1E7"/>
          </a:solidFill>
          <a:ln w="12700">
            <a:solidFill>
              <a:srgbClr val="E2D9C8"/>
            </a:solidFill>
            <a:prstDash val="solid"/>
          </a:ln>
        </p:spPr>
      </p:sp>
      <p:sp>
        <p:nvSpPr>
          <p:cNvPr id="9" name="Text 7"/>
          <p:cNvSpPr txBox="1"/>
          <p:nvPr/>
        </p:nvSpPr>
        <p:spPr>
          <a:xfrm>
            <a:off x="4901184" y="1975104"/>
            <a:ext cx="3474720" cy="310896"/>
          </a:xfrm>
          <a:prstGeom prst="rect">
            <a:avLst/>
          </a:prstGeom>
          <a:noFill/>
          <a:ln/>
        </p:spPr>
        <p:txBody>
          <a:bodyPr wrap="square" lIns="0" tIns="0" rIns="0" bIns="0" rtlCol="0" anchor="ctr"/>
          <a:lstStyle/>
          <a:p>
            <a:pPr indent="0" marL="0">
              <a:buNone/>
            </a:pPr>
            <a:r>
              <a:rPr lang="en-US" sz="1500" b="1" dirty="0">
                <a:solidFill>
                  <a:srgbClr val="2B5F9E"/>
                </a:solidFill>
                <a:latin typeface="Cambria" pitchFamily="34" charset="0"/>
                <a:ea typeface="Cambria" pitchFamily="34" charset="-122"/>
                <a:cs typeface="Cambria" pitchFamily="34" charset="-120"/>
              </a:rPr>
              <a:t>Wait until it is nearly forgotten</a:t>
            </a:r>
            <a:endParaRPr lang="en-US" sz="1500" dirty="0"/>
          </a:p>
        </p:txBody>
      </p:sp>
      <p:sp>
        <p:nvSpPr>
          <p:cNvPr id="10" name="Text 8"/>
          <p:cNvSpPr txBox="1"/>
          <p:nvPr/>
        </p:nvSpPr>
        <p:spPr>
          <a:xfrm>
            <a:off x="4901184" y="2359152"/>
            <a:ext cx="3456432" cy="347472"/>
          </a:xfrm>
          <a:prstGeom prst="rect">
            <a:avLst/>
          </a:prstGeom>
          <a:noFill/>
          <a:ln/>
        </p:spPr>
        <p:txBody>
          <a:bodyPr wrap="square" lIns="0" tIns="0" rIns="0" bIns="0" rtlCol="0" anchor="t"/>
          <a:lstStyle/>
          <a:p>
            <a:pPr indent="0" marL="0">
              <a:lnSpc>
                <a:spcPct val="112000"/>
              </a:lnSpc>
              <a:buNone/>
            </a:pPr>
            <a:r>
              <a:rPr lang="en-US" sz="1150" dirty="0">
                <a:solidFill>
                  <a:srgbClr val="5D564B"/>
                </a:solidFill>
                <a:latin typeface="Calibri" pitchFamily="34" charset="0"/>
                <a:ea typeface="Calibri" pitchFamily="34" charset="-122"/>
                <a:cs typeface="Calibri" pitchFamily="34" charset="-120"/>
              </a:rPr>
              <a:t>Intervals are stretched until recall is effortful. A page reviewed while still fresh teaches little.</a:t>
            </a:r>
            <a:endParaRPr lang="en-US" sz="1150" dirty="0"/>
          </a:p>
        </p:txBody>
      </p:sp>
      <p:sp>
        <p:nvSpPr>
          <p:cNvPr id="11" name="Shape 9"/>
          <p:cNvSpPr/>
          <p:nvPr/>
        </p:nvSpPr>
        <p:spPr>
          <a:xfrm>
            <a:off x="548640" y="3054096"/>
            <a:ext cx="3931920" cy="1170432"/>
          </a:xfrm>
          <a:prstGeom prst="roundRect">
            <a:avLst>
              <a:gd name="adj" fmla="val 6250"/>
            </a:avLst>
          </a:prstGeom>
          <a:solidFill>
            <a:srgbClr val="F6F1E7"/>
          </a:solidFill>
          <a:ln w="12700">
            <a:solidFill>
              <a:srgbClr val="E2D9C8"/>
            </a:solidFill>
            <a:prstDash val="solid"/>
          </a:ln>
        </p:spPr>
      </p:sp>
      <p:sp>
        <p:nvSpPr>
          <p:cNvPr id="12" name="Text 10"/>
          <p:cNvSpPr txBox="1"/>
          <p:nvPr/>
        </p:nvSpPr>
        <p:spPr>
          <a:xfrm>
            <a:off x="786384" y="3273552"/>
            <a:ext cx="3474720" cy="310896"/>
          </a:xfrm>
          <a:prstGeom prst="rect">
            <a:avLst/>
          </a:prstGeom>
          <a:noFill/>
          <a:ln/>
        </p:spPr>
        <p:txBody>
          <a:bodyPr wrap="square" lIns="0" tIns="0" rIns="0" bIns="0" rtlCol="0" anchor="ctr"/>
          <a:lstStyle/>
          <a:p>
            <a:pPr indent="0" marL="0">
              <a:buNone/>
            </a:pPr>
            <a:r>
              <a:rPr lang="en-US" sz="1500" b="1" dirty="0">
                <a:solidFill>
                  <a:srgbClr val="7A4B8F"/>
                </a:solidFill>
                <a:latin typeface="Cambria" pitchFamily="34" charset="0"/>
                <a:ea typeface="Cambria" pitchFamily="34" charset="-122"/>
                <a:cs typeface="Cambria" pitchFamily="34" charset="-120"/>
              </a:rPr>
              <a:t>Rate honestly, not kindly</a:t>
            </a:r>
            <a:endParaRPr lang="en-US" sz="1500" dirty="0"/>
          </a:p>
        </p:txBody>
      </p:sp>
      <p:sp>
        <p:nvSpPr>
          <p:cNvPr id="13" name="Text 11"/>
          <p:cNvSpPr txBox="1"/>
          <p:nvPr/>
        </p:nvSpPr>
        <p:spPr>
          <a:xfrm>
            <a:off x="786384" y="3657600"/>
            <a:ext cx="3456432" cy="347472"/>
          </a:xfrm>
          <a:prstGeom prst="rect">
            <a:avLst/>
          </a:prstGeom>
          <a:noFill/>
          <a:ln/>
        </p:spPr>
        <p:txBody>
          <a:bodyPr wrap="square" lIns="0" tIns="0" rIns="0" bIns="0" rtlCol="0" anchor="t"/>
          <a:lstStyle/>
          <a:p>
            <a:pPr indent="0" marL="0">
              <a:lnSpc>
                <a:spcPct val="112000"/>
              </a:lnSpc>
              <a:buNone/>
            </a:pPr>
            <a:r>
              <a:rPr lang="en-US" sz="1150" dirty="0">
                <a:solidFill>
                  <a:srgbClr val="5D564B"/>
                </a:solidFill>
                <a:latin typeface="Calibri" pitchFamily="34" charset="0"/>
                <a:ea typeface="Calibri" pitchFamily="34" charset="-122"/>
                <a:cs typeface="Calibri" pitchFamily="34" charset="-120"/>
              </a:rPr>
              <a:t>The 0–5 scale asks how the recitation actually went. A generous rating buys a longer gap you have not earned.</a:t>
            </a:r>
            <a:endParaRPr lang="en-US" sz="1150" dirty="0"/>
          </a:p>
        </p:txBody>
      </p:sp>
      <p:sp>
        <p:nvSpPr>
          <p:cNvPr id="14" name="Shape 12"/>
          <p:cNvSpPr/>
          <p:nvPr/>
        </p:nvSpPr>
        <p:spPr>
          <a:xfrm>
            <a:off x="4663440" y="3054096"/>
            <a:ext cx="3931920" cy="1170432"/>
          </a:xfrm>
          <a:prstGeom prst="roundRect">
            <a:avLst>
              <a:gd name="adj" fmla="val 6250"/>
            </a:avLst>
          </a:prstGeom>
          <a:solidFill>
            <a:srgbClr val="F6F1E7"/>
          </a:solidFill>
          <a:ln w="12700">
            <a:solidFill>
              <a:srgbClr val="E2D9C8"/>
            </a:solidFill>
            <a:prstDash val="solid"/>
          </a:ln>
        </p:spPr>
      </p:sp>
      <p:sp>
        <p:nvSpPr>
          <p:cNvPr id="15" name="Text 13"/>
          <p:cNvSpPr txBox="1"/>
          <p:nvPr/>
        </p:nvSpPr>
        <p:spPr>
          <a:xfrm>
            <a:off x="4901184" y="3273552"/>
            <a:ext cx="3474720" cy="310896"/>
          </a:xfrm>
          <a:prstGeom prst="rect">
            <a:avLst/>
          </a:prstGeom>
          <a:noFill/>
          <a:ln/>
        </p:spPr>
        <p:txBody>
          <a:bodyPr wrap="square" lIns="0" tIns="0" rIns="0" bIns="0" rtlCol="0" anchor="ctr"/>
          <a:lstStyle/>
          <a:p>
            <a:pPr indent="0" marL="0">
              <a:buNone/>
            </a:pPr>
            <a:r>
              <a:rPr lang="en-US" sz="1500" b="1" dirty="0">
                <a:solidFill>
                  <a:srgbClr val="B8860B"/>
                </a:solidFill>
                <a:latin typeface="Cambria" pitchFamily="34" charset="0"/>
                <a:ea typeface="Cambria" pitchFamily="34" charset="-122"/>
                <a:cs typeface="Cambria" pitchFamily="34" charset="-120"/>
              </a:rPr>
              <a:t>Look-alike verses are surfaced</a:t>
            </a:r>
            <a:endParaRPr lang="en-US" sz="1500" dirty="0"/>
          </a:p>
        </p:txBody>
      </p:sp>
      <p:sp>
        <p:nvSpPr>
          <p:cNvPr id="16" name="Text 14"/>
          <p:cNvSpPr txBox="1"/>
          <p:nvPr/>
        </p:nvSpPr>
        <p:spPr>
          <a:xfrm>
            <a:off x="4901184" y="3657600"/>
            <a:ext cx="3456432" cy="347472"/>
          </a:xfrm>
          <a:prstGeom prst="rect">
            <a:avLst/>
          </a:prstGeom>
          <a:noFill/>
          <a:ln/>
        </p:spPr>
        <p:txBody>
          <a:bodyPr wrap="square" lIns="0" tIns="0" rIns="0" bIns="0" rtlCol="0" anchor="t"/>
          <a:lstStyle/>
          <a:p>
            <a:pPr indent="0" marL="0">
              <a:lnSpc>
                <a:spcPct val="112000"/>
              </a:lnSpc>
              <a:buNone/>
            </a:pPr>
            <a:r>
              <a:rPr lang="en-US" sz="1150" dirty="0">
                <a:solidFill>
                  <a:srgbClr val="5D564B"/>
                </a:solidFill>
                <a:latin typeface="Calibri" pitchFamily="34" charset="0"/>
                <a:ea typeface="Calibri" pitchFamily="34" charset="-122"/>
                <a:cs typeface="Calibri" pitchFamily="34" charset="-120"/>
              </a:rPr>
              <a:t>Mutashābihāt are shown deliberately, because confusable items are where later ḥifẓ breaks.</a:t>
            </a:r>
            <a:endParaRPr lang="en-US" sz="1150" dirty="0"/>
          </a:p>
        </p:txBody>
      </p:sp>
      <p:sp>
        <p:nvSpPr>
          <p:cNvPr id="17" name="Text 15"/>
          <p:cNvSpPr txBox="1"/>
          <p:nvPr/>
        </p:nvSpPr>
        <p:spPr>
          <a:xfrm>
            <a:off x="548640" y="4407408"/>
            <a:ext cx="8046720" cy="365760"/>
          </a:xfrm>
          <a:prstGeom prst="rect">
            <a:avLst/>
          </a:prstGeom>
          <a:noFill/>
          <a:ln/>
        </p:spPr>
        <p:txBody>
          <a:bodyPr wrap="square" lIns="0" tIns="0" rIns="0" bIns="0" rtlCol="0" anchor="ctr"/>
          <a:lstStyle/>
          <a:p>
            <a:pPr indent="0" marL="0">
              <a:buNone/>
            </a:pPr>
            <a:r>
              <a:rPr lang="en-US" sz="1050" i="1" dirty="0">
                <a:solidFill>
                  <a:srgbClr val="857C6D"/>
                </a:solidFill>
                <a:latin typeface="Calibri" pitchFamily="34" charset="0"/>
                <a:ea typeface="Calibri" pitchFamily="34" charset="-122"/>
                <a:cs typeface="Calibri" pitchFamily="34" charset="-120"/>
              </a:rPr>
              <a:t>Bjork, E. L. &amp; Bjork, R. A. (2011), in Psychology and the Real World, 56–64.</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10896"/>
            <a:ext cx="8046720" cy="237744"/>
          </a:xfrm>
          <a:prstGeom prst="rect">
            <a:avLst/>
          </a:prstGeom>
          <a:noFill/>
          <a:ln/>
        </p:spPr>
        <p:txBody>
          <a:bodyPr wrap="square" lIns="0" tIns="0" rIns="0" bIns="0" rtlCol="0" anchor="ctr"/>
          <a:lstStyle/>
          <a:p>
            <a:pPr indent="0" marL="0">
              <a:buNone/>
            </a:pPr>
            <a:r>
              <a:rPr lang="en-US" sz="1100" b="1" spc="200" kern="0" dirty="0">
                <a:solidFill>
                  <a:srgbClr val="B8860B"/>
                </a:solidFill>
                <a:latin typeface="Calibri" pitchFamily="34" charset="0"/>
                <a:ea typeface="Calibri" pitchFamily="34" charset="-122"/>
                <a:cs typeface="Calibri" pitchFamily="34" charset="-120"/>
              </a:rPr>
              <a:t>PART C · THE EVIDENCE</a:t>
            </a:r>
            <a:endParaRPr lang="en-US" sz="1100" dirty="0"/>
          </a:p>
        </p:txBody>
      </p:sp>
      <p:sp>
        <p:nvSpPr>
          <p:cNvPr id="3" name="Text 1"/>
          <p:cNvSpPr txBox="1"/>
          <p:nvPr/>
        </p:nvSpPr>
        <p:spPr>
          <a:xfrm>
            <a:off x="548640" y="530352"/>
            <a:ext cx="8046720" cy="603504"/>
          </a:xfrm>
          <a:prstGeom prst="rect">
            <a:avLst/>
          </a:prstGeom>
          <a:noFill/>
          <a:ln/>
        </p:spPr>
        <p:txBody>
          <a:bodyPr wrap="square" lIns="0" tIns="0" rIns="0" bIns="0" rtlCol="0" anchor="ctr"/>
          <a:lstStyle/>
          <a:p>
            <a:pPr indent="0" marL="0">
              <a:buNone/>
            </a:pPr>
            <a:r>
              <a:rPr lang="en-US" sz="2900" b="1" dirty="0">
                <a:solidFill>
                  <a:srgbClr val="1F6F5F"/>
                </a:solidFill>
                <a:latin typeface="Cambria" pitchFamily="34" charset="0"/>
                <a:ea typeface="Cambria" pitchFamily="34" charset="-122"/>
                <a:cs typeface="Cambria" pitchFamily="34" charset="-120"/>
              </a:rPr>
              <a:t>The consensus ranking of study techniques</a:t>
            </a:r>
            <a:endParaRPr lang="en-US" sz="2900" dirty="0"/>
          </a:p>
        </p:txBody>
      </p:sp>
      <p:sp>
        <p:nvSpPr>
          <p:cNvPr id="4" name="Text 2"/>
          <p:cNvSpPr txBox="1"/>
          <p:nvPr/>
        </p:nvSpPr>
        <p:spPr>
          <a:xfrm>
            <a:off x="548640" y="1133856"/>
            <a:ext cx="8046720" cy="548640"/>
          </a:xfrm>
          <a:prstGeom prst="rect">
            <a:avLst/>
          </a:prstGeom>
          <a:noFill/>
          <a:ln/>
        </p:spPr>
        <p:txBody>
          <a:bodyPr wrap="square" lIns="0" tIns="0" rIns="0" bIns="0" rtlCol="0" anchor="ctr"/>
          <a:lstStyle/>
          <a:p>
            <a:pPr indent="0" marL="0">
              <a:lnSpc>
                <a:spcPct val="120000"/>
              </a:lnSpc>
              <a:buNone/>
            </a:pPr>
            <a:r>
              <a:rPr lang="en-US" sz="1350" dirty="0">
                <a:solidFill>
                  <a:srgbClr val="5D564B"/>
                </a:solidFill>
                <a:latin typeface="Calibri" pitchFamily="34" charset="0"/>
                <a:ea typeface="Calibri" pitchFamily="34" charset="-122"/>
                <a:cs typeface="Calibri" pitchFamily="34" charset="-120"/>
              </a:rPr>
              <a:t>Dunlosky, Rawson, Marsh, Nathan &amp; Willingham (2013) graded ten common study techniques on the strength of</a:t>
            </a:r>
            <a:endParaRPr lang="en-US" sz="1350" dirty="0"/>
          </a:p>
          <a:p>
            <a:pPr indent="0" marL="0">
              <a:lnSpc>
                <a:spcPct val="120000"/>
              </a:lnSpc>
              <a:buNone/>
            </a:pPr>
            <a:r>
              <a:rPr lang="en-US" sz="1350" dirty="0">
                <a:solidFill>
                  <a:srgbClr val="5D564B"/>
                </a:solidFill>
                <a:latin typeface="Calibri" pitchFamily="34" charset="0"/>
                <a:ea typeface="Calibri" pitchFamily="34" charset="-122"/>
                <a:cs typeface="Calibri" pitchFamily="34" charset="-120"/>
              </a:rPr>
              <a:t>the evidence behind them. Only two earned the top grade — and the app is built on both.</a:t>
            </a:r>
            <a:endParaRPr lang="en-US" sz="1350" dirty="0"/>
          </a:p>
        </p:txBody>
      </p:sp>
      <p:sp>
        <p:nvSpPr>
          <p:cNvPr id="5" name="Shape 3"/>
          <p:cNvSpPr/>
          <p:nvPr/>
        </p:nvSpPr>
        <p:spPr>
          <a:xfrm>
            <a:off x="548640" y="1783080"/>
            <a:ext cx="3931920" cy="2606040"/>
          </a:xfrm>
          <a:prstGeom prst="roundRect">
            <a:avLst>
              <a:gd name="adj" fmla="val 2807"/>
            </a:avLst>
          </a:prstGeom>
          <a:solidFill>
            <a:srgbClr val="EFF5F2"/>
          </a:solidFill>
          <a:ln w="19050">
            <a:solidFill>
              <a:srgbClr val="1F6F5F"/>
            </a:solidFill>
            <a:prstDash val="solid"/>
          </a:ln>
        </p:spPr>
      </p:sp>
      <p:sp>
        <p:nvSpPr>
          <p:cNvPr id="6" name="Text 4"/>
          <p:cNvSpPr txBox="1"/>
          <p:nvPr/>
        </p:nvSpPr>
        <p:spPr>
          <a:xfrm>
            <a:off x="777240" y="1938528"/>
            <a:ext cx="3474720" cy="256032"/>
          </a:xfrm>
          <a:prstGeom prst="rect">
            <a:avLst/>
          </a:prstGeom>
          <a:noFill/>
          <a:ln/>
        </p:spPr>
        <p:txBody>
          <a:bodyPr wrap="square" lIns="0" tIns="0" rIns="0" bIns="0" rtlCol="0" anchor="ctr"/>
          <a:lstStyle/>
          <a:p>
            <a:pPr indent="0" marL="0">
              <a:buNone/>
            </a:pPr>
            <a:r>
              <a:rPr lang="en-US" sz="1100" b="1" spc="200" kern="0" dirty="0">
                <a:solidFill>
                  <a:srgbClr val="1F6F5F"/>
                </a:solidFill>
                <a:latin typeface="Calibri" pitchFamily="34" charset="0"/>
                <a:ea typeface="Calibri" pitchFamily="34" charset="-122"/>
                <a:cs typeface="Calibri" pitchFamily="34" charset="-120"/>
              </a:rPr>
              <a:t>HIGH UTILITY</a:t>
            </a:r>
            <a:endParaRPr lang="en-US" sz="1100" dirty="0"/>
          </a:p>
        </p:txBody>
      </p:sp>
      <p:sp>
        <p:nvSpPr>
          <p:cNvPr id="7" name="Text 5"/>
          <p:cNvSpPr txBox="1"/>
          <p:nvPr/>
        </p:nvSpPr>
        <p:spPr>
          <a:xfrm>
            <a:off x="777240" y="2286000"/>
            <a:ext cx="3474720" cy="274320"/>
          </a:xfrm>
          <a:prstGeom prst="rect">
            <a:avLst/>
          </a:prstGeom>
          <a:noFill/>
          <a:ln/>
        </p:spPr>
        <p:txBody>
          <a:bodyPr wrap="square" lIns="0" tIns="0" rIns="0" bIns="0" rtlCol="0" anchor="ctr"/>
          <a:lstStyle/>
          <a:p>
            <a:pPr indent="0" marL="0">
              <a:buNone/>
            </a:pPr>
            <a:r>
              <a:rPr lang="en-US" sz="1500" b="1" dirty="0">
                <a:solidFill>
                  <a:srgbClr val="14453C"/>
                </a:solidFill>
                <a:latin typeface="Cambria" pitchFamily="34" charset="0"/>
                <a:ea typeface="Cambria" pitchFamily="34" charset="-122"/>
                <a:cs typeface="Cambria" pitchFamily="34" charset="-120"/>
              </a:rPr>
              <a:t>Practice testing</a:t>
            </a:r>
            <a:endParaRPr lang="en-US" sz="1500" dirty="0"/>
          </a:p>
        </p:txBody>
      </p:sp>
      <p:sp>
        <p:nvSpPr>
          <p:cNvPr id="8" name="Text 6"/>
          <p:cNvSpPr txBox="1"/>
          <p:nvPr/>
        </p:nvSpPr>
        <p:spPr>
          <a:xfrm>
            <a:off x="777240" y="2578608"/>
            <a:ext cx="3474720" cy="274320"/>
          </a:xfrm>
          <a:prstGeom prst="rect">
            <a:avLst/>
          </a:prstGeom>
          <a:noFill/>
          <a:ln/>
        </p:spPr>
        <p:txBody>
          <a:bodyPr wrap="square" lIns="0" tIns="0" rIns="0" bIns="0" rtlCol="0" anchor="ctr"/>
          <a:lstStyle/>
          <a:p>
            <a:pPr indent="0" marL="0">
              <a:buNone/>
            </a:pPr>
            <a:r>
              <a:rPr lang="en-US" sz="1150" dirty="0">
                <a:solidFill>
                  <a:srgbClr val="5D564B"/>
                </a:solidFill>
                <a:latin typeface="Calibri" pitchFamily="34" charset="0"/>
                <a:ea typeface="Calibri" pitchFamily="34" charset="-122"/>
                <a:cs typeface="Calibri" pitchFamily="34" charset="-120"/>
              </a:rPr>
              <a:t>Recalling from memory, with feedback</a:t>
            </a:r>
            <a:endParaRPr lang="en-US" sz="1150" dirty="0"/>
          </a:p>
        </p:txBody>
      </p:sp>
      <p:sp>
        <p:nvSpPr>
          <p:cNvPr id="9" name="Text 7"/>
          <p:cNvSpPr txBox="1"/>
          <p:nvPr/>
        </p:nvSpPr>
        <p:spPr>
          <a:xfrm>
            <a:off x="777240" y="3063240"/>
            <a:ext cx="3474720" cy="274320"/>
          </a:xfrm>
          <a:prstGeom prst="rect">
            <a:avLst/>
          </a:prstGeom>
          <a:noFill/>
          <a:ln/>
        </p:spPr>
        <p:txBody>
          <a:bodyPr wrap="square" lIns="0" tIns="0" rIns="0" bIns="0" rtlCol="0" anchor="ctr"/>
          <a:lstStyle/>
          <a:p>
            <a:pPr indent="0" marL="0">
              <a:buNone/>
            </a:pPr>
            <a:r>
              <a:rPr lang="en-US" sz="1500" b="1" dirty="0">
                <a:solidFill>
                  <a:srgbClr val="14453C"/>
                </a:solidFill>
                <a:latin typeface="Cambria" pitchFamily="34" charset="0"/>
                <a:ea typeface="Cambria" pitchFamily="34" charset="-122"/>
                <a:cs typeface="Cambria" pitchFamily="34" charset="-120"/>
              </a:rPr>
              <a:t>Distributed practice</a:t>
            </a:r>
            <a:endParaRPr lang="en-US" sz="1500" dirty="0"/>
          </a:p>
        </p:txBody>
      </p:sp>
      <p:sp>
        <p:nvSpPr>
          <p:cNvPr id="10" name="Text 8"/>
          <p:cNvSpPr txBox="1"/>
          <p:nvPr/>
        </p:nvSpPr>
        <p:spPr>
          <a:xfrm>
            <a:off x="777240" y="3355848"/>
            <a:ext cx="3474720" cy="274320"/>
          </a:xfrm>
          <a:prstGeom prst="rect">
            <a:avLst/>
          </a:prstGeom>
          <a:noFill/>
          <a:ln/>
        </p:spPr>
        <p:txBody>
          <a:bodyPr wrap="square" lIns="0" tIns="0" rIns="0" bIns="0" rtlCol="0" anchor="ctr"/>
          <a:lstStyle/>
          <a:p>
            <a:pPr indent="0" marL="0">
              <a:buNone/>
            </a:pPr>
            <a:r>
              <a:rPr lang="en-US" sz="1150" dirty="0">
                <a:solidFill>
                  <a:srgbClr val="5D564B"/>
                </a:solidFill>
                <a:latin typeface="Calibri" pitchFamily="34" charset="0"/>
                <a:ea typeface="Calibri" pitchFamily="34" charset="-122"/>
                <a:cs typeface="Calibri" pitchFamily="34" charset="-120"/>
              </a:rPr>
              <a:t>Spreading study over time</a:t>
            </a:r>
            <a:endParaRPr lang="en-US" sz="1150" dirty="0"/>
          </a:p>
        </p:txBody>
      </p:sp>
      <p:sp>
        <p:nvSpPr>
          <p:cNvPr id="11" name="Text 9"/>
          <p:cNvSpPr txBox="1"/>
          <p:nvPr/>
        </p:nvSpPr>
        <p:spPr>
          <a:xfrm>
            <a:off x="777240" y="3858768"/>
            <a:ext cx="3474720" cy="411480"/>
          </a:xfrm>
          <a:prstGeom prst="rect">
            <a:avLst/>
          </a:prstGeom>
          <a:noFill/>
          <a:ln/>
        </p:spPr>
        <p:txBody>
          <a:bodyPr wrap="square" lIns="0" tIns="0" rIns="0" bIns="0" rtlCol="0" anchor="ctr"/>
          <a:lstStyle/>
          <a:p>
            <a:pPr indent="0" marL="0">
              <a:buNone/>
            </a:pPr>
            <a:r>
              <a:rPr lang="en-US" sz="1150" b="1" i="1" dirty="0">
                <a:solidFill>
                  <a:srgbClr val="1F6F5F"/>
                </a:solidFill>
                <a:latin typeface="Calibri" pitchFamily="34" charset="0"/>
                <a:ea typeface="Calibri" pitchFamily="34" charset="-122"/>
                <a:cs typeface="Calibri" pitchFamily="34" charset="-120"/>
              </a:rPr>
              <a:t>Hifz Companion is these two, applied to one page of the Mushaf at a time.</a:t>
            </a:r>
            <a:endParaRPr lang="en-US" sz="1150" dirty="0"/>
          </a:p>
        </p:txBody>
      </p:sp>
      <p:sp>
        <p:nvSpPr>
          <p:cNvPr id="12" name="Shape 10"/>
          <p:cNvSpPr/>
          <p:nvPr/>
        </p:nvSpPr>
        <p:spPr>
          <a:xfrm>
            <a:off x="4663440" y="1783080"/>
            <a:ext cx="3931920" cy="2606040"/>
          </a:xfrm>
          <a:prstGeom prst="roundRect">
            <a:avLst>
              <a:gd name="adj" fmla="val 2807"/>
            </a:avLst>
          </a:prstGeom>
          <a:solidFill>
            <a:srgbClr val="FFFFFF"/>
          </a:solidFill>
          <a:ln w="12700">
            <a:solidFill>
              <a:srgbClr val="E2D9C8"/>
            </a:solidFill>
            <a:prstDash val="solid"/>
          </a:ln>
        </p:spPr>
      </p:sp>
      <p:sp>
        <p:nvSpPr>
          <p:cNvPr id="13" name="Text 11"/>
          <p:cNvSpPr txBox="1"/>
          <p:nvPr/>
        </p:nvSpPr>
        <p:spPr>
          <a:xfrm>
            <a:off x="4892040" y="1938528"/>
            <a:ext cx="3474720" cy="256032"/>
          </a:xfrm>
          <a:prstGeom prst="rect">
            <a:avLst/>
          </a:prstGeom>
          <a:noFill/>
          <a:ln/>
        </p:spPr>
        <p:txBody>
          <a:bodyPr wrap="square" lIns="0" tIns="0" rIns="0" bIns="0" rtlCol="0" anchor="ctr"/>
          <a:lstStyle/>
          <a:p>
            <a:pPr indent="0" marL="0">
              <a:buNone/>
            </a:pPr>
            <a:r>
              <a:rPr lang="en-US" sz="1100" b="1" spc="200" kern="0" dirty="0">
                <a:solidFill>
                  <a:srgbClr val="857C6D"/>
                </a:solidFill>
                <a:latin typeface="Calibri" pitchFamily="34" charset="0"/>
                <a:ea typeface="Calibri" pitchFamily="34" charset="-122"/>
                <a:cs typeface="Calibri" pitchFamily="34" charset="-120"/>
              </a:rPr>
              <a:t>LOW UTILITY</a:t>
            </a:r>
            <a:endParaRPr lang="en-US" sz="1100" dirty="0"/>
          </a:p>
        </p:txBody>
      </p:sp>
      <p:sp>
        <p:nvSpPr>
          <p:cNvPr id="14" name="Text 12"/>
          <p:cNvSpPr txBox="1"/>
          <p:nvPr/>
        </p:nvSpPr>
        <p:spPr>
          <a:xfrm>
            <a:off x="4892040" y="2286000"/>
            <a:ext cx="1463040" cy="256032"/>
          </a:xfrm>
          <a:prstGeom prst="rect">
            <a:avLst/>
          </a:prstGeom>
          <a:noFill/>
          <a:ln/>
        </p:spPr>
        <p:txBody>
          <a:bodyPr wrap="square" lIns="0" tIns="0" rIns="0" bIns="0" rtlCol="0" anchor="ctr"/>
          <a:lstStyle/>
          <a:p>
            <a:pPr indent="0" marL="0">
              <a:buNone/>
            </a:pPr>
            <a:r>
              <a:rPr lang="en-US" sz="1250" b="1" dirty="0">
                <a:solidFill>
                  <a:srgbClr val="23201B"/>
                </a:solidFill>
                <a:latin typeface="Calibri" pitchFamily="34" charset="0"/>
                <a:ea typeface="Calibri" pitchFamily="34" charset="-122"/>
                <a:cs typeface="Calibri" pitchFamily="34" charset="-120"/>
              </a:rPr>
              <a:t>Re-reading</a:t>
            </a:r>
            <a:endParaRPr lang="en-US" sz="1250" dirty="0"/>
          </a:p>
        </p:txBody>
      </p:sp>
      <p:sp>
        <p:nvSpPr>
          <p:cNvPr id="15" name="Text 13"/>
          <p:cNvSpPr txBox="1"/>
          <p:nvPr/>
        </p:nvSpPr>
        <p:spPr>
          <a:xfrm>
            <a:off x="6355080" y="2286000"/>
            <a:ext cx="2057400" cy="256032"/>
          </a:xfrm>
          <a:prstGeom prst="rect">
            <a:avLst/>
          </a:prstGeom>
          <a:noFill/>
          <a:ln/>
        </p:spPr>
        <p:txBody>
          <a:bodyPr wrap="square" lIns="0" tIns="0" rIns="0" bIns="0" rtlCol="0" anchor="ctr"/>
          <a:lstStyle/>
          <a:p>
            <a:pPr indent="0" marL="0">
              <a:buNone/>
            </a:pPr>
            <a:r>
              <a:rPr lang="en-US" sz="1050" dirty="0">
                <a:solidFill>
                  <a:srgbClr val="857C6D"/>
                </a:solidFill>
                <a:latin typeface="Calibri" pitchFamily="34" charset="0"/>
                <a:ea typeface="Calibri" pitchFamily="34" charset="-122"/>
                <a:cs typeface="Calibri" pitchFamily="34" charset="-120"/>
              </a:rPr>
              <a:t>Passing your eyes over it again</a:t>
            </a:r>
            <a:endParaRPr lang="en-US" sz="1050" dirty="0"/>
          </a:p>
        </p:txBody>
      </p:sp>
      <p:sp>
        <p:nvSpPr>
          <p:cNvPr id="16" name="Text 14"/>
          <p:cNvSpPr txBox="1"/>
          <p:nvPr/>
        </p:nvSpPr>
        <p:spPr>
          <a:xfrm>
            <a:off x="4892040" y="2697480"/>
            <a:ext cx="1463040" cy="256032"/>
          </a:xfrm>
          <a:prstGeom prst="rect">
            <a:avLst/>
          </a:prstGeom>
          <a:noFill/>
          <a:ln/>
        </p:spPr>
        <p:txBody>
          <a:bodyPr wrap="square" lIns="0" tIns="0" rIns="0" bIns="0" rtlCol="0" anchor="ctr"/>
          <a:lstStyle/>
          <a:p>
            <a:pPr indent="0" marL="0">
              <a:buNone/>
            </a:pPr>
            <a:r>
              <a:rPr lang="en-US" sz="1250" b="1" dirty="0">
                <a:solidFill>
                  <a:srgbClr val="23201B"/>
                </a:solidFill>
                <a:latin typeface="Calibri" pitchFamily="34" charset="0"/>
                <a:ea typeface="Calibri" pitchFamily="34" charset="-122"/>
                <a:cs typeface="Calibri" pitchFamily="34" charset="-120"/>
              </a:rPr>
              <a:t>Highlighting</a:t>
            </a:r>
            <a:endParaRPr lang="en-US" sz="1250" dirty="0"/>
          </a:p>
        </p:txBody>
      </p:sp>
      <p:sp>
        <p:nvSpPr>
          <p:cNvPr id="17" name="Text 15"/>
          <p:cNvSpPr txBox="1"/>
          <p:nvPr/>
        </p:nvSpPr>
        <p:spPr>
          <a:xfrm>
            <a:off x="6355080" y="2697480"/>
            <a:ext cx="2057400" cy="256032"/>
          </a:xfrm>
          <a:prstGeom prst="rect">
            <a:avLst/>
          </a:prstGeom>
          <a:noFill/>
          <a:ln/>
        </p:spPr>
        <p:txBody>
          <a:bodyPr wrap="square" lIns="0" tIns="0" rIns="0" bIns="0" rtlCol="0" anchor="ctr"/>
          <a:lstStyle/>
          <a:p>
            <a:pPr indent="0" marL="0">
              <a:buNone/>
            </a:pPr>
            <a:r>
              <a:rPr lang="en-US" sz="1050" dirty="0">
                <a:solidFill>
                  <a:srgbClr val="857C6D"/>
                </a:solidFill>
                <a:latin typeface="Calibri" pitchFamily="34" charset="0"/>
                <a:ea typeface="Calibri" pitchFamily="34" charset="-122"/>
                <a:cs typeface="Calibri" pitchFamily="34" charset="-120"/>
              </a:rPr>
              <a:t>Marking the text</a:t>
            </a:r>
            <a:endParaRPr lang="en-US" sz="1050" dirty="0"/>
          </a:p>
        </p:txBody>
      </p:sp>
      <p:sp>
        <p:nvSpPr>
          <p:cNvPr id="18" name="Text 16"/>
          <p:cNvSpPr txBox="1"/>
          <p:nvPr/>
        </p:nvSpPr>
        <p:spPr>
          <a:xfrm>
            <a:off x="4892040" y="3108960"/>
            <a:ext cx="1463040" cy="256032"/>
          </a:xfrm>
          <a:prstGeom prst="rect">
            <a:avLst/>
          </a:prstGeom>
          <a:noFill/>
          <a:ln/>
        </p:spPr>
        <p:txBody>
          <a:bodyPr wrap="square" lIns="0" tIns="0" rIns="0" bIns="0" rtlCol="0" anchor="ctr"/>
          <a:lstStyle/>
          <a:p>
            <a:pPr indent="0" marL="0">
              <a:buNone/>
            </a:pPr>
            <a:r>
              <a:rPr lang="en-US" sz="1250" b="1" dirty="0">
                <a:solidFill>
                  <a:srgbClr val="23201B"/>
                </a:solidFill>
                <a:latin typeface="Calibri" pitchFamily="34" charset="0"/>
                <a:ea typeface="Calibri" pitchFamily="34" charset="-122"/>
                <a:cs typeface="Calibri" pitchFamily="34" charset="-120"/>
              </a:rPr>
              <a:t>Summarisation</a:t>
            </a:r>
            <a:endParaRPr lang="en-US" sz="1250" dirty="0"/>
          </a:p>
        </p:txBody>
      </p:sp>
      <p:sp>
        <p:nvSpPr>
          <p:cNvPr id="19" name="Text 17"/>
          <p:cNvSpPr txBox="1"/>
          <p:nvPr/>
        </p:nvSpPr>
        <p:spPr>
          <a:xfrm>
            <a:off x="6355080" y="3108960"/>
            <a:ext cx="2057400" cy="256032"/>
          </a:xfrm>
          <a:prstGeom prst="rect">
            <a:avLst/>
          </a:prstGeom>
          <a:noFill/>
          <a:ln/>
        </p:spPr>
        <p:txBody>
          <a:bodyPr wrap="square" lIns="0" tIns="0" rIns="0" bIns="0" rtlCol="0" anchor="ctr"/>
          <a:lstStyle/>
          <a:p>
            <a:pPr indent="0" marL="0">
              <a:buNone/>
            </a:pPr>
            <a:r>
              <a:rPr lang="en-US" sz="1050" dirty="0">
                <a:solidFill>
                  <a:srgbClr val="857C6D"/>
                </a:solidFill>
                <a:latin typeface="Calibri" pitchFamily="34" charset="0"/>
                <a:ea typeface="Calibri" pitchFamily="34" charset="-122"/>
                <a:cs typeface="Calibri" pitchFamily="34" charset="-120"/>
              </a:rPr>
              <a:t>Writing it in your own words</a:t>
            </a:r>
            <a:endParaRPr lang="en-US" sz="1050" dirty="0"/>
          </a:p>
        </p:txBody>
      </p:sp>
      <p:sp>
        <p:nvSpPr>
          <p:cNvPr id="20" name="Text 18"/>
          <p:cNvSpPr txBox="1"/>
          <p:nvPr/>
        </p:nvSpPr>
        <p:spPr>
          <a:xfrm>
            <a:off x="4892040" y="3520440"/>
            <a:ext cx="1463040" cy="256032"/>
          </a:xfrm>
          <a:prstGeom prst="rect">
            <a:avLst/>
          </a:prstGeom>
          <a:noFill/>
          <a:ln/>
        </p:spPr>
        <p:txBody>
          <a:bodyPr wrap="square" lIns="0" tIns="0" rIns="0" bIns="0" rtlCol="0" anchor="ctr"/>
          <a:lstStyle/>
          <a:p>
            <a:pPr indent="0" marL="0">
              <a:buNone/>
            </a:pPr>
            <a:r>
              <a:rPr lang="en-US" sz="1250" b="1" dirty="0">
                <a:solidFill>
                  <a:srgbClr val="23201B"/>
                </a:solidFill>
                <a:latin typeface="Calibri" pitchFamily="34" charset="0"/>
                <a:ea typeface="Calibri" pitchFamily="34" charset="-122"/>
                <a:cs typeface="Calibri" pitchFamily="34" charset="-120"/>
              </a:rPr>
              <a:t>Keyword mnemonics</a:t>
            </a:r>
            <a:endParaRPr lang="en-US" sz="1250" dirty="0"/>
          </a:p>
        </p:txBody>
      </p:sp>
      <p:sp>
        <p:nvSpPr>
          <p:cNvPr id="21" name="Text 19"/>
          <p:cNvSpPr txBox="1"/>
          <p:nvPr/>
        </p:nvSpPr>
        <p:spPr>
          <a:xfrm>
            <a:off x="6355080" y="3520440"/>
            <a:ext cx="2057400" cy="256032"/>
          </a:xfrm>
          <a:prstGeom prst="rect">
            <a:avLst/>
          </a:prstGeom>
          <a:noFill/>
          <a:ln/>
        </p:spPr>
        <p:txBody>
          <a:bodyPr wrap="square" lIns="0" tIns="0" rIns="0" bIns="0" rtlCol="0" anchor="ctr"/>
          <a:lstStyle/>
          <a:p>
            <a:pPr indent="0" marL="0">
              <a:buNone/>
            </a:pPr>
            <a:r>
              <a:rPr lang="en-US" sz="1050" dirty="0">
                <a:solidFill>
                  <a:srgbClr val="857C6D"/>
                </a:solidFill>
                <a:latin typeface="Calibri" pitchFamily="34" charset="0"/>
                <a:ea typeface="Calibri" pitchFamily="34" charset="-122"/>
                <a:cs typeface="Calibri" pitchFamily="34" charset="-120"/>
              </a:rPr>
              <a:t>Imagery tricks for verbal material</a:t>
            </a:r>
            <a:endParaRPr lang="en-US" sz="1050" dirty="0"/>
          </a:p>
        </p:txBody>
      </p:sp>
      <p:sp>
        <p:nvSpPr>
          <p:cNvPr id="22" name="Text 20"/>
          <p:cNvSpPr txBox="1"/>
          <p:nvPr/>
        </p:nvSpPr>
        <p:spPr>
          <a:xfrm>
            <a:off x="4892040" y="3968496"/>
            <a:ext cx="3474720" cy="320040"/>
          </a:xfrm>
          <a:prstGeom prst="rect">
            <a:avLst/>
          </a:prstGeom>
          <a:noFill/>
          <a:ln/>
        </p:spPr>
        <p:txBody>
          <a:bodyPr wrap="square" lIns="0" tIns="0" rIns="0" bIns="0" rtlCol="0" anchor="ctr"/>
          <a:lstStyle/>
          <a:p>
            <a:pPr indent="0" marL="0">
              <a:buNone/>
            </a:pPr>
            <a:r>
              <a:rPr lang="en-US" sz="1150" i="1" dirty="0">
                <a:solidFill>
                  <a:srgbClr val="857C6D"/>
                </a:solidFill>
                <a:latin typeface="Calibri" pitchFamily="34" charset="0"/>
                <a:ea typeface="Calibri" pitchFamily="34" charset="-122"/>
                <a:cs typeface="Calibri" pitchFamily="34" charset="-120"/>
              </a:rPr>
              <a:t>Re-reading is the default behaviour of almost every Qur’an app. It is graded low.</a:t>
            </a:r>
            <a:endParaRPr lang="en-US" sz="1150" dirty="0"/>
          </a:p>
        </p:txBody>
      </p:sp>
      <p:sp>
        <p:nvSpPr>
          <p:cNvPr id="23" name="Text 21"/>
          <p:cNvSpPr txBox="1"/>
          <p:nvPr/>
        </p:nvSpPr>
        <p:spPr>
          <a:xfrm>
            <a:off x="548640" y="4480560"/>
            <a:ext cx="8046720" cy="365760"/>
          </a:xfrm>
          <a:prstGeom prst="rect">
            <a:avLst/>
          </a:prstGeom>
          <a:noFill/>
          <a:ln/>
        </p:spPr>
        <p:txBody>
          <a:bodyPr wrap="square" lIns="0" tIns="0" rIns="0" bIns="0" rtlCol="0" anchor="ctr"/>
          <a:lstStyle/>
          <a:p>
            <a:pPr indent="0" marL="0">
              <a:buNone/>
            </a:pPr>
            <a:r>
              <a:rPr lang="en-US" sz="1050" i="1" dirty="0">
                <a:solidFill>
                  <a:srgbClr val="857C6D"/>
                </a:solidFill>
                <a:latin typeface="Calibri" pitchFamily="34" charset="0"/>
                <a:ea typeface="Calibri" pitchFamily="34" charset="-122"/>
                <a:cs typeface="Calibri" pitchFamily="34" charset="-120"/>
              </a:rPr>
              <a:t>Dunlosky et al. (2013), Psychological Science in the Public Interest, 14(1), 4–58.</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10896"/>
            <a:ext cx="8046720" cy="237744"/>
          </a:xfrm>
          <a:prstGeom prst="rect">
            <a:avLst/>
          </a:prstGeom>
          <a:noFill/>
          <a:ln/>
        </p:spPr>
        <p:txBody>
          <a:bodyPr wrap="square" lIns="0" tIns="0" rIns="0" bIns="0" rtlCol="0" anchor="ctr"/>
          <a:lstStyle/>
          <a:p>
            <a:pPr indent="0" marL="0">
              <a:buNone/>
            </a:pPr>
            <a:r>
              <a:rPr lang="en-US" sz="1100" b="1" spc="200" kern="0" dirty="0">
                <a:solidFill>
                  <a:srgbClr val="B8860B"/>
                </a:solidFill>
                <a:latin typeface="Calibri" pitchFamily="34" charset="0"/>
                <a:ea typeface="Calibri" pitchFamily="34" charset="-122"/>
                <a:cs typeface="Calibri" pitchFamily="34" charset="-120"/>
              </a:rPr>
              <a:t>THE DESIGN MAP</a:t>
            </a:r>
            <a:endParaRPr lang="en-US" sz="1100" dirty="0"/>
          </a:p>
        </p:txBody>
      </p:sp>
      <p:sp>
        <p:nvSpPr>
          <p:cNvPr id="3" name="Text 1"/>
          <p:cNvSpPr txBox="1"/>
          <p:nvPr/>
        </p:nvSpPr>
        <p:spPr>
          <a:xfrm>
            <a:off x="548640" y="530352"/>
            <a:ext cx="8046720" cy="603504"/>
          </a:xfrm>
          <a:prstGeom prst="rect">
            <a:avLst/>
          </a:prstGeom>
          <a:noFill/>
          <a:ln/>
        </p:spPr>
        <p:txBody>
          <a:bodyPr wrap="square" lIns="0" tIns="0" rIns="0" bIns="0" rtlCol="0" anchor="ctr"/>
          <a:lstStyle/>
          <a:p>
            <a:pPr indent="0" marL="0">
              <a:buNone/>
            </a:pPr>
            <a:r>
              <a:rPr lang="en-US" sz="2900" b="1" dirty="0">
                <a:solidFill>
                  <a:srgbClr val="1F6F5F"/>
                </a:solidFill>
                <a:latin typeface="Cambria" pitchFamily="34" charset="0"/>
                <a:ea typeface="Cambria" pitchFamily="34" charset="-122"/>
                <a:cs typeface="Cambria" pitchFamily="34" charset="-120"/>
              </a:rPr>
              <a:t>From evidence to interface</a:t>
            </a:r>
            <a:endParaRPr lang="en-US" sz="2900" dirty="0"/>
          </a:p>
        </p:txBody>
      </p:sp>
      <p:sp>
        <p:nvSpPr>
          <p:cNvPr id="4" name="Shape 2"/>
          <p:cNvSpPr/>
          <p:nvPr/>
        </p:nvSpPr>
        <p:spPr>
          <a:xfrm>
            <a:off x="548640" y="1243584"/>
            <a:ext cx="146304" cy="146304"/>
          </a:xfrm>
          <a:prstGeom prst="ellipse">
            <a:avLst/>
          </a:prstGeom>
          <a:solidFill>
            <a:srgbClr val="1F6F5F"/>
          </a:solidFill>
          <a:ln/>
        </p:spPr>
      </p:sp>
      <p:sp>
        <p:nvSpPr>
          <p:cNvPr id="5" name="Text 3"/>
          <p:cNvSpPr txBox="1"/>
          <p:nvPr/>
        </p:nvSpPr>
        <p:spPr>
          <a:xfrm>
            <a:off x="841248" y="1170432"/>
            <a:ext cx="3749040" cy="310896"/>
          </a:xfrm>
          <a:prstGeom prst="rect">
            <a:avLst/>
          </a:prstGeom>
          <a:noFill/>
          <a:ln/>
        </p:spPr>
        <p:txBody>
          <a:bodyPr wrap="square" lIns="0" tIns="0" rIns="0" bIns="0" rtlCol="0" anchor="ctr"/>
          <a:lstStyle/>
          <a:p>
            <a:pPr indent="0" marL="0">
              <a:buNone/>
            </a:pPr>
            <a:r>
              <a:rPr lang="en-US" sz="1200" b="1" dirty="0">
                <a:solidFill>
                  <a:srgbClr val="23201B"/>
                </a:solidFill>
                <a:latin typeface="Calibri" pitchFamily="34" charset="0"/>
                <a:ea typeface="Calibri" pitchFamily="34" charset="-122"/>
                <a:cs typeface="Calibri" pitchFamily="34" charset="-120"/>
              </a:rPr>
              <a:t>Forgetting is fastest at first</a:t>
            </a:r>
            <a:endParaRPr lang="en-US" sz="1200" dirty="0"/>
          </a:p>
        </p:txBody>
      </p:sp>
      <p:sp>
        <p:nvSpPr>
          <p:cNvPr id="6" name="Text 4"/>
          <p:cNvSpPr txBox="1"/>
          <p:nvPr/>
        </p:nvSpPr>
        <p:spPr>
          <a:xfrm>
            <a:off x="4590288" y="1170432"/>
            <a:ext cx="274320" cy="310896"/>
          </a:xfrm>
          <a:prstGeom prst="rect">
            <a:avLst/>
          </a:prstGeom>
          <a:noFill/>
          <a:ln/>
        </p:spPr>
        <p:txBody>
          <a:bodyPr wrap="square" lIns="0" tIns="0" rIns="0" bIns="0" rtlCol="0" anchor="ctr"/>
          <a:lstStyle/>
          <a:p>
            <a:pPr indent="0" marL="0">
              <a:buNone/>
            </a:pPr>
            <a:r>
              <a:rPr lang="en-US" sz="1200" dirty="0">
                <a:solidFill>
                  <a:srgbClr val="857C6D"/>
                </a:solidFill>
                <a:latin typeface="Calibri" pitchFamily="34" charset="0"/>
                <a:ea typeface="Calibri" pitchFamily="34" charset="-122"/>
                <a:cs typeface="Calibri" pitchFamily="34" charset="-120"/>
              </a:rPr>
              <a:t>→</a:t>
            </a:r>
            <a:endParaRPr lang="en-US" sz="1200" dirty="0"/>
          </a:p>
        </p:txBody>
      </p:sp>
      <p:sp>
        <p:nvSpPr>
          <p:cNvPr id="7" name="Text 5"/>
          <p:cNvSpPr txBox="1"/>
          <p:nvPr/>
        </p:nvSpPr>
        <p:spPr>
          <a:xfrm>
            <a:off x="4892040" y="1170432"/>
            <a:ext cx="3703320" cy="310896"/>
          </a:xfrm>
          <a:prstGeom prst="rect">
            <a:avLst/>
          </a:prstGeom>
          <a:noFill/>
          <a:ln/>
        </p:spPr>
        <p:txBody>
          <a:bodyPr wrap="square" lIns="0" tIns="0" rIns="0" bIns="0" rtlCol="0" anchor="ctr"/>
          <a:lstStyle/>
          <a:p>
            <a:pPr indent="0" marL="0">
              <a:buNone/>
            </a:pPr>
            <a:r>
              <a:rPr lang="en-US" sz="1200" dirty="0">
                <a:solidFill>
                  <a:srgbClr val="5D564B"/>
                </a:solidFill>
                <a:latin typeface="Calibri" pitchFamily="34" charset="0"/>
                <a:ea typeface="Calibri" pitchFamily="34" charset="-122"/>
                <a:cs typeface="Calibri" pitchFamily="34" charset="-120"/>
              </a:rPr>
              <a:t>The first review is scheduled 1 day after a page is completed</a:t>
            </a:r>
            <a:endParaRPr lang="en-US" sz="1200" dirty="0"/>
          </a:p>
        </p:txBody>
      </p:sp>
      <p:sp>
        <p:nvSpPr>
          <p:cNvPr id="8" name="Shape 6"/>
          <p:cNvSpPr/>
          <p:nvPr/>
        </p:nvSpPr>
        <p:spPr>
          <a:xfrm>
            <a:off x="548640" y="1728216"/>
            <a:ext cx="146304" cy="146304"/>
          </a:xfrm>
          <a:prstGeom prst="ellipse">
            <a:avLst/>
          </a:prstGeom>
          <a:solidFill>
            <a:srgbClr val="1F6F5F"/>
          </a:solidFill>
          <a:ln/>
        </p:spPr>
      </p:sp>
      <p:sp>
        <p:nvSpPr>
          <p:cNvPr id="9" name="Text 7"/>
          <p:cNvSpPr txBox="1"/>
          <p:nvPr/>
        </p:nvSpPr>
        <p:spPr>
          <a:xfrm>
            <a:off x="841248" y="1655064"/>
            <a:ext cx="3749040" cy="310896"/>
          </a:xfrm>
          <a:prstGeom prst="rect">
            <a:avLst/>
          </a:prstGeom>
          <a:noFill/>
          <a:ln/>
        </p:spPr>
        <p:txBody>
          <a:bodyPr wrap="square" lIns="0" tIns="0" rIns="0" bIns="0" rtlCol="0" anchor="ctr"/>
          <a:lstStyle/>
          <a:p>
            <a:pPr indent="0" marL="0">
              <a:buNone/>
            </a:pPr>
            <a:r>
              <a:rPr lang="en-US" sz="1200" b="1" dirty="0">
                <a:solidFill>
                  <a:srgbClr val="23201B"/>
                </a:solidFill>
                <a:latin typeface="Calibri" pitchFamily="34" charset="0"/>
                <a:ea typeface="Calibri" pitchFamily="34" charset="-122"/>
                <a:cs typeface="Calibri" pitchFamily="34" charset="-120"/>
              </a:rPr>
              <a:t>Optimal gap grows with retention interval</a:t>
            </a:r>
            <a:endParaRPr lang="en-US" sz="1200" dirty="0"/>
          </a:p>
        </p:txBody>
      </p:sp>
      <p:sp>
        <p:nvSpPr>
          <p:cNvPr id="10" name="Text 8"/>
          <p:cNvSpPr txBox="1"/>
          <p:nvPr/>
        </p:nvSpPr>
        <p:spPr>
          <a:xfrm>
            <a:off x="4590288" y="1655064"/>
            <a:ext cx="274320" cy="310896"/>
          </a:xfrm>
          <a:prstGeom prst="rect">
            <a:avLst/>
          </a:prstGeom>
          <a:noFill/>
          <a:ln/>
        </p:spPr>
        <p:txBody>
          <a:bodyPr wrap="square" lIns="0" tIns="0" rIns="0" bIns="0" rtlCol="0" anchor="ctr"/>
          <a:lstStyle/>
          <a:p>
            <a:pPr indent="0" marL="0">
              <a:buNone/>
            </a:pPr>
            <a:r>
              <a:rPr lang="en-US" sz="1200" dirty="0">
                <a:solidFill>
                  <a:srgbClr val="857C6D"/>
                </a:solidFill>
                <a:latin typeface="Calibri" pitchFamily="34" charset="0"/>
                <a:ea typeface="Calibri" pitchFamily="34" charset="-122"/>
                <a:cs typeface="Calibri" pitchFamily="34" charset="-120"/>
              </a:rPr>
              <a:t>→</a:t>
            </a:r>
            <a:endParaRPr lang="en-US" sz="1200" dirty="0"/>
          </a:p>
        </p:txBody>
      </p:sp>
      <p:sp>
        <p:nvSpPr>
          <p:cNvPr id="11" name="Text 9"/>
          <p:cNvSpPr txBox="1"/>
          <p:nvPr/>
        </p:nvSpPr>
        <p:spPr>
          <a:xfrm>
            <a:off x="4892040" y="1655064"/>
            <a:ext cx="3703320" cy="310896"/>
          </a:xfrm>
          <a:prstGeom prst="rect">
            <a:avLst/>
          </a:prstGeom>
          <a:noFill/>
          <a:ln/>
        </p:spPr>
        <p:txBody>
          <a:bodyPr wrap="square" lIns="0" tIns="0" rIns="0" bIns="0" rtlCol="0" anchor="ctr"/>
          <a:lstStyle/>
          <a:p>
            <a:pPr indent="0" marL="0">
              <a:buNone/>
            </a:pPr>
            <a:r>
              <a:rPr lang="en-US" sz="1200" dirty="0">
                <a:solidFill>
                  <a:srgbClr val="5D564B"/>
                </a:solidFill>
                <a:latin typeface="Calibri" pitchFamily="34" charset="0"/>
                <a:ea typeface="Calibri" pitchFamily="34" charset="-122"/>
                <a:cs typeface="Calibri" pitchFamily="34" charset="-120"/>
              </a:rPr>
              <a:t>Intervals climb 1 → 3 → 7 → 14 → 30, then multiply</a:t>
            </a:r>
            <a:endParaRPr lang="en-US" sz="1200" dirty="0"/>
          </a:p>
        </p:txBody>
      </p:sp>
      <p:sp>
        <p:nvSpPr>
          <p:cNvPr id="12" name="Shape 10"/>
          <p:cNvSpPr/>
          <p:nvPr/>
        </p:nvSpPr>
        <p:spPr>
          <a:xfrm>
            <a:off x="548640" y="2212848"/>
            <a:ext cx="146304" cy="146304"/>
          </a:xfrm>
          <a:prstGeom prst="ellipse">
            <a:avLst/>
          </a:prstGeom>
          <a:solidFill>
            <a:srgbClr val="2B5F9E"/>
          </a:solidFill>
          <a:ln/>
        </p:spPr>
      </p:sp>
      <p:sp>
        <p:nvSpPr>
          <p:cNvPr id="13" name="Text 11"/>
          <p:cNvSpPr txBox="1"/>
          <p:nvPr/>
        </p:nvSpPr>
        <p:spPr>
          <a:xfrm>
            <a:off x="841248" y="2139696"/>
            <a:ext cx="3749040" cy="310896"/>
          </a:xfrm>
          <a:prstGeom prst="rect">
            <a:avLst/>
          </a:prstGeom>
          <a:noFill/>
          <a:ln/>
        </p:spPr>
        <p:txBody>
          <a:bodyPr wrap="square" lIns="0" tIns="0" rIns="0" bIns="0" rtlCol="0" anchor="ctr"/>
          <a:lstStyle/>
          <a:p>
            <a:pPr indent="0" marL="0">
              <a:buNone/>
            </a:pPr>
            <a:r>
              <a:rPr lang="en-US" sz="1200" b="1" dirty="0">
                <a:solidFill>
                  <a:srgbClr val="23201B"/>
                </a:solidFill>
                <a:latin typeface="Calibri" pitchFamily="34" charset="0"/>
                <a:ea typeface="Calibri" pitchFamily="34" charset="-122"/>
                <a:cs typeface="Calibri" pitchFamily="34" charset="-120"/>
              </a:rPr>
              <a:t>Retrieval beats re-reading</a:t>
            </a:r>
            <a:endParaRPr lang="en-US" sz="1200" dirty="0"/>
          </a:p>
        </p:txBody>
      </p:sp>
      <p:sp>
        <p:nvSpPr>
          <p:cNvPr id="14" name="Text 12"/>
          <p:cNvSpPr txBox="1"/>
          <p:nvPr/>
        </p:nvSpPr>
        <p:spPr>
          <a:xfrm>
            <a:off x="4590288" y="2139696"/>
            <a:ext cx="274320" cy="310896"/>
          </a:xfrm>
          <a:prstGeom prst="rect">
            <a:avLst/>
          </a:prstGeom>
          <a:noFill/>
          <a:ln/>
        </p:spPr>
        <p:txBody>
          <a:bodyPr wrap="square" lIns="0" tIns="0" rIns="0" bIns="0" rtlCol="0" anchor="ctr"/>
          <a:lstStyle/>
          <a:p>
            <a:pPr indent="0" marL="0">
              <a:buNone/>
            </a:pPr>
            <a:r>
              <a:rPr lang="en-US" sz="1200" dirty="0">
                <a:solidFill>
                  <a:srgbClr val="857C6D"/>
                </a:solidFill>
                <a:latin typeface="Calibri" pitchFamily="34" charset="0"/>
                <a:ea typeface="Calibri" pitchFamily="34" charset="-122"/>
                <a:cs typeface="Calibri" pitchFamily="34" charset="-120"/>
              </a:rPr>
              <a:t>→</a:t>
            </a:r>
            <a:endParaRPr lang="en-US" sz="1200" dirty="0"/>
          </a:p>
        </p:txBody>
      </p:sp>
      <p:sp>
        <p:nvSpPr>
          <p:cNvPr id="15" name="Text 13"/>
          <p:cNvSpPr txBox="1"/>
          <p:nvPr/>
        </p:nvSpPr>
        <p:spPr>
          <a:xfrm>
            <a:off x="4892040" y="2139696"/>
            <a:ext cx="3703320" cy="310896"/>
          </a:xfrm>
          <a:prstGeom prst="rect">
            <a:avLst/>
          </a:prstGeom>
          <a:noFill/>
          <a:ln/>
        </p:spPr>
        <p:txBody>
          <a:bodyPr wrap="square" lIns="0" tIns="0" rIns="0" bIns="0" rtlCol="0" anchor="ctr"/>
          <a:lstStyle/>
          <a:p>
            <a:pPr indent="0" marL="0">
              <a:buNone/>
            </a:pPr>
            <a:r>
              <a:rPr lang="en-US" sz="1200" dirty="0">
                <a:solidFill>
                  <a:srgbClr val="5D564B"/>
                </a:solidFill>
                <a:latin typeface="Calibri" pitchFamily="34" charset="0"/>
                <a:ea typeface="Calibri" pitchFamily="34" charset="-122"/>
                <a:cs typeface="Calibri" pitchFamily="34" charset="-120"/>
              </a:rPr>
              <a:t>The curtain; nothing is ever marked merely “read”</a:t>
            </a:r>
            <a:endParaRPr lang="en-US" sz="1200" dirty="0"/>
          </a:p>
        </p:txBody>
      </p:sp>
      <p:sp>
        <p:nvSpPr>
          <p:cNvPr id="16" name="Shape 14"/>
          <p:cNvSpPr/>
          <p:nvPr/>
        </p:nvSpPr>
        <p:spPr>
          <a:xfrm>
            <a:off x="548640" y="2697480"/>
            <a:ext cx="146304" cy="146304"/>
          </a:xfrm>
          <a:prstGeom prst="ellipse">
            <a:avLst/>
          </a:prstGeom>
          <a:solidFill>
            <a:srgbClr val="2B5F9E"/>
          </a:solidFill>
          <a:ln/>
        </p:spPr>
      </p:sp>
      <p:sp>
        <p:nvSpPr>
          <p:cNvPr id="17" name="Text 15"/>
          <p:cNvSpPr txBox="1"/>
          <p:nvPr/>
        </p:nvSpPr>
        <p:spPr>
          <a:xfrm>
            <a:off x="841248" y="2624328"/>
            <a:ext cx="3749040" cy="310896"/>
          </a:xfrm>
          <a:prstGeom prst="rect">
            <a:avLst/>
          </a:prstGeom>
          <a:noFill/>
          <a:ln/>
        </p:spPr>
        <p:txBody>
          <a:bodyPr wrap="square" lIns="0" tIns="0" rIns="0" bIns="0" rtlCol="0" anchor="ctr"/>
          <a:lstStyle/>
          <a:p>
            <a:pPr indent="0" marL="0">
              <a:buNone/>
            </a:pPr>
            <a:r>
              <a:rPr lang="en-US" sz="1200" b="1" dirty="0">
                <a:solidFill>
                  <a:srgbClr val="23201B"/>
                </a:solidFill>
                <a:latin typeface="Calibri" pitchFamily="34" charset="0"/>
                <a:ea typeface="Calibri" pitchFamily="34" charset="-122"/>
                <a:cs typeface="Calibri" pitchFamily="34" charset="-120"/>
              </a:rPr>
              <a:t>Feedback matters</a:t>
            </a:r>
            <a:endParaRPr lang="en-US" sz="1200" dirty="0"/>
          </a:p>
        </p:txBody>
      </p:sp>
      <p:sp>
        <p:nvSpPr>
          <p:cNvPr id="18" name="Text 16"/>
          <p:cNvSpPr txBox="1"/>
          <p:nvPr/>
        </p:nvSpPr>
        <p:spPr>
          <a:xfrm>
            <a:off x="4590288" y="2624328"/>
            <a:ext cx="274320" cy="310896"/>
          </a:xfrm>
          <a:prstGeom prst="rect">
            <a:avLst/>
          </a:prstGeom>
          <a:noFill/>
          <a:ln/>
        </p:spPr>
        <p:txBody>
          <a:bodyPr wrap="square" lIns="0" tIns="0" rIns="0" bIns="0" rtlCol="0" anchor="ctr"/>
          <a:lstStyle/>
          <a:p>
            <a:pPr indent="0" marL="0">
              <a:buNone/>
            </a:pPr>
            <a:r>
              <a:rPr lang="en-US" sz="1200" dirty="0">
                <a:solidFill>
                  <a:srgbClr val="857C6D"/>
                </a:solidFill>
                <a:latin typeface="Calibri" pitchFamily="34" charset="0"/>
                <a:ea typeface="Calibri" pitchFamily="34" charset="-122"/>
                <a:cs typeface="Calibri" pitchFamily="34" charset="-120"/>
              </a:rPr>
              <a:t>→</a:t>
            </a:r>
            <a:endParaRPr lang="en-US" sz="1200" dirty="0"/>
          </a:p>
        </p:txBody>
      </p:sp>
      <p:sp>
        <p:nvSpPr>
          <p:cNvPr id="19" name="Text 17"/>
          <p:cNvSpPr txBox="1"/>
          <p:nvPr/>
        </p:nvSpPr>
        <p:spPr>
          <a:xfrm>
            <a:off x="4892040" y="2624328"/>
            <a:ext cx="3703320" cy="310896"/>
          </a:xfrm>
          <a:prstGeom prst="rect">
            <a:avLst/>
          </a:prstGeom>
          <a:noFill/>
          <a:ln/>
        </p:spPr>
        <p:txBody>
          <a:bodyPr wrap="square" lIns="0" tIns="0" rIns="0" bIns="0" rtlCol="0" anchor="ctr"/>
          <a:lstStyle/>
          <a:p>
            <a:pPr indent="0" marL="0">
              <a:buNone/>
            </a:pPr>
            <a:r>
              <a:rPr lang="en-US" sz="1200" dirty="0">
                <a:solidFill>
                  <a:srgbClr val="5D564B"/>
                </a:solidFill>
                <a:latin typeface="Calibri" pitchFamily="34" charset="0"/>
                <a:ea typeface="Calibri" pitchFamily="34" charset="-122"/>
                <a:cs typeface="Calibri" pitchFamily="34" charset="-120"/>
              </a:rPr>
              <a:t>Reveal line by line; ✗ marks the exact āyah that slipped</a:t>
            </a:r>
            <a:endParaRPr lang="en-US" sz="1200" dirty="0"/>
          </a:p>
        </p:txBody>
      </p:sp>
      <p:sp>
        <p:nvSpPr>
          <p:cNvPr id="20" name="Shape 18"/>
          <p:cNvSpPr/>
          <p:nvPr/>
        </p:nvSpPr>
        <p:spPr>
          <a:xfrm>
            <a:off x="548640" y="3182112"/>
            <a:ext cx="146304" cy="146304"/>
          </a:xfrm>
          <a:prstGeom prst="ellipse">
            <a:avLst/>
          </a:prstGeom>
          <a:solidFill>
            <a:srgbClr val="7A4B8F"/>
          </a:solidFill>
          <a:ln/>
        </p:spPr>
      </p:sp>
      <p:sp>
        <p:nvSpPr>
          <p:cNvPr id="21" name="Text 19"/>
          <p:cNvSpPr txBox="1"/>
          <p:nvPr/>
        </p:nvSpPr>
        <p:spPr>
          <a:xfrm>
            <a:off x="841248" y="3108960"/>
            <a:ext cx="3749040" cy="310896"/>
          </a:xfrm>
          <a:prstGeom prst="rect">
            <a:avLst/>
          </a:prstGeom>
          <a:noFill/>
          <a:ln/>
        </p:spPr>
        <p:txBody>
          <a:bodyPr wrap="square" lIns="0" tIns="0" rIns="0" bIns="0" rtlCol="0" anchor="ctr"/>
          <a:lstStyle/>
          <a:p>
            <a:pPr indent="0" marL="0">
              <a:buNone/>
            </a:pPr>
            <a:r>
              <a:rPr lang="en-US" sz="1200" b="1" dirty="0">
                <a:solidFill>
                  <a:srgbClr val="23201B"/>
                </a:solidFill>
                <a:latin typeface="Calibri" pitchFamily="34" charset="0"/>
                <a:ea typeface="Calibri" pitchFamily="34" charset="-122"/>
                <a:cs typeface="Calibri" pitchFamily="34" charset="-120"/>
              </a:rPr>
              <a:t>Expanding schedules keep recall high in training</a:t>
            </a:r>
            <a:endParaRPr lang="en-US" sz="1200" dirty="0"/>
          </a:p>
        </p:txBody>
      </p:sp>
      <p:sp>
        <p:nvSpPr>
          <p:cNvPr id="22" name="Text 20"/>
          <p:cNvSpPr txBox="1"/>
          <p:nvPr/>
        </p:nvSpPr>
        <p:spPr>
          <a:xfrm>
            <a:off x="4590288" y="3108960"/>
            <a:ext cx="274320" cy="310896"/>
          </a:xfrm>
          <a:prstGeom prst="rect">
            <a:avLst/>
          </a:prstGeom>
          <a:noFill/>
          <a:ln/>
        </p:spPr>
        <p:txBody>
          <a:bodyPr wrap="square" lIns="0" tIns="0" rIns="0" bIns="0" rtlCol="0" anchor="ctr"/>
          <a:lstStyle/>
          <a:p>
            <a:pPr indent="0" marL="0">
              <a:buNone/>
            </a:pPr>
            <a:r>
              <a:rPr lang="en-US" sz="1200" dirty="0">
                <a:solidFill>
                  <a:srgbClr val="857C6D"/>
                </a:solidFill>
                <a:latin typeface="Calibri" pitchFamily="34" charset="0"/>
                <a:ea typeface="Calibri" pitchFamily="34" charset="-122"/>
                <a:cs typeface="Calibri" pitchFamily="34" charset="-120"/>
              </a:rPr>
              <a:t>→</a:t>
            </a:r>
            <a:endParaRPr lang="en-US" sz="1200" dirty="0"/>
          </a:p>
        </p:txBody>
      </p:sp>
      <p:sp>
        <p:nvSpPr>
          <p:cNvPr id="23" name="Text 21"/>
          <p:cNvSpPr txBox="1"/>
          <p:nvPr/>
        </p:nvSpPr>
        <p:spPr>
          <a:xfrm>
            <a:off x="4892040" y="3108960"/>
            <a:ext cx="3703320" cy="310896"/>
          </a:xfrm>
          <a:prstGeom prst="rect">
            <a:avLst/>
          </a:prstGeom>
          <a:noFill/>
          <a:ln/>
        </p:spPr>
        <p:txBody>
          <a:bodyPr wrap="square" lIns="0" tIns="0" rIns="0" bIns="0" rtlCol="0" anchor="ctr"/>
          <a:lstStyle/>
          <a:p>
            <a:pPr indent="0" marL="0">
              <a:buNone/>
            </a:pPr>
            <a:r>
              <a:rPr lang="en-US" sz="1200" dirty="0">
                <a:solidFill>
                  <a:srgbClr val="5D564B"/>
                </a:solidFill>
                <a:latin typeface="Calibri" pitchFamily="34" charset="0"/>
                <a:ea typeface="Calibri" pitchFamily="34" charset="-122"/>
                <a:cs typeface="Calibri" pitchFamily="34" charset="-120"/>
              </a:rPr>
              <a:t>The ladder, rather than a fixed weekly cycle</a:t>
            </a:r>
            <a:endParaRPr lang="en-US" sz="1200" dirty="0"/>
          </a:p>
        </p:txBody>
      </p:sp>
      <p:sp>
        <p:nvSpPr>
          <p:cNvPr id="24" name="Shape 22"/>
          <p:cNvSpPr/>
          <p:nvPr/>
        </p:nvSpPr>
        <p:spPr>
          <a:xfrm>
            <a:off x="548640" y="3666744"/>
            <a:ext cx="146304" cy="146304"/>
          </a:xfrm>
          <a:prstGeom prst="ellipse">
            <a:avLst/>
          </a:prstGeom>
          <a:solidFill>
            <a:srgbClr val="7A4B8F"/>
          </a:solidFill>
          <a:ln/>
        </p:spPr>
      </p:sp>
      <p:sp>
        <p:nvSpPr>
          <p:cNvPr id="25" name="Text 23"/>
          <p:cNvSpPr txBox="1"/>
          <p:nvPr/>
        </p:nvSpPr>
        <p:spPr>
          <a:xfrm>
            <a:off x="841248" y="3593592"/>
            <a:ext cx="3749040" cy="310896"/>
          </a:xfrm>
          <a:prstGeom prst="rect">
            <a:avLst/>
          </a:prstGeom>
          <a:noFill/>
          <a:ln/>
        </p:spPr>
        <p:txBody>
          <a:bodyPr wrap="square" lIns="0" tIns="0" rIns="0" bIns="0" rtlCol="0" anchor="ctr"/>
          <a:lstStyle/>
          <a:p>
            <a:pPr indent="0" marL="0">
              <a:buNone/>
            </a:pPr>
            <a:r>
              <a:rPr lang="en-US" sz="1200" b="1" dirty="0">
                <a:solidFill>
                  <a:srgbClr val="23201B"/>
                </a:solidFill>
                <a:latin typeface="Calibri" pitchFamily="34" charset="0"/>
                <a:ea typeface="Calibri" pitchFamily="34" charset="-122"/>
                <a:cs typeface="Calibri" pitchFamily="34" charset="-120"/>
              </a:rPr>
              <a:t>Confusable items break memory</a:t>
            </a:r>
            <a:endParaRPr lang="en-US" sz="1200" dirty="0"/>
          </a:p>
        </p:txBody>
      </p:sp>
      <p:sp>
        <p:nvSpPr>
          <p:cNvPr id="26" name="Text 24"/>
          <p:cNvSpPr txBox="1"/>
          <p:nvPr/>
        </p:nvSpPr>
        <p:spPr>
          <a:xfrm>
            <a:off x="4590288" y="3593592"/>
            <a:ext cx="274320" cy="310896"/>
          </a:xfrm>
          <a:prstGeom prst="rect">
            <a:avLst/>
          </a:prstGeom>
          <a:noFill/>
          <a:ln/>
        </p:spPr>
        <p:txBody>
          <a:bodyPr wrap="square" lIns="0" tIns="0" rIns="0" bIns="0" rtlCol="0" anchor="ctr"/>
          <a:lstStyle/>
          <a:p>
            <a:pPr indent="0" marL="0">
              <a:buNone/>
            </a:pPr>
            <a:r>
              <a:rPr lang="en-US" sz="1200" dirty="0">
                <a:solidFill>
                  <a:srgbClr val="857C6D"/>
                </a:solidFill>
                <a:latin typeface="Calibri" pitchFamily="34" charset="0"/>
                <a:ea typeface="Calibri" pitchFamily="34" charset="-122"/>
                <a:cs typeface="Calibri" pitchFamily="34" charset="-120"/>
              </a:rPr>
              <a:t>→</a:t>
            </a:r>
            <a:endParaRPr lang="en-US" sz="1200" dirty="0"/>
          </a:p>
        </p:txBody>
      </p:sp>
      <p:sp>
        <p:nvSpPr>
          <p:cNvPr id="27" name="Text 25"/>
          <p:cNvSpPr txBox="1"/>
          <p:nvPr/>
        </p:nvSpPr>
        <p:spPr>
          <a:xfrm>
            <a:off x="4892040" y="3593592"/>
            <a:ext cx="3703320" cy="310896"/>
          </a:xfrm>
          <a:prstGeom prst="rect">
            <a:avLst/>
          </a:prstGeom>
          <a:noFill/>
          <a:ln/>
        </p:spPr>
        <p:txBody>
          <a:bodyPr wrap="square" lIns="0" tIns="0" rIns="0" bIns="0" rtlCol="0" anchor="ctr"/>
          <a:lstStyle/>
          <a:p>
            <a:pPr indent="0" marL="0">
              <a:buNone/>
            </a:pPr>
            <a:r>
              <a:rPr lang="en-US" sz="1200" dirty="0">
                <a:solidFill>
                  <a:srgbClr val="5D564B"/>
                </a:solidFill>
                <a:latin typeface="Calibri" pitchFamily="34" charset="0"/>
                <a:ea typeface="Calibri" pitchFamily="34" charset="-122"/>
                <a:cs typeface="Calibri" pitchFamily="34" charset="-120"/>
              </a:rPr>
              <a:t>Mutashābihāt shown for each page</a:t>
            </a:r>
            <a:endParaRPr lang="en-US" sz="1200" dirty="0"/>
          </a:p>
        </p:txBody>
      </p:sp>
      <p:sp>
        <p:nvSpPr>
          <p:cNvPr id="28" name="Shape 26"/>
          <p:cNvSpPr/>
          <p:nvPr/>
        </p:nvSpPr>
        <p:spPr>
          <a:xfrm>
            <a:off x="548640" y="4151376"/>
            <a:ext cx="146304" cy="146304"/>
          </a:xfrm>
          <a:prstGeom prst="ellipse">
            <a:avLst/>
          </a:prstGeom>
          <a:solidFill>
            <a:srgbClr val="B8860B"/>
          </a:solidFill>
          <a:ln/>
        </p:spPr>
      </p:sp>
      <p:sp>
        <p:nvSpPr>
          <p:cNvPr id="29" name="Text 27"/>
          <p:cNvSpPr txBox="1"/>
          <p:nvPr/>
        </p:nvSpPr>
        <p:spPr>
          <a:xfrm>
            <a:off x="841248" y="4078224"/>
            <a:ext cx="3749040" cy="310896"/>
          </a:xfrm>
          <a:prstGeom prst="rect">
            <a:avLst/>
          </a:prstGeom>
          <a:noFill/>
          <a:ln/>
        </p:spPr>
        <p:txBody>
          <a:bodyPr wrap="square" lIns="0" tIns="0" rIns="0" bIns="0" rtlCol="0" anchor="ctr"/>
          <a:lstStyle/>
          <a:p>
            <a:pPr indent="0" marL="0">
              <a:buNone/>
            </a:pPr>
            <a:r>
              <a:rPr lang="en-US" sz="1200" b="1" dirty="0">
                <a:solidFill>
                  <a:srgbClr val="23201B"/>
                </a:solidFill>
                <a:latin typeface="Calibri" pitchFamily="34" charset="0"/>
                <a:ea typeface="Calibri" pitchFamily="34" charset="-122"/>
                <a:cs typeface="Calibri" pitchFamily="34" charset="-120"/>
              </a:rPr>
              <a:t>Difficulty is desirable, fluency is deceptive</a:t>
            </a:r>
            <a:endParaRPr lang="en-US" sz="1200" dirty="0"/>
          </a:p>
        </p:txBody>
      </p:sp>
      <p:sp>
        <p:nvSpPr>
          <p:cNvPr id="30" name="Text 28"/>
          <p:cNvSpPr txBox="1"/>
          <p:nvPr/>
        </p:nvSpPr>
        <p:spPr>
          <a:xfrm>
            <a:off x="4590288" y="4078224"/>
            <a:ext cx="274320" cy="310896"/>
          </a:xfrm>
          <a:prstGeom prst="rect">
            <a:avLst/>
          </a:prstGeom>
          <a:noFill/>
          <a:ln/>
        </p:spPr>
        <p:txBody>
          <a:bodyPr wrap="square" lIns="0" tIns="0" rIns="0" bIns="0" rtlCol="0" anchor="ctr"/>
          <a:lstStyle/>
          <a:p>
            <a:pPr indent="0" marL="0">
              <a:buNone/>
            </a:pPr>
            <a:r>
              <a:rPr lang="en-US" sz="1200" dirty="0">
                <a:solidFill>
                  <a:srgbClr val="857C6D"/>
                </a:solidFill>
                <a:latin typeface="Calibri" pitchFamily="34" charset="0"/>
                <a:ea typeface="Calibri" pitchFamily="34" charset="-122"/>
                <a:cs typeface="Calibri" pitchFamily="34" charset="-120"/>
              </a:rPr>
              <a:t>→</a:t>
            </a:r>
            <a:endParaRPr lang="en-US" sz="1200" dirty="0"/>
          </a:p>
        </p:txBody>
      </p:sp>
      <p:sp>
        <p:nvSpPr>
          <p:cNvPr id="31" name="Text 29"/>
          <p:cNvSpPr txBox="1"/>
          <p:nvPr/>
        </p:nvSpPr>
        <p:spPr>
          <a:xfrm>
            <a:off x="4892040" y="4078224"/>
            <a:ext cx="3703320" cy="310896"/>
          </a:xfrm>
          <a:prstGeom prst="rect">
            <a:avLst/>
          </a:prstGeom>
          <a:noFill/>
          <a:ln/>
        </p:spPr>
        <p:txBody>
          <a:bodyPr wrap="square" lIns="0" tIns="0" rIns="0" bIns="0" rtlCol="0" anchor="ctr"/>
          <a:lstStyle/>
          <a:p>
            <a:pPr indent="0" marL="0">
              <a:buNone/>
            </a:pPr>
            <a:r>
              <a:rPr lang="en-US" sz="1200" dirty="0">
                <a:solidFill>
                  <a:srgbClr val="5D564B"/>
                </a:solidFill>
                <a:latin typeface="Calibri" pitchFamily="34" charset="0"/>
                <a:ea typeface="Calibri" pitchFamily="34" charset="-122"/>
                <a:cs typeface="Calibri" pitchFamily="34" charset="-120"/>
              </a:rPr>
              <a:t>A 0–5 honesty rating, not a tick-box</a:t>
            </a:r>
            <a:endParaRPr lang="en-US" sz="1200" dirty="0"/>
          </a:p>
        </p:txBody>
      </p:sp>
      <p:sp>
        <p:nvSpPr>
          <p:cNvPr id="32" name="Text 30"/>
          <p:cNvSpPr txBox="1"/>
          <p:nvPr/>
        </p:nvSpPr>
        <p:spPr>
          <a:xfrm>
            <a:off x="548640" y="4645152"/>
            <a:ext cx="8046720" cy="365760"/>
          </a:xfrm>
          <a:prstGeom prst="rect">
            <a:avLst/>
          </a:prstGeom>
          <a:noFill/>
          <a:ln/>
        </p:spPr>
        <p:txBody>
          <a:bodyPr wrap="square" lIns="0" tIns="0" rIns="0" bIns="0" rtlCol="0" anchor="ctr"/>
          <a:lstStyle/>
          <a:p>
            <a:pPr indent="0" marL="0">
              <a:buNone/>
            </a:pPr>
            <a:r>
              <a:rPr lang="en-US" sz="1050" i="1" dirty="0">
                <a:solidFill>
                  <a:srgbClr val="857C6D"/>
                </a:solidFill>
                <a:latin typeface="Calibri" pitchFamily="34" charset="0"/>
                <a:ea typeface="Calibri" pitchFamily="34" charset="-122"/>
                <a:cs typeface="Calibri" pitchFamily="34" charset="-120"/>
              </a:rPr>
              <a:t>Everything below this line is mechanism: exactly what the scheduler does with a rating.</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10896"/>
            <a:ext cx="8046720" cy="237744"/>
          </a:xfrm>
          <a:prstGeom prst="rect">
            <a:avLst/>
          </a:prstGeom>
          <a:noFill/>
          <a:ln/>
        </p:spPr>
        <p:txBody>
          <a:bodyPr wrap="square" lIns="0" tIns="0" rIns="0" bIns="0" rtlCol="0" anchor="ctr"/>
          <a:lstStyle/>
          <a:p>
            <a:pPr indent="0" marL="0">
              <a:buNone/>
            </a:pPr>
            <a:r>
              <a:rPr lang="en-US" sz="1100" b="1" spc="200" kern="0" dirty="0">
                <a:solidFill>
                  <a:srgbClr val="B8860B"/>
                </a:solidFill>
                <a:latin typeface="Calibri" pitchFamily="34" charset="0"/>
                <a:ea typeface="Calibri" pitchFamily="34" charset="-122"/>
                <a:cs typeface="Calibri" pitchFamily="34" charset="-120"/>
              </a:rPr>
              <a:t>PART D · THE ALGORITHM</a:t>
            </a:r>
            <a:endParaRPr lang="en-US" sz="1100" dirty="0"/>
          </a:p>
        </p:txBody>
      </p:sp>
      <p:sp>
        <p:nvSpPr>
          <p:cNvPr id="3" name="Text 1"/>
          <p:cNvSpPr txBox="1"/>
          <p:nvPr/>
        </p:nvSpPr>
        <p:spPr>
          <a:xfrm>
            <a:off x="548640" y="530352"/>
            <a:ext cx="8046720" cy="603504"/>
          </a:xfrm>
          <a:prstGeom prst="rect">
            <a:avLst/>
          </a:prstGeom>
          <a:noFill/>
          <a:ln/>
        </p:spPr>
        <p:txBody>
          <a:bodyPr wrap="square" lIns="0" tIns="0" rIns="0" bIns="0" rtlCol="0" anchor="ctr"/>
          <a:lstStyle/>
          <a:p>
            <a:pPr indent="0" marL="0">
              <a:buNone/>
            </a:pPr>
            <a:r>
              <a:rPr lang="en-US" sz="2900" b="1" dirty="0">
                <a:solidFill>
                  <a:srgbClr val="1F6F5F"/>
                </a:solidFill>
                <a:latin typeface="Cambria" pitchFamily="34" charset="0"/>
                <a:ea typeface="Cambria" pitchFamily="34" charset="-122"/>
                <a:cs typeface="Cambria" pitchFamily="34" charset="-120"/>
              </a:rPr>
              <a:t>The daily loop</a:t>
            </a:r>
            <a:endParaRPr lang="en-US" sz="2900" dirty="0"/>
          </a:p>
        </p:txBody>
      </p:sp>
      <p:sp>
        <p:nvSpPr>
          <p:cNvPr id="4" name="Shape 2"/>
          <p:cNvSpPr/>
          <p:nvPr/>
        </p:nvSpPr>
        <p:spPr>
          <a:xfrm>
            <a:off x="548640" y="1600200"/>
            <a:ext cx="1481328" cy="1371600"/>
          </a:xfrm>
          <a:prstGeom prst="roundRect">
            <a:avLst>
              <a:gd name="adj" fmla="val 5333"/>
            </a:avLst>
          </a:prstGeom>
          <a:solidFill>
            <a:srgbClr val="F6F1E7"/>
          </a:solidFill>
          <a:ln w="12700">
            <a:solidFill>
              <a:srgbClr val="E2D9C8"/>
            </a:solidFill>
            <a:prstDash val="solid"/>
          </a:ln>
        </p:spPr>
      </p:sp>
      <p:sp>
        <p:nvSpPr>
          <p:cNvPr id="5" name="Shape 3"/>
          <p:cNvSpPr/>
          <p:nvPr/>
        </p:nvSpPr>
        <p:spPr>
          <a:xfrm>
            <a:off x="1078992" y="1755648"/>
            <a:ext cx="420624" cy="420624"/>
          </a:xfrm>
          <a:prstGeom prst="ellipse">
            <a:avLst/>
          </a:prstGeom>
          <a:solidFill>
            <a:srgbClr val="1F6F5F"/>
          </a:solidFill>
          <a:ln/>
        </p:spPr>
      </p:sp>
      <p:sp>
        <p:nvSpPr>
          <p:cNvPr id="6" name="Text 4"/>
          <p:cNvSpPr txBox="1"/>
          <p:nvPr/>
        </p:nvSpPr>
        <p:spPr>
          <a:xfrm>
            <a:off x="1078992" y="1819656"/>
            <a:ext cx="420624"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621792" y="2249424"/>
            <a:ext cx="1335024" cy="274320"/>
          </a:xfrm>
          <a:prstGeom prst="rect">
            <a:avLst/>
          </a:prstGeom>
          <a:noFill/>
          <a:ln/>
        </p:spPr>
        <p:txBody>
          <a:bodyPr wrap="square" lIns="0" tIns="0" rIns="0" bIns="0" rtlCol="0" anchor="ctr"/>
          <a:lstStyle/>
          <a:p>
            <a:pPr algn="ctr" indent="0" marL="0">
              <a:buNone/>
            </a:pPr>
            <a:r>
              <a:rPr lang="en-US" sz="1350" b="1" dirty="0">
                <a:solidFill>
                  <a:srgbClr val="14453C"/>
                </a:solidFill>
                <a:latin typeface="Cambria" pitchFamily="34" charset="0"/>
                <a:ea typeface="Cambria" pitchFamily="34" charset="-122"/>
                <a:cs typeface="Cambria" pitchFamily="34" charset="-120"/>
              </a:rPr>
              <a:t>Today</a:t>
            </a:r>
            <a:endParaRPr lang="en-US" sz="1350" dirty="0"/>
          </a:p>
        </p:txBody>
      </p:sp>
      <p:sp>
        <p:nvSpPr>
          <p:cNvPr id="8" name="Text 6"/>
          <p:cNvSpPr txBox="1"/>
          <p:nvPr/>
        </p:nvSpPr>
        <p:spPr>
          <a:xfrm>
            <a:off x="640080" y="2523744"/>
            <a:ext cx="1298448" cy="402336"/>
          </a:xfrm>
          <a:prstGeom prst="rect">
            <a:avLst/>
          </a:prstGeom>
          <a:noFill/>
          <a:ln/>
        </p:spPr>
        <p:txBody>
          <a:bodyPr wrap="square" lIns="0" tIns="0" rIns="0" bIns="0" rtlCol="0" anchor="ctr"/>
          <a:lstStyle/>
          <a:p>
            <a:pPr algn="ctr" indent="0" marL="0">
              <a:lnSpc>
                <a:spcPct val="105000"/>
              </a:lnSpc>
              <a:buNone/>
            </a:pPr>
            <a:r>
              <a:rPr lang="en-US" sz="950" dirty="0">
                <a:solidFill>
                  <a:srgbClr val="5D564B"/>
                </a:solidFill>
                <a:latin typeface="Calibri" pitchFamily="34" charset="0"/>
                <a:ea typeface="Calibri" pitchFamily="34" charset="-122"/>
                <a:cs typeface="Calibri" pitchFamily="34" charset="-120"/>
              </a:rPr>
              <a:t>The app names the pages due</a:t>
            </a:r>
            <a:endParaRPr lang="en-US" sz="950" dirty="0"/>
          </a:p>
        </p:txBody>
      </p:sp>
      <p:sp>
        <p:nvSpPr>
          <p:cNvPr id="9" name="Shape 7"/>
          <p:cNvSpPr/>
          <p:nvPr/>
        </p:nvSpPr>
        <p:spPr>
          <a:xfrm>
            <a:off x="2066544" y="2185416"/>
            <a:ext cx="128016" cy="201168"/>
          </a:xfrm>
          <a:prstGeom prst="rightArrow">
            <a:avLst/>
          </a:prstGeom>
          <a:solidFill>
            <a:srgbClr val="E2D9C8"/>
          </a:solidFill>
          <a:ln/>
        </p:spPr>
      </p:sp>
      <p:sp>
        <p:nvSpPr>
          <p:cNvPr id="10" name="Shape 8"/>
          <p:cNvSpPr/>
          <p:nvPr/>
        </p:nvSpPr>
        <p:spPr>
          <a:xfrm>
            <a:off x="2212848" y="1600200"/>
            <a:ext cx="1481328" cy="1371600"/>
          </a:xfrm>
          <a:prstGeom prst="roundRect">
            <a:avLst>
              <a:gd name="adj" fmla="val 5333"/>
            </a:avLst>
          </a:prstGeom>
          <a:solidFill>
            <a:srgbClr val="F6F1E7"/>
          </a:solidFill>
          <a:ln w="12700">
            <a:solidFill>
              <a:srgbClr val="E2D9C8"/>
            </a:solidFill>
            <a:prstDash val="solid"/>
          </a:ln>
        </p:spPr>
      </p:sp>
      <p:sp>
        <p:nvSpPr>
          <p:cNvPr id="11" name="Shape 9"/>
          <p:cNvSpPr/>
          <p:nvPr/>
        </p:nvSpPr>
        <p:spPr>
          <a:xfrm>
            <a:off x="2743200" y="1755648"/>
            <a:ext cx="420624" cy="420624"/>
          </a:xfrm>
          <a:prstGeom prst="ellipse">
            <a:avLst/>
          </a:prstGeom>
          <a:solidFill>
            <a:srgbClr val="2B5F9E"/>
          </a:solidFill>
          <a:ln/>
        </p:spPr>
      </p:sp>
      <p:sp>
        <p:nvSpPr>
          <p:cNvPr id="12" name="Text 10"/>
          <p:cNvSpPr txBox="1"/>
          <p:nvPr/>
        </p:nvSpPr>
        <p:spPr>
          <a:xfrm>
            <a:off x="2743200" y="1819656"/>
            <a:ext cx="420624"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txBox="1"/>
          <p:nvPr/>
        </p:nvSpPr>
        <p:spPr>
          <a:xfrm>
            <a:off x="2286000" y="2249424"/>
            <a:ext cx="1335024" cy="274320"/>
          </a:xfrm>
          <a:prstGeom prst="rect">
            <a:avLst/>
          </a:prstGeom>
          <a:noFill/>
          <a:ln/>
        </p:spPr>
        <p:txBody>
          <a:bodyPr wrap="square" lIns="0" tIns="0" rIns="0" bIns="0" rtlCol="0" anchor="ctr"/>
          <a:lstStyle/>
          <a:p>
            <a:pPr algn="ctr" indent="0" marL="0">
              <a:buNone/>
            </a:pPr>
            <a:r>
              <a:rPr lang="en-US" sz="1350" b="1" dirty="0">
                <a:solidFill>
                  <a:srgbClr val="14453C"/>
                </a:solidFill>
                <a:latin typeface="Cambria" pitchFamily="34" charset="0"/>
                <a:ea typeface="Cambria" pitchFamily="34" charset="-122"/>
                <a:cs typeface="Cambria" pitchFamily="34" charset="-120"/>
              </a:rPr>
              <a:t>Recite</a:t>
            </a:r>
            <a:endParaRPr lang="en-US" sz="1350" dirty="0"/>
          </a:p>
        </p:txBody>
      </p:sp>
      <p:sp>
        <p:nvSpPr>
          <p:cNvPr id="14" name="Text 12"/>
          <p:cNvSpPr txBox="1"/>
          <p:nvPr/>
        </p:nvSpPr>
        <p:spPr>
          <a:xfrm>
            <a:off x="2304288" y="2523744"/>
            <a:ext cx="1298448" cy="402336"/>
          </a:xfrm>
          <a:prstGeom prst="rect">
            <a:avLst/>
          </a:prstGeom>
          <a:noFill/>
          <a:ln/>
        </p:spPr>
        <p:txBody>
          <a:bodyPr wrap="square" lIns="0" tIns="0" rIns="0" bIns="0" rtlCol="0" anchor="ctr"/>
          <a:lstStyle/>
          <a:p>
            <a:pPr algn="ctr" indent="0" marL="0">
              <a:lnSpc>
                <a:spcPct val="105000"/>
              </a:lnSpc>
              <a:buNone/>
            </a:pPr>
            <a:r>
              <a:rPr lang="en-US" sz="950" dirty="0">
                <a:solidFill>
                  <a:srgbClr val="5D564B"/>
                </a:solidFill>
                <a:latin typeface="Calibri" pitchFamily="34" charset="0"/>
                <a:ea typeface="Calibri" pitchFamily="34" charset="-122"/>
                <a:cs typeface="Calibri" pitchFamily="34" charset="-120"/>
              </a:rPr>
              <a:t>From memory, curtain down</a:t>
            </a:r>
            <a:endParaRPr lang="en-US" sz="950" dirty="0"/>
          </a:p>
        </p:txBody>
      </p:sp>
      <p:sp>
        <p:nvSpPr>
          <p:cNvPr id="15" name="Shape 13"/>
          <p:cNvSpPr/>
          <p:nvPr/>
        </p:nvSpPr>
        <p:spPr>
          <a:xfrm>
            <a:off x="3730752" y="2185416"/>
            <a:ext cx="128016" cy="201168"/>
          </a:xfrm>
          <a:prstGeom prst="rightArrow">
            <a:avLst/>
          </a:prstGeom>
          <a:solidFill>
            <a:srgbClr val="E2D9C8"/>
          </a:solidFill>
          <a:ln/>
        </p:spPr>
      </p:sp>
      <p:sp>
        <p:nvSpPr>
          <p:cNvPr id="16" name="Shape 14"/>
          <p:cNvSpPr/>
          <p:nvPr/>
        </p:nvSpPr>
        <p:spPr>
          <a:xfrm>
            <a:off x="3877056" y="1600200"/>
            <a:ext cx="1481328" cy="1371600"/>
          </a:xfrm>
          <a:prstGeom prst="roundRect">
            <a:avLst>
              <a:gd name="adj" fmla="val 5333"/>
            </a:avLst>
          </a:prstGeom>
          <a:solidFill>
            <a:srgbClr val="F6F1E7"/>
          </a:solidFill>
          <a:ln w="12700">
            <a:solidFill>
              <a:srgbClr val="E2D9C8"/>
            </a:solidFill>
            <a:prstDash val="solid"/>
          </a:ln>
        </p:spPr>
      </p:sp>
      <p:sp>
        <p:nvSpPr>
          <p:cNvPr id="17" name="Shape 15"/>
          <p:cNvSpPr/>
          <p:nvPr/>
        </p:nvSpPr>
        <p:spPr>
          <a:xfrm>
            <a:off x="4407408" y="1755648"/>
            <a:ext cx="420624" cy="420624"/>
          </a:xfrm>
          <a:prstGeom prst="ellipse">
            <a:avLst/>
          </a:prstGeom>
          <a:solidFill>
            <a:srgbClr val="7A4B8F"/>
          </a:solidFill>
          <a:ln/>
        </p:spPr>
      </p:sp>
      <p:sp>
        <p:nvSpPr>
          <p:cNvPr id="18" name="Text 16"/>
          <p:cNvSpPr txBox="1"/>
          <p:nvPr/>
        </p:nvSpPr>
        <p:spPr>
          <a:xfrm>
            <a:off x="4407408" y="1819656"/>
            <a:ext cx="420624"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txBox="1"/>
          <p:nvPr/>
        </p:nvSpPr>
        <p:spPr>
          <a:xfrm>
            <a:off x="3950208" y="2249424"/>
            <a:ext cx="1335024" cy="274320"/>
          </a:xfrm>
          <a:prstGeom prst="rect">
            <a:avLst/>
          </a:prstGeom>
          <a:noFill/>
          <a:ln/>
        </p:spPr>
        <p:txBody>
          <a:bodyPr wrap="square" lIns="0" tIns="0" rIns="0" bIns="0" rtlCol="0" anchor="ctr"/>
          <a:lstStyle/>
          <a:p>
            <a:pPr algn="ctr" indent="0" marL="0">
              <a:buNone/>
            </a:pPr>
            <a:r>
              <a:rPr lang="en-US" sz="1350" b="1" dirty="0">
                <a:solidFill>
                  <a:srgbClr val="14453C"/>
                </a:solidFill>
                <a:latin typeface="Cambria" pitchFamily="34" charset="0"/>
                <a:ea typeface="Cambria" pitchFamily="34" charset="-122"/>
                <a:cs typeface="Cambria" pitchFamily="34" charset="-120"/>
              </a:rPr>
              <a:t>Reveal</a:t>
            </a:r>
            <a:endParaRPr lang="en-US" sz="1350" dirty="0"/>
          </a:p>
        </p:txBody>
      </p:sp>
      <p:sp>
        <p:nvSpPr>
          <p:cNvPr id="20" name="Text 18"/>
          <p:cNvSpPr txBox="1"/>
          <p:nvPr/>
        </p:nvSpPr>
        <p:spPr>
          <a:xfrm>
            <a:off x="3968496" y="2523744"/>
            <a:ext cx="1298448" cy="402336"/>
          </a:xfrm>
          <a:prstGeom prst="rect">
            <a:avLst/>
          </a:prstGeom>
          <a:noFill/>
          <a:ln/>
        </p:spPr>
        <p:txBody>
          <a:bodyPr wrap="square" lIns="0" tIns="0" rIns="0" bIns="0" rtlCol="0" anchor="ctr"/>
          <a:lstStyle/>
          <a:p>
            <a:pPr algn="ctr" indent="0" marL="0">
              <a:lnSpc>
                <a:spcPct val="105000"/>
              </a:lnSpc>
              <a:buNone/>
            </a:pPr>
            <a:r>
              <a:rPr lang="en-US" sz="950" dirty="0">
                <a:solidFill>
                  <a:srgbClr val="5D564B"/>
                </a:solidFill>
                <a:latin typeface="Calibri" pitchFamily="34" charset="0"/>
                <a:ea typeface="Calibri" pitchFamily="34" charset="-122"/>
                <a:cs typeface="Calibri" pitchFamily="34" charset="-120"/>
              </a:rPr>
              <a:t>Check line by line; ✗ each slip</a:t>
            </a:r>
            <a:endParaRPr lang="en-US" sz="950" dirty="0"/>
          </a:p>
        </p:txBody>
      </p:sp>
      <p:sp>
        <p:nvSpPr>
          <p:cNvPr id="21" name="Shape 19"/>
          <p:cNvSpPr/>
          <p:nvPr/>
        </p:nvSpPr>
        <p:spPr>
          <a:xfrm>
            <a:off x="5394960" y="2185416"/>
            <a:ext cx="128016" cy="201168"/>
          </a:xfrm>
          <a:prstGeom prst="rightArrow">
            <a:avLst/>
          </a:prstGeom>
          <a:solidFill>
            <a:srgbClr val="E2D9C8"/>
          </a:solidFill>
          <a:ln/>
        </p:spPr>
      </p:sp>
      <p:sp>
        <p:nvSpPr>
          <p:cNvPr id="22" name="Shape 20"/>
          <p:cNvSpPr/>
          <p:nvPr/>
        </p:nvSpPr>
        <p:spPr>
          <a:xfrm>
            <a:off x="5541264" y="1600200"/>
            <a:ext cx="1481328" cy="1371600"/>
          </a:xfrm>
          <a:prstGeom prst="roundRect">
            <a:avLst>
              <a:gd name="adj" fmla="val 5333"/>
            </a:avLst>
          </a:prstGeom>
          <a:solidFill>
            <a:srgbClr val="F6F1E7"/>
          </a:solidFill>
          <a:ln w="12700">
            <a:solidFill>
              <a:srgbClr val="E2D9C8"/>
            </a:solidFill>
            <a:prstDash val="solid"/>
          </a:ln>
        </p:spPr>
      </p:sp>
      <p:sp>
        <p:nvSpPr>
          <p:cNvPr id="23" name="Shape 21"/>
          <p:cNvSpPr/>
          <p:nvPr/>
        </p:nvSpPr>
        <p:spPr>
          <a:xfrm>
            <a:off x="6071616" y="1755648"/>
            <a:ext cx="420624" cy="420624"/>
          </a:xfrm>
          <a:prstGeom prst="ellipse">
            <a:avLst/>
          </a:prstGeom>
          <a:solidFill>
            <a:srgbClr val="B8860B"/>
          </a:solidFill>
          <a:ln/>
        </p:spPr>
      </p:sp>
      <p:sp>
        <p:nvSpPr>
          <p:cNvPr id="24" name="Text 22"/>
          <p:cNvSpPr txBox="1"/>
          <p:nvPr/>
        </p:nvSpPr>
        <p:spPr>
          <a:xfrm>
            <a:off x="6071616" y="1819656"/>
            <a:ext cx="420624"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3"/>
          <p:cNvSpPr txBox="1"/>
          <p:nvPr/>
        </p:nvSpPr>
        <p:spPr>
          <a:xfrm>
            <a:off x="5614416" y="2249424"/>
            <a:ext cx="1335024" cy="274320"/>
          </a:xfrm>
          <a:prstGeom prst="rect">
            <a:avLst/>
          </a:prstGeom>
          <a:noFill/>
          <a:ln/>
        </p:spPr>
        <p:txBody>
          <a:bodyPr wrap="square" lIns="0" tIns="0" rIns="0" bIns="0" rtlCol="0" anchor="ctr"/>
          <a:lstStyle/>
          <a:p>
            <a:pPr algn="ctr" indent="0" marL="0">
              <a:buNone/>
            </a:pPr>
            <a:r>
              <a:rPr lang="en-US" sz="1350" b="1" dirty="0">
                <a:solidFill>
                  <a:srgbClr val="14453C"/>
                </a:solidFill>
                <a:latin typeface="Cambria" pitchFamily="34" charset="0"/>
                <a:ea typeface="Cambria" pitchFamily="34" charset="-122"/>
                <a:cs typeface="Cambria" pitchFamily="34" charset="-120"/>
              </a:rPr>
              <a:t>Rate 0–5</a:t>
            </a:r>
            <a:endParaRPr lang="en-US" sz="1350" dirty="0"/>
          </a:p>
        </p:txBody>
      </p:sp>
      <p:sp>
        <p:nvSpPr>
          <p:cNvPr id="26" name="Text 24"/>
          <p:cNvSpPr txBox="1"/>
          <p:nvPr/>
        </p:nvSpPr>
        <p:spPr>
          <a:xfrm>
            <a:off x="5632704" y="2523744"/>
            <a:ext cx="1298448" cy="402336"/>
          </a:xfrm>
          <a:prstGeom prst="rect">
            <a:avLst/>
          </a:prstGeom>
          <a:noFill/>
          <a:ln/>
        </p:spPr>
        <p:txBody>
          <a:bodyPr wrap="square" lIns="0" tIns="0" rIns="0" bIns="0" rtlCol="0" anchor="ctr"/>
          <a:lstStyle/>
          <a:p>
            <a:pPr algn="ctr" indent="0" marL="0">
              <a:lnSpc>
                <a:spcPct val="105000"/>
              </a:lnSpc>
              <a:buNone/>
            </a:pPr>
            <a:r>
              <a:rPr lang="en-US" sz="950" dirty="0">
                <a:solidFill>
                  <a:srgbClr val="5D564B"/>
                </a:solidFill>
                <a:latin typeface="Calibri" pitchFamily="34" charset="0"/>
                <a:ea typeface="Calibri" pitchFamily="34" charset="-122"/>
                <a:cs typeface="Calibri" pitchFamily="34" charset="-120"/>
              </a:rPr>
              <a:t>How did it actually go?</a:t>
            </a:r>
            <a:endParaRPr lang="en-US" sz="950" dirty="0"/>
          </a:p>
        </p:txBody>
      </p:sp>
      <p:sp>
        <p:nvSpPr>
          <p:cNvPr id="27" name="Shape 25"/>
          <p:cNvSpPr/>
          <p:nvPr/>
        </p:nvSpPr>
        <p:spPr>
          <a:xfrm>
            <a:off x="7059168" y="2185416"/>
            <a:ext cx="128016" cy="201168"/>
          </a:xfrm>
          <a:prstGeom prst="rightArrow">
            <a:avLst/>
          </a:prstGeom>
          <a:solidFill>
            <a:srgbClr val="E2D9C8"/>
          </a:solidFill>
          <a:ln/>
        </p:spPr>
      </p:sp>
      <p:sp>
        <p:nvSpPr>
          <p:cNvPr id="28" name="Shape 26"/>
          <p:cNvSpPr/>
          <p:nvPr/>
        </p:nvSpPr>
        <p:spPr>
          <a:xfrm>
            <a:off x="7205472" y="1600200"/>
            <a:ext cx="1481328" cy="1371600"/>
          </a:xfrm>
          <a:prstGeom prst="roundRect">
            <a:avLst>
              <a:gd name="adj" fmla="val 5333"/>
            </a:avLst>
          </a:prstGeom>
          <a:solidFill>
            <a:srgbClr val="F6F1E7"/>
          </a:solidFill>
          <a:ln w="12700">
            <a:solidFill>
              <a:srgbClr val="E2D9C8"/>
            </a:solidFill>
            <a:prstDash val="solid"/>
          </a:ln>
        </p:spPr>
      </p:sp>
      <p:sp>
        <p:nvSpPr>
          <p:cNvPr id="29" name="Shape 27"/>
          <p:cNvSpPr/>
          <p:nvPr/>
        </p:nvSpPr>
        <p:spPr>
          <a:xfrm>
            <a:off x="7735824" y="1755648"/>
            <a:ext cx="420624" cy="420624"/>
          </a:xfrm>
          <a:prstGeom prst="ellipse">
            <a:avLst/>
          </a:prstGeom>
          <a:solidFill>
            <a:srgbClr val="C0392B"/>
          </a:solidFill>
          <a:ln/>
        </p:spPr>
      </p:sp>
      <p:sp>
        <p:nvSpPr>
          <p:cNvPr id="30" name="Text 28"/>
          <p:cNvSpPr txBox="1"/>
          <p:nvPr/>
        </p:nvSpPr>
        <p:spPr>
          <a:xfrm>
            <a:off x="7735824" y="1819656"/>
            <a:ext cx="420624"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1" name="Text 29"/>
          <p:cNvSpPr txBox="1"/>
          <p:nvPr/>
        </p:nvSpPr>
        <p:spPr>
          <a:xfrm>
            <a:off x="7278624" y="2249424"/>
            <a:ext cx="1335024" cy="274320"/>
          </a:xfrm>
          <a:prstGeom prst="rect">
            <a:avLst/>
          </a:prstGeom>
          <a:noFill/>
          <a:ln/>
        </p:spPr>
        <p:txBody>
          <a:bodyPr wrap="square" lIns="0" tIns="0" rIns="0" bIns="0" rtlCol="0" anchor="ctr"/>
          <a:lstStyle/>
          <a:p>
            <a:pPr algn="ctr" indent="0" marL="0">
              <a:buNone/>
            </a:pPr>
            <a:r>
              <a:rPr lang="en-US" sz="1350" b="1" dirty="0">
                <a:solidFill>
                  <a:srgbClr val="14453C"/>
                </a:solidFill>
                <a:latin typeface="Cambria" pitchFamily="34" charset="0"/>
                <a:ea typeface="Cambria" pitchFamily="34" charset="-122"/>
                <a:cs typeface="Cambria" pitchFamily="34" charset="-120"/>
              </a:rPr>
              <a:t>Reschedule</a:t>
            </a:r>
            <a:endParaRPr lang="en-US" sz="1350" dirty="0"/>
          </a:p>
        </p:txBody>
      </p:sp>
      <p:sp>
        <p:nvSpPr>
          <p:cNvPr id="32" name="Text 30"/>
          <p:cNvSpPr txBox="1"/>
          <p:nvPr/>
        </p:nvSpPr>
        <p:spPr>
          <a:xfrm>
            <a:off x="7296912" y="2523744"/>
            <a:ext cx="1298448" cy="402336"/>
          </a:xfrm>
          <a:prstGeom prst="rect">
            <a:avLst/>
          </a:prstGeom>
          <a:noFill/>
          <a:ln/>
        </p:spPr>
        <p:txBody>
          <a:bodyPr wrap="square" lIns="0" tIns="0" rIns="0" bIns="0" rtlCol="0" anchor="ctr"/>
          <a:lstStyle/>
          <a:p>
            <a:pPr algn="ctr" indent="0" marL="0">
              <a:lnSpc>
                <a:spcPct val="105000"/>
              </a:lnSpc>
              <a:buNone/>
            </a:pPr>
            <a:r>
              <a:rPr lang="en-US" sz="950" dirty="0">
                <a:solidFill>
                  <a:srgbClr val="5D564B"/>
                </a:solidFill>
                <a:latin typeface="Calibri" pitchFamily="34" charset="0"/>
                <a:ea typeface="Calibri" pitchFamily="34" charset="-122"/>
                <a:cs typeface="Calibri" pitchFamily="34" charset="-120"/>
              </a:rPr>
              <a:t>A new due date is computed</a:t>
            </a:r>
            <a:endParaRPr lang="en-US" sz="950" dirty="0"/>
          </a:p>
        </p:txBody>
      </p:sp>
      <p:sp>
        <p:nvSpPr>
          <p:cNvPr id="33" name="Text 31"/>
          <p:cNvSpPr txBox="1"/>
          <p:nvPr/>
        </p:nvSpPr>
        <p:spPr>
          <a:xfrm>
            <a:off x="548640" y="3127248"/>
            <a:ext cx="8046720" cy="310896"/>
          </a:xfrm>
          <a:prstGeom prst="rect">
            <a:avLst/>
          </a:prstGeom>
          <a:noFill/>
          <a:ln/>
        </p:spPr>
        <p:txBody>
          <a:bodyPr wrap="square" lIns="0" tIns="0" rIns="0" bIns="0" rtlCol="0" anchor="ctr"/>
          <a:lstStyle/>
          <a:p>
            <a:pPr algn="ctr" indent="0" marL="0">
              <a:buNone/>
            </a:pPr>
            <a:r>
              <a:rPr lang="en-US" sz="1250" b="1" dirty="0">
                <a:solidFill>
                  <a:srgbClr val="857C6D"/>
                </a:solidFill>
                <a:latin typeface="Calibri" pitchFamily="34" charset="0"/>
                <a:ea typeface="Calibri" pitchFamily="34" charset="-122"/>
                <a:cs typeface="Calibri" pitchFamily="34" charset="-120"/>
              </a:rPr>
              <a:t>↺  the page returns on its new due date</a:t>
            </a:r>
            <a:endParaRPr lang="en-US" sz="1250" dirty="0"/>
          </a:p>
        </p:txBody>
      </p:sp>
      <p:sp>
        <p:nvSpPr>
          <p:cNvPr id="34" name="Shape 32"/>
          <p:cNvSpPr/>
          <p:nvPr/>
        </p:nvSpPr>
        <p:spPr>
          <a:xfrm>
            <a:off x="548640" y="3529584"/>
            <a:ext cx="8046720" cy="1024128"/>
          </a:xfrm>
          <a:prstGeom prst="roundRect">
            <a:avLst>
              <a:gd name="adj" fmla="val 7143"/>
            </a:avLst>
          </a:prstGeom>
          <a:solidFill>
            <a:srgbClr val="F6F1E7"/>
          </a:solidFill>
          <a:ln w="12700">
            <a:solidFill>
              <a:srgbClr val="E2D9C8"/>
            </a:solidFill>
            <a:prstDash val="solid"/>
          </a:ln>
        </p:spPr>
      </p:sp>
      <p:sp>
        <p:nvSpPr>
          <p:cNvPr id="35" name="Text 33"/>
          <p:cNvSpPr txBox="1"/>
          <p:nvPr/>
        </p:nvSpPr>
        <p:spPr>
          <a:xfrm>
            <a:off x="786384" y="3749040"/>
            <a:ext cx="7589520" cy="310896"/>
          </a:xfrm>
          <a:prstGeom prst="rect">
            <a:avLst/>
          </a:prstGeom>
          <a:noFill/>
          <a:ln/>
        </p:spPr>
        <p:txBody>
          <a:bodyPr wrap="square" lIns="0" tIns="0" rIns="0" bIns="0" rtlCol="0" anchor="ctr"/>
          <a:lstStyle/>
          <a:p>
            <a:pPr indent="0" marL="0">
              <a:buNone/>
            </a:pPr>
            <a:r>
              <a:rPr lang="en-US" sz="1500" b="1" dirty="0">
                <a:solidFill>
                  <a:srgbClr val="1F6F5F"/>
                </a:solidFill>
                <a:latin typeface="Cambria" pitchFamily="34" charset="0"/>
                <a:ea typeface="Cambria" pitchFamily="34" charset="-122"/>
                <a:cs typeface="Cambria" pitchFamily="34" charset="-120"/>
              </a:rPr>
              <a:t>The one thing that drives everything</a:t>
            </a:r>
            <a:endParaRPr lang="en-US" sz="1500" dirty="0"/>
          </a:p>
        </p:txBody>
      </p:sp>
      <p:sp>
        <p:nvSpPr>
          <p:cNvPr id="36" name="Text 34"/>
          <p:cNvSpPr txBox="1"/>
          <p:nvPr/>
        </p:nvSpPr>
        <p:spPr>
          <a:xfrm>
            <a:off x="786384" y="4133088"/>
            <a:ext cx="7571232" cy="201168"/>
          </a:xfrm>
          <a:prstGeom prst="rect">
            <a:avLst/>
          </a:prstGeom>
          <a:noFill/>
          <a:ln/>
        </p:spPr>
        <p:txBody>
          <a:bodyPr wrap="square" lIns="0" tIns="0" rIns="0" bIns="0" rtlCol="0" anchor="t"/>
          <a:lstStyle/>
          <a:p>
            <a:pPr indent="0" marL="0">
              <a:lnSpc>
                <a:spcPct val="112000"/>
              </a:lnSpc>
              <a:buNone/>
            </a:pPr>
            <a:r>
              <a:rPr lang="en-US" sz="1200" dirty="0">
                <a:solidFill>
                  <a:srgbClr val="5D564B"/>
                </a:solidFill>
                <a:latin typeface="Calibri" pitchFamily="34" charset="0"/>
                <a:ea typeface="Calibri" pitchFamily="34" charset="-122"/>
                <a:cs typeface="Calibri" pitchFamily="34" charset="-120"/>
              </a:rPr>
              <a:t>Step 4 is the whole system. The rating is the only input the scheduler has, and every interval, priority and promotion downstream is computed from it. No timer and no AI judgement ever substitutes for it.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10896"/>
            <a:ext cx="8046720" cy="237744"/>
          </a:xfrm>
          <a:prstGeom prst="rect">
            <a:avLst/>
          </a:prstGeom>
          <a:noFill/>
          <a:ln/>
        </p:spPr>
        <p:txBody>
          <a:bodyPr wrap="square" lIns="0" tIns="0" rIns="0" bIns="0" rtlCol="0" anchor="ctr"/>
          <a:lstStyle/>
          <a:p>
            <a:pPr indent="0" marL="0">
              <a:buNone/>
            </a:pPr>
            <a:r>
              <a:rPr lang="en-US" sz="1100" b="1" spc="200" kern="0" dirty="0">
                <a:solidFill>
                  <a:srgbClr val="B8860B"/>
                </a:solidFill>
                <a:latin typeface="Calibri" pitchFamily="34" charset="0"/>
                <a:ea typeface="Calibri" pitchFamily="34" charset="-122"/>
                <a:cs typeface="Calibri" pitchFamily="34" charset="-120"/>
              </a:rPr>
              <a:t>PART D · THE ALGORITHM</a:t>
            </a:r>
            <a:endParaRPr lang="en-US" sz="1100" dirty="0"/>
          </a:p>
        </p:txBody>
      </p:sp>
      <p:sp>
        <p:nvSpPr>
          <p:cNvPr id="3" name="Text 1"/>
          <p:cNvSpPr txBox="1"/>
          <p:nvPr/>
        </p:nvSpPr>
        <p:spPr>
          <a:xfrm>
            <a:off x="548640" y="530352"/>
            <a:ext cx="8046720" cy="603504"/>
          </a:xfrm>
          <a:prstGeom prst="rect">
            <a:avLst/>
          </a:prstGeom>
          <a:noFill/>
          <a:ln/>
        </p:spPr>
        <p:txBody>
          <a:bodyPr wrap="square" lIns="0" tIns="0" rIns="0" bIns="0" rtlCol="0" anchor="ctr"/>
          <a:lstStyle/>
          <a:p>
            <a:pPr indent="0" marL="0">
              <a:buNone/>
            </a:pPr>
            <a:r>
              <a:rPr lang="en-US" sz="2900" b="1" dirty="0">
                <a:solidFill>
                  <a:srgbClr val="1F6F5F"/>
                </a:solidFill>
                <a:latin typeface="Cambria" pitchFamily="34" charset="0"/>
                <a:ea typeface="Cambria" pitchFamily="34" charset="-122"/>
                <a:cs typeface="Cambria" pitchFamily="34" charset="-120"/>
              </a:rPr>
              <a:t>The rating scale</a:t>
            </a:r>
            <a:endParaRPr lang="en-US" sz="2900" dirty="0"/>
          </a:p>
        </p:txBody>
      </p:sp>
      <p:sp>
        <p:nvSpPr>
          <p:cNvPr id="4" name="Text 2"/>
          <p:cNvSpPr txBox="1"/>
          <p:nvPr/>
        </p:nvSpPr>
        <p:spPr>
          <a:xfrm>
            <a:off x="548640" y="1152144"/>
            <a:ext cx="8046720" cy="310896"/>
          </a:xfrm>
          <a:prstGeom prst="rect">
            <a:avLst/>
          </a:prstGeom>
          <a:noFill/>
          <a:ln/>
        </p:spPr>
        <p:txBody>
          <a:bodyPr wrap="square" lIns="0" tIns="0" rIns="0" bIns="0" rtlCol="0" anchor="ctr"/>
          <a:lstStyle/>
          <a:p>
            <a:pPr indent="0" marL="0">
              <a:buNone/>
            </a:pPr>
            <a:r>
              <a:rPr lang="en-US" sz="1350" dirty="0">
                <a:solidFill>
                  <a:srgbClr val="5D564B"/>
                </a:solidFill>
                <a:latin typeface="Calibri" pitchFamily="34" charset="0"/>
                <a:ea typeface="Calibri" pitchFamily="34" charset="-122"/>
                <a:cs typeface="Calibri" pitchFamily="34" charset="-120"/>
              </a:rPr>
              <a:t>After each recitation you rate it from 0 to 5. The wording is deliberately about the recitation, not about you.</a:t>
            </a:r>
            <a:endParaRPr lang="en-US" sz="1350" dirty="0"/>
          </a:p>
        </p:txBody>
      </p:sp>
      <p:sp>
        <p:nvSpPr>
          <p:cNvPr id="5" name="Shape 3"/>
          <p:cNvSpPr/>
          <p:nvPr/>
        </p:nvSpPr>
        <p:spPr>
          <a:xfrm>
            <a:off x="548640" y="1627632"/>
            <a:ext cx="1234440" cy="1371600"/>
          </a:xfrm>
          <a:prstGeom prst="roundRect">
            <a:avLst>
              <a:gd name="adj" fmla="val 5926"/>
            </a:avLst>
          </a:prstGeom>
          <a:solidFill>
            <a:srgbClr val="FFFFFF"/>
          </a:solidFill>
          <a:ln w="19050">
            <a:solidFill>
              <a:srgbClr val="C0392B"/>
            </a:solidFill>
            <a:prstDash val="solid"/>
          </a:ln>
        </p:spPr>
      </p:sp>
      <p:sp>
        <p:nvSpPr>
          <p:cNvPr id="6" name="Text 4"/>
          <p:cNvSpPr txBox="1"/>
          <p:nvPr/>
        </p:nvSpPr>
        <p:spPr>
          <a:xfrm>
            <a:off x="548640" y="1737360"/>
            <a:ext cx="1234440" cy="457200"/>
          </a:xfrm>
          <a:prstGeom prst="rect">
            <a:avLst/>
          </a:prstGeom>
          <a:noFill/>
          <a:ln/>
        </p:spPr>
        <p:txBody>
          <a:bodyPr wrap="square" lIns="0" tIns="0" rIns="0" bIns="0" rtlCol="0" anchor="ctr"/>
          <a:lstStyle/>
          <a:p>
            <a:pPr algn="ctr" indent="0" marL="0">
              <a:buNone/>
            </a:pPr>
            <a:r>
              <a:rPr lang="en-US" sz="3000" b="1" dirty="0">
                <a:solidFill>
                  <a:srgbClr val="C0392B"/>
                </a:solidFill>
                <a:latin typeface="Cambria" pitchFamily="34" charset="0"/>
                <a:ea typeface="Cambria" pitchFamily="34" charset="-122"/>
                <a:cs typeface="Cambria" pitchFamily="34" charset="-120"/>
              </a:rPr>
              <a:t>0</a:t>
            </a:r>
            <a:endParaRPr lang="en-US" sz="3000" dirty="0"/>
          </a:p>
        </p:txBody>
      </p:sp>
      <p:sp>
        <p:nvSpPr>
          <p:cNvPr id="7" name="Text 5"/>
          <p:cNvSpPr txBox="1"/>
          <p:nvPr/>
        </p:nvSpPr>
        <p:spPr>
          <a:xfrm>
            <a:off x="594360" y="2212848"/>
            <a:ext cx="1143000" cy="274320"/>
          </a:xfrm>
          <a:prstGeom prst="rect">
            <a:avLst/>
          </a:prstGeom>
          <a:noFill/>
          <a:ln/>
        </p:spPr>
        <p:txBody>
          <a:bodyPr wrap="square" lIns="0" tIns="0" rIns="0" bIns="0" rtlCol="0" anchor="ctr"/>
          <a:lstStyle/>
          <a:p>
            <a:pPr algn="ctr" indent="0" marL="0">
              <a:buNone/>
            </a:pPr>
            <a:r>
              <a:rPr lang="en-US" sz="1150" b="1" dirty="0">
                <a:solidFill>
                  <a:srgbClr val="23201B"/>
                </a:solidFill>
                <a:latin typeface="Calibri" pitchFamily="34" charset="0"/>
                <a:ea typeface="Calibri" pitchFamily="34" charset="-122"/>
                <a:cs typeface="Calibri" pitchFamily="34" charset="-120"/>
              </a:rPr>
              <a:t>Blank</a:t>
            </a:r>
            <a:endParaRPr lang="en-US" sz="1150" dirty="0"/>
          </a:p>
        </p:txBody>
      </p:sp>
      <p:sp>
        <p:nvSpPr>
          <p:cNvPr id="8" name="Text 6"/>
          <p:cNvSpPr txBox="1"/>
          <p:nvPr/>
        </p:nvSpPr>
        <p:spPr>
          <a:xfrm>
            <a:off x="594360" y="2487168"/>
            <a:ext cx="1143000" cy="402336"/>
          </a:xfrm>
          <a:prstGeom prst="rect">
            <a:avLst/>
          </a:prstGeom>
          <a:noFill/>
          <a:ln/>
        </p:spPr>
        <p:txBody>
          <a:bodyPr wrap="square" lIns="0" tIns="0" rIns="0" bIns="0" rtlCol="0" anchor="ctr"/>
          <a:lstStyle/>
          <a:p>
            <a:pPr algn="ctr" indent="0" marL="0">
              <a:lnSpc>
                <a:spcPct val="105000"/>
              </a:lnSpc>
              <a:buNone/>
            </a:pPr>
            <a:r>
              <a:rPr lang="en-US" sz="950" dirty="0">
                <a:solidFill>
                  <a:srgbClr val="857C6D"/>
                </a:solidFill>
                <a:latin typeface="Calibri" pitchFamily="34" charset="0"/>
                <a:ea typeface="Calibri" pitchFamily="34" charset="-122"/>
                <a:cs typeface="Calibri" pitchFamily="34" charset="-120"/>
              </a:rPr>
              <a:t>Nothing came</a:t>
            </a:r>
            <a:endParaRPr lang="en-US" sz="950" dirty="0"/>
          </a:p>
        </p:txBody>
      </p:sp>
      <p:sp>
        <p:nvSpPr>
          <p:cNvPr id="9" name="Shape 7"/>
          <p:cNvSpPr/>
          <p:nvPr/>
        </p:nvSpPr>
        <p:spPr>
          <a:xfrm>
            <a:off x="1920240" y="1627632"/>
            <a:ext cx="1234440" cy="1371600"/>
          </a:xfrm>
          <a:prstGeom prst="roundRect">
            <a:avLst>
              <a:gd name="adj" fmla="val 5926"/>
            </a:avLst>
          </a:prstGeom>
          <a:solidFill>
            <a:srgbClr val="FFFFFF"/>
          </a:solidFill>
          <a:ln w="19050">
            <a:solidFill>
              <a:srgbClr val="C0392B"/>
            </a:solidFill>
            <a:prstDash val="solid"/>
          </a:ln>
        </p:spPr>
      </p:sp>
      <p:sp>
        <p:nvSpPr>
          <p:cNvPr id="10" name="Text 8"/>
          <p:cNvSpPr txBox="1"/>
          <p:nvPr/>
        </p:nvSpPr>
        <p:spPr>
          <a:xfrm>
            <a:off x="1920240" y="1737360"/>
            <a:ext cx="1234440" cy="457200"/>
          </a:xfrm>
          <a:prstGeom prst="rect">
            <a:avLst/>
          </a:prstGeom>
          <a:noFill/>
          <a:ln/>
        </p:spPr>
        <p:txBody>
          <a:bodyPr wrap="square" lIns="0" tIns="0" rIns="0" bIns="0" rtlCol="0" anchor="ctr"/>
          <a:lstStyle/>
          <a:p>
            <a:pPr algn="ctr" indent="0" marL="0">
              <a:buNone/>
            </a:pPr>
            <a:r>
              <a:rPr lang="en-US" sz="3000" b="1" dirty="0">
                <a:solidFill>
                  <a:srgbClr val="C0392B"/>
                </a:solidFill>
                <a:latin typeface="Cambria" pitchFamily="34" charset="0"/>
                <a:ea typeface="Cambria" pitchFamily="34" charset="-122"/>
                <a:cs typeface="Cambria" pitchFamily="34" charset="-120"/>
              </a:rPr>
              <a:t>1</a:t>
            </a:r>
            <a:endParaRPr lang="en-US" sz="3000" dirty="0"/>
          </a:p>
        </p:txBody>
      </p:sp>
      <p:sp>
        <p:nvSpPr>
          <p:cNvPr id="11" name="Text 9"/>
          <p:cNvSpPr txBox="1"/>
          <p:nvPr/>
        </p:nvSpPr>
        <p:spPr>
          <a:xfrm>
            <a:off x="1965960" y="2212848"/>
            <a:ext cx="1143000" cy="274320"/>
          </a:xfrm>
          <a:prstGeom prst="rect">
            <a:avLst/>
          </a:prstGeom>
          <a:noFill/>
          <a:ln/>
        </p:spPr>
        <p:txBody>
          <a:bodyPr wrap="square" lIns="0" tIns="0" rIns="0" bIns="0" rtlCol="0" anchor="ctr"/>
          <a:lstStyle/>
          <a:p>
            <a:pPr algn="ctr" indent="0" marL="0">
              <a:buNone/>
            </a:pPr>
            <a:r>
              <a:rPr lang="en-US" sz="1150" b="1" dirty="0">
                <a:solidFill>
                  <a:srgbClr val="23201B"/>
                </a:solidFill>
                <a:latin typeface="Calibri" pitchFamily="34" charset="0"/>
                <a:ea typeface="Calibri" pitchFamily="34" charset="-122"/>
                <a:cs typeface="Calibri" pitchFamily="34" charset="-120"/>
              </a:rPr>
              <a:t>Mostly lost</a:t>
            </a:r>
            <a:endParaRPr lang="en-US" sz="1150" dirty="0"/>
          </a:p>
        </p:txBody>
      </p:sp>
      <p:sp>
        <p:nvSpPr>
          <p:cNvPr id="12" name="Text 10"/>
          <p:cNvSpPr txBox="1"/>
          <p:nvPr/>
        </p:nvSpPr>
        <p:spPr>
          <a:xfrm>
            <a:off x="1965960" y="2487168"/>
            <a:ext cx="1143000" cy="402336"/>
          </a:xfrm>
          <a:prstGeom prst="rect">
            <a:avLst/>
          </a:prstGeom>
          <a:noFill/>
          <a:ln/>
        </p:spPr>
        <p:txBody>
          <a:bodyPr wrap="square" lIns="0" tIns="0" rIns="0" bIns="0" rtlCol="0" anchor="ctr"/>
          <a:lstStyle/>
          <a:p>
            <a:pPr algn="ctr" indent="0" marL="0">
              <a:lnSpc>
                <a:spcPct val="105000"/>
              </a:lnSpc>
              <a:buNone/>
            </a:pPr>
            <a:r>
              <a:rPr lang="en-US" sz="950" dirty="0">
                <a:solidFill>
                  <a:srgbClr val="857C6D"/>
                </a:solidFill>
                <a:latin typeface="Calibri" pitchFamily="34" charset="0"/>
                <a:ea typeface="Calibri" pitchFamily="34" charset="-122"/>
                <a:cs typeface="Calibri" pitchFamily="34" charset="-120"/>
              </a:rPr>
              <a:t>Only fragments</a:t>
            </a:r>
            <a:endParaRPr lang="en-US" sz="950" dirty="0"/>
          </a:p>
        </p:txBody>
      </p:sp>
      <p:sp>
        <p:nvSpPr>
          <p:cNvPr id="13" name="Shape 11"/>
          <p:cNvSpPr/>
          <p:nvPr/>
        </p:nvSpPr>
        <p:spPr>
          <a:xfrm>
            <a:off x="3291840" y="1627632"/>
            <a:ext cx="1234440" cy="1371600"/>
          </a:xfrm>
          <a:prstGeom prst="roundRect">
            <a:avLst>
              <a:gd name="adj" fmla="val 5926"/>
            </a:avLst>
          </a:prstGeom>
          <a:solidFill>
            <a:srgbClr val="FFFFFF"/>
          </a:solidFill>
          <a:ln w="19050">
            <a:solidFill>
              <a:srgbClr val="C0392B"/>
            </a:solidFill>
            <a:prstDash val="solid"/>
          </a:ln>
        </p:spPr>
      </p:sp>
      <p:sp>
        <p:nvSpPr>
          <p:cNvPr id="14" name="Text 12"/>
          <p:cNvSpPr txBox="1"/>
          <p:nvPr/>
        </p:nvSpPr>
        <p:spPr>
          <a:xfrm>
            <a:off x="3291840" y="1737360"/>
            <a:ext cx="1234440" cy="457200"/>
          </a:xfrm>
          <a:prstGeom prst="rect">
            <a:avLst/>
          </a:prstGeom>
          <a:noFill/>
          <a:ln/>
        </p:spPr>
        <p:txBody>
          <a:bodyPr wrap="square" lIns="0" tIns="0" rIns="0" bIns="0" rtlCol="0" anchor="ctr"/>
          <a:lstStyle/>
          <a:p>
            <a:pPr algn="ctr" indent="0" marL="0">
              <a:buNone/>
            </a:pPr>
            <a:r>
              <a:rPr lang="en-US" sz="3000" b="1" dirty="0">
                <a:solidFill>
                  <a:srgbClr val="C0392B"/>
                </a:solidFill>
                <a:latin typeface="Cambria" pitchFamily="34" charset="0"/>
                <a:ea typeface="Cambria" pitchFamily="34" charset="-122"/>
                <a:cs typeface="Cambria" pitchFamily="34" charset="-120"/>
              </a:rPr>
              <a:t>2</a:t>
            </a:r>
            <a:endParaRPr lang="en-US" sz="3000" dirty="0"/>
          </a:p>
        </p:txBody>
      </p:sp>
      <p:sp>
        <p:nvSpPr>
          <p:cNvPr id="15" name="Text 13"/>
          <p:cNvSpPr txBox="1"/>
          <p:nvPr/>
        </p:nvSpPr>
        <p:spPr>
          <a:xfrm>
            <a:off x="3337560" y="2212848"/>
            <a:ext cx="1143000" cy="274320"/>
          </a:xfrm>
          <a:prstGeom prst="rect">
            <a:avLst/>
          </a:prstGeom>
          <a:noFill/>
          <a:ln/>
        </p:spPr>
        <p:txBody>
          <a:bodyPr wrap="square" lIns="0" tIns="0" rIns="0" bIns="0" rtlCol="0" anchor="ctr"/>
          <a:lstStyle/>
          <a:p>
            <a:pPr algn="ctr" indent="0" marL="0">
              <a:buNone/>
            </a:pPr>
            <a:r>
              <a:rPr lang="en-US" sz="1150" b="1" dirty="0">
                <a:solidFill>
                  <a:srgbClr val="23201B"/>
                </a:solidFill>
                <a:latin typeface="Calibri" pitchFamily="34" charset="0"/>
                <a:ea typeface="Calibri" pitchFamily="34" charset="-122"/>
                <a:cs typeface="Calibri" pitchFamily="34" charset="-120"/>
              </a:rPr>
              <a:t>Many errors</a:t>
            </a:r>
            <a:endParaRPr lang="en-US" sz="1150" dirty="0"/>
          </a:p>
        </p:txBody>
      </p:sp>
      <p:sp>
        <p:nvSpPr>
          <p:cNvPr id="16" name="Text 14"/>
          <p:cNvSpPr txBox="1"/>
          <p:nvPr/>
        </p:nvSpPr>
        <p:spPr>
          <a:xfrm>
            <a:off x="3337560" y="2487168"/>
            <a:ext cx="1143000" cy="402336"/>
          </a:xfrm>
          <a:prstGeom prst="rect">
            <a:avLst/>
          </a:prstGeom>
          <a:noFill/>
          <a:ln/>
        </p:spPr>
        <p:txBody>
          <a:bodyPr wrap="square" lIns="0" tIns="0" rIns="0" bIns="0" rtlCol="0" anchor="ctr"/>
          <a:lstStyle/>
          <a:p>
            <a:pPr algn="ctr" indent="0" marL="0">
              <a:lnSpc>
                <a:spcPct val="105000"/>
              </a:lnSpc>
              <a:buNone/>
            </a:pPr>
            <a:r>
              <a:rPr lang="en-US" sz="950" dirty="0">
                <a:solidFill>
                  <a:srgbClr val="857C6D"/>
                </a:solidFill>
                <a:latin typeface="Calibri" pitchFamily="34" charset="0"/>
                <a:ea typeface="Calibri" pitchFamily="34" charset="-122"/>
                <a:cs typeface="Calibri" pitchFamily="34" charset="-120"/>
              </a:rPr>
              <a:t>Recited, but badly</a:t>
            </a:r>
            <a:endParaRPr lang="en-US" sz="950" dirty="0"/>
          </a:p>
        </p:txBody>
      </p:sp>
      <p:sp>
        <p:nvSpPr>
          <p:cNvPr id="17" name="Shape 15"/>
          <p:cNvSpPr/>
          <p:nvPr/>
        </p:nvSpPr>
        <p:spPr>
          <a:xfrm>
            <a:off x="4663440" y="1627632"/>
            <a:ext cx="1234440" cy="1371600"/>
          </a:xfrm>
          <a:prstGeom prst="roundRect">
            <a:avLst>
              <a:gd name="adj" fmla="val 5926"/>
            </a:avLst>
          </a:prstGeom>
          <a:solidFill>
            <a:srgbClr val="FFFFFF"/>
          </a:solidFill>
          <a:ln w="19050">
            <a:solidFill>
              <a:srgbClr val="B8860B"/>
            </a:solidFill>
            <a:prstDash val="solid"/>
          </a:ln>
        </p:spPr>
      </p:sp>
      <p:sp>
        <p:nvSpPr>
          <p:cNvPr id="18" name="Text 16"/>
          <p:cNvSpPr txBox="1"/>
          <p:nvPr/>
        </p:nvSpPr>
        <p:spPr>
          <a:xfrm>
            <a:off x="4663440" y="1737360"/>
            <a:ext cx="1234440" cy="457200"/>
          </a:xfrm>
          <a:prstGeom prst="rect">
            <a:avLst/>
          </a:prstGeom>
          <a:noFill/>
          <a:ln/>
        </p:spPr>
        <p:txBody>
          <a:bodyPr wrap="square" lIns="0" tIns="0" rIns="0" bIns="0" rtlCol="0" anchor="ctr"/>
          <a:lstStyle/>
          <a:p>
            <a:pPr algn="ctr" indent="0" marL="0">
              <a:buNone/>
            </a:pPr>
            <a:r>
              <a:rPr lang="en-US" sz="3000" b="1" dirty="0">
                <a:solidFill>
                  <a:srgbClr val="B8860B"/>
                </a:solidFill>
                <a:latin typeface="Cambria" pitchFamily="34" charset="0"/>
                <a:ea typeface="Cambria" pitchFamily="34" charset="-122"/>
                <a:cs typeface="Cambria" pitchFamily="34" charset="-120"/>
              </a:rPr>
              <a:t>3</a:t>
            </a:r>
            <a:endParaRPr lang="en-US" sz="3000" dirty="0"/>
          </a:p>
        </p:txBody>
      </p:sp>
      <p:sp>
        <p:nvSpPr>
          <p:cNvPr id="19" name="Text 17"/>
          <p:cNvSpPr txBox="1"/>
          <p:nvPr/>
        </p:nvSpPr>
        <p:spPr>
          <a:xfrm>
            <a:off x="4709160" y="2212848"/>
            <a:ext cx="1143000" cy="274320"/>
          </a:xfrm>
          <a:prstGeom prst="rect">
            <a:avLst/>
          </a:prstGeom>
          <a:noFill/>
          <a:ln/>
        </p:spPr>
        <p:txBody>
          <a:bodyPr wrap="square" lIns="0" tIns="0" rIns="0" bIns="0" rtlCol="0" anchor="ctr"/>
          <a:lstStyle/>
          <a:p>
            <a:pPr algn="ctr" indent="0" marL="0">
              <a:buNone/>
            </a:pPr>
            <a:r>
              <a:rPr lang="en-US" sz="1150" b="1" dirty="0">
                <a:solidFill>
                  <a:srgbClr val="23201B"/>
                </a:solidFill>
                <a:latin typeface="Calibri" pitchFamily="34" charset="0"/>
                <a:ea typeface="Calibri" pitchFamily="34" charset="-122"/>
                <a:cs typeface="Calibri" pitchFamily="34" charset="-120"/>
              </a:rPr>
              <a:t>Hesitant</a:t>
            </a:r>
            <a:endParaRPr lang="en-US" sz="1150" dirty="0"/>
          </a:p>
        </p:txBody>
      </p:sp>
      <p:sp>
        <p:nvSpPr>
          <p:cNvPr id="20" name="Text 18"/>
          <p:cNvSpPr txBox="1"/>
          <p:nvPr/>
        </p:nvSpPr>
        <p:spPr>
          <a:xfrm>
            <a:off x="4709160" y="2487168"/>
            <a:ext cx="1143000" cy="402336"/>
          </a:xfrm>
          <a:prstGeom prst="rect">
            <a:avLst/>
          </a:prstGeom>
          <a:noFill/>
          <a:ln/>
        </p:spPr>
        <p:txBody>
          <a:bodyPr wrap="square" lIns="0" tIns="0" rIns="0" bIns="0" rtlCol="0" anchor="ctr"/>
          <a:lstStyle/>
          <a:p>
            <a:pPr algn="ctr" indent="0" marL="0">
              <a:lnSpc>
                <a:spcPct val="105000"/>
              </a:lnSpc>
              <a:buNone/>
            </a:pPr>
            <a:r>
              <a:rPr lang="en-US" sz="950" dirty="0">
                <a:solidFill>
                  <a:srgbClr val="857C6D"/>
                </a:solidFill>
                <a:latin typeface="Calibri" pitchFamily="34" charset="0"/>
                <a:ea typeface="Calibri" pitchFamily="34" charset="-122"/>
                <a:cs typeface="Calibri" pitchFamily="34" charset="-120"/>
              </a:rPr>
              <a:t>Got through it, slowly</a:t>
            </a:r>
            <a:endParaRPr lang="en-US" sz="950" dirty="0"/>
          </a:p>
        </p:txBody>
      </p:sp>
      <p:sp>
        <p:nvSpPr>
          <p:cNvPr id="21" name="Shape 19"/>
          <p:cNvSpPr/>
          <p:nvPr/>
        </p:nvSpPr>
        <p:spPr>
          <a:xfrm>
            <a:off x="6035040" y="1627632"/>
            <a:ext cx="1234440" cy="1371600"/>
          </a:xfrm>
          <a:prstGeom prst="roundRect">
            <a:avLst>
              <a:gd name="adj" fmla="val 5926"/>
            </a:avLst>
          </a:prstGeom>
          <a:solidFill>
            <a:srgbClr val="FFFFFF"/>
          </a:solidFill>
          <a:ln w="19050">
            <a:solidFill>
              <a:srgbClr val="1F6F5F"/>
            </a:solidFill>
            <a:prstDash val="solid"/>
          </a:ln>
        </p:spPr>
      </p:sp>
      <p:sp>
        <p:nvSpPr>
          <p:cNvPr id="22" name="Text 20"/>
          <p:cNvSpPr txBox="1"/>
          <p:nvPr/>
        </p:nvSpPr>
        <p:spPr>
          <a:xfrm>
            <a:off x="6035040" y="1737360"/>
            <a:ext cx="1234440" cy="457200"/>
          </a:xfrm>
          <a:prstGeom prst="rect">
            <a:avLst/>
          </a:prstGeom>
          <a:noFill/>
          <a:ln/>
        </p:spPr>
        <p:txBody>
          <a:bodyPr wrap="square" lIns="0" tIns="0" rIns="0" bIns="0" rtlCol="0" anchor="ctr"/>
          <a:lstStyle/>
          <a:p>
            <a:pPr algn="ctr" indent="0" marL="0">
              <a:buNone/>
            </a:pPr>
            <a:r>
              <a:rPr lang="en-US" sz="3000" b="1" dirty="0">
                <a:solidFill>
                  <a:srgbClr val="1F6F5F"/>
                </a:solidFill>
                <a:latin typeface="Cambria" pitchFamily="34" charset="0"/>
                <a:ea typeface="Cambria" pitchFamily="34" charset="-122"/>
                <a:cs typeface="Cambria" pitchFamily="34" charset="-120"/>
              </a:rPr>
              <a:t>4</a:t>
            </a:r>
            <a:endParaRPr lang="en-US" sz="3000" dirty="0"/>
          </a:p>
        </p:txBody>
      </p:sp>
      <p:sp>
        <p:nvSpPr>
          <p:cNvPr id="23" name="Text 21"/>
          <p:cNvSpPr txBox="1"/>
          <p:nvPr/>
        </p:nvSpPr>
        <p:spPr>
          <a:xfrm>
            <a:off x="6080760" y="2212848"/>
            <a:ext cx="1143000" cy="274320"/>
          </a:xfrm>
          <a:prstGeom prst="rect">
            <a:avLst/>
          </a:prstGeom>
          <a:noFill/>
          <a:ln/>
        </p:spPr>
        <p:txBody>
          <a:bodyPr wrap="square" lIns="0" tIns="0" rIns="0" bIns="0" rtlCol="0" anchor="ctr"/>
          <a:lstStyle/>
          <a:p>
            <a:pPr algn="ctr" indent="0" marL="0">
              <a:buNone/>
            </a:pPr>
            <a:r>
              <a:rPr lang="en-US" sz="1150" b="1" dirty="0">
                <a:solidFill>
                  <a:srgbClr val="23201B"/>
                </a:solidFill>
                <a:latin typeface="Calibri" pitchFamily="34" charset="0"/>
                <a:ea typeface="Calibri" pitchFamily="34" charset="-122"/>
                <a:cs typeface="Calibri" pitchFamily="34" charset="-120"/>
              </a:rPr>
              <a:t>Minor slips</a:t>
            </a:r>
            <a:endParaRPr lang="en-US" sz="1150" dirty="0"/>
          </a:p>
        </p:txBody>
      </p:sp>
      <p:sp>
        <p:nvSpPr>
          <p:cNvPr id="24" name="Text 22"/>
          <p:cNvSpPr txBox="1"/>
          <p:nvPr/>
        </p:nvSpPr>
        <p:spPr>
          <a:xfrm>
            <a:off x="6080760" y="2487168"/>
            <a:ext cx="1143000" cy="402336"/>
          </a:xfrm>
          <a:prstGeom prst="rect">
            <a:avLst/>
          </a:prstGeom>
          <a:noFill/>
          <a:ln/>
        </p:spPr>
        <p:txBody>
          <a:bodyPr wrap="square" lIns="0" tIns="0" rIns="0" bIns="0" rtlCol="0" anchor="ctr"/>
          <a:lstStyle/>
          <a:p>
            <a:pPr algn="ctr" indent="0" marL="0">
              <a:lnSpc>
                <a:spcPct val="105000"/>
              </a:lnSpc>
              <a:buNone/>
            </a:pPr>
            <a:r>
              <a:rPr lang="en-US" sz="950" dirty="0">
                <a:solidFill>
                  <a:srgbClr val="857C6D"/>
                </a:solidFill>
                <a:latin typeface="Calibri" pitchFamily="34" charset="0"/>
                <a:ea typeface="Calibri" pitchFamily="34" charset="-122"/>
                <a:cs typeface="Calibri" pitchFamily="34" charset="-120"/>
              </a:rPr>
              <a:t>Solid, a stumble or two</a:t>
            </a:r>
            <a:endParaRPr lang="en-US" sz="950" dirty="0"/>
          </a:p>
        </p:txBody>
      </p:sp>
      <p:sp>
        <p:nvSpPr>
          <p:cNvPr id="25" name="Shape 23"/>
          <p:cNvSpPr/>
          <p:nvPr/>
        </p:nvSpPr>
        <p:spPr>
          <a:xfrm>
            <a:off x="7406640" y="1627632"/>
            <a:ext cx="1234440" cy="1371600"/>
          </a:xfrm>
          <a:prstGeom prst="roundRect">
            <a:avLst>
              <a:gd name="adj" fmla="val 5926"/>
            </a:avLst>
          </a:prstGeom>
          <a:solidFill>
            <a:srgbClr val="FFFFFF"/>
          </a:solidFill>
          <a:ln w="19050">
            <a:solidFill>
              <a:srgbClr val="1F6F5F"/>
            </a:solidFill>
            <a:prstDash val="solid"/>
          </a:ln>
        </p:spPr>
      </p:sp>
      <p:sp>
        <p:nvSpPr>
          <p:cNvPr id="26" name="Text 24"/>
          <p:cNvSpPr txBox="1"/>
          <p:nvPr/>
        </p:nvSpPr>
        <p:spPr>
          <a:xfrm>
            <a:off x="7406640" y="1737360"/>
            <a:ext cx="1234440" cy="457200"/>
          </a:xfrm>
          <a:prstGeom prst="rect">
            <a:avLst/>
          </a:prstGeom>
          <a:noFill/>
          <a:ln/>
        </p:spPr>
        <p:txBody>
          <a:bodyPr wrap="square" lIns="0" tIns="0" rIns="0" bIns="0" rtlCol="0" anchor="ctr"/>
          <a:lstStyle/>
          <a:p>
            <a:pPr algn="ctr" indent="0" marL="0">
              <a:buNone/>
            </a:pPr>
            <a:r>
              <a:rPr lang="en-US" sz="3000" b="1" dirty="0">
                <a:solidFill>
                  <a:srgbClr val="1F6F5F"/>
                </a:solidFill>
                <a:latin typeface="Cambria" pitchFamily="34" charset="0"/>
                <a:ea typeface="Cambria" pitchFamily="34" charset="-122"/>
                <a:cs typeface="Cambria" pitchFamily="34" charset="-120"/>
              </a:rPr>
              <a:t>5</a:t>
            </a:r>
            <a:endParaRPr lang="en-US" sz="3000" dirty="0"/>
          </a:p>
        </p:txBody>
      </p:sp>
      <p:sp>
        <p:nvSpPr>
          <p:cNvPr id="27" name="Text 25"/>
          <p:cNvSpPr txBox="1"/>
          <p:nvPr/>
        </p:nvSpPr>
        <p:spPr>
          <a:xfrm>
            <a:off x="7452360" y="2212848"/>
            <a:ext cx="1143000" cy="274320"/>
          </a:xfrm>
          <a:prstGeom prst="rect">
            <a:avLst/>
          </a:prstGeom>
          <a:noFill/>
          <a:ln/>
        </p:spPr>
        <p:txBody>
          <a:bodyPr wrap="square" lIns="0" tIns="0" rIns="0" bIns="0" rtlCol="0" anchor="ctr"/>
          <a:lstStyle/>
          <a:p>
            <a:pPr algn="ctr" indent="0" marL="0">
              <a:buNone/>
            </a:pPr>
            <a:r>
              <a:rPr lang="en-US" sz="1150" b="1" dirty="0">
                <a:solidFill>
                  <a:srgbClr val="23201B"/>
                </a:solidFill>
                <a:latin typeface="Calibri" pitchFamily="34" charset="0"/>
                <a:ea typeface="Calibri" pitchFamily="34" charset="-122"/>
                <a:cs typeface="Calibri" pitchFamily="34" charset="-120"/>
              </a:rPr>
              <a:t>Flawless</a:t>
            </a:r>
            <a:endParaRPr lang="en-US" sz="1150" dirty="0"/>
          </a:p>
        </p:txBody>
      </p:sp>
      <p:sp>
        <p:nvSpPr>
          <p:cNvPr id="28" name="Text 26"/>
          <p:cNvSpPr txBox="1"/>
          <p:nvPr/>
        </p:nvSpPr>
        <p:spPr>
          <a:xfrm>
            <a:off x="7452360" y="2487168"/>
            <a:ext cx="1143000" cy="402336"/>
          </a:xfrm>
          <a:prstGeom prst="rect">
            <a:avLst/>
          </a:prstGeom>
          <a:noFill/>
          <a:ln/>
        </p:spPr>
        <p:txBody>
          <a:bodyPr wrap="square" lIns="0" tIns="0" rIns="0" bIns="0" rtlCol="0" anchor="ctr"/>
          <a:lstStyle/>
          <a:p>
            <a:pPr algn="ctr" indent="0" marL="0">
              <a:lnSpc>
                <a:spcPct val="105000"/>
              </a:lnSpc>
              <a:buNone/>
            </a:pPr>
            <a:r>
              <a:rPr lang="en-US" sz="950" dirty="0">
                <a:solidFill>
                  <a:srgbClr val="857C6D"/>
                </a:solidFill>
                <a:latin typeface="Calibri" pitchFamily="34" charset="0"/>
                <a:ea typeface="Calibri" pitchFamily="34" charset="-122"/>
                <a:cs typeface="Calibri" pitchFamily="34" charset="-120"/>
              </a:rPr>
              <a:t>Clean from memory</a:t>
            </a:r>
            <a:endParaRPr lang="en-US" sz="950" dirty="0"/>
          </a:p>
        </p:txBody>
      </p:sp>
      <p:sp>
        <p:nvSpPr>
          <p:cNvPr id="29" name="Shape 27"/>
          <p:cNvSpPr/>
          <p:nvPr/>
        </p:nvSpPr>
        <p:spPr>
          <a:xfrm>
            <a:off x="548640" y="3163824"/>
            <a:ext cx="2606040" cy="402336"/>
          </a:xfrm>
          <a:prstGeom prst="roundRect">
            <a:avLst>
              <a:gd name="adj" fmla="val 45455"/>
            </a:avLst>
          </a:prstGeom>
          <a:solidFill>
            <a:srgbClr val="C0392B"/>
          </a:solidFill>
          <a:ln/>
        </p:spPr>
      </p:sp>
      <p:sp>
        <p:nvSpPr>
          <p:cNvPr id="30" name="Text 28"/>
          <p:cNvSpPr txBox="1"/>
          <p:nvPr/>
        </p:nvSpPr>
        <p:spPr>
          <a:xfrm>
            <a:off x="548640" y="3246120"/>
            <a:ext cx="2606040" cy="2743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0–2  ·  lapse</a:t>
            </a:r>
            <a:endParaRPr lang="en-US" sz="1250" dirty="0"/>
          </a:p>
        </p:txBody>
      </p:sp>
      <p:sp>
        <p:nvSpPr>
          <p:cNvPr id="31" name="Shape 29"/>
          <p:cNvSpPr/>
          <p:nvPr/>
        </p:nvSpPr>
        <p:spPr>
          <a:xfrm>
            <a:off x="3291840" y="3163824"/>
            <a:ext cx="1234440" cy="402336"/>
          </a:xfrm>
          <a:prstGeom prst="roundRect">
            <a:avLst>
              <a:gd name="adj" fmla="val 45455"/>
            </a:avLst>
          </a:prstGeom>
          <a:solidFill>
            <a:srgbClr val="B8860B"/>
          </a:solidFill>
          <a:ln/>
        </p:spPr>
      </p:sp>
      <p:sp>
        <p:nvSpPr>
          <p:cNvPr id="32" name="Text 30"/>
          <p:cNvSpPr txBox="1"/>
          <p:nvPr/>
        </p:nvSpPr>
        <p:spPr>
          <a:xfrm>
            <a:off x="3291840" y="3246120"/>
            <a:ext cx="1234440" cy="2743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  ·  hold</a:t>
            </a:r>
            <a:endParaRPr lang="en-US" sz="1250" dirty="0"/>
          </a:p>
        </p:txBody>
      </p:sp>
      <p:sp>
        <p:nvSpPr>
          <p:cNvPr id="33" name="Shape 31"/>
          <p:cNvSpPr/>
          <p:nvPr/>
        </p:nvSpPr>
        <p:spPr>
          <a:xfrm>
            <a:off x="4663440" y="3163824"/>
            <a:ext cx="3931920" cy="402336"/>
          </a:xfrm>
          <a:prstGeom prst="roundRect">
            <a:avLst>
              <a:gd name="adj" fmla="val 45455"/>
            </a:avLst>
          </a:prstGeom>
          <a:solidFill>
            <a:srgbClr val="1F6F5F"/>
          </a:solidFill>
          <a:ln/>
        </p:spPr>
      </p:sp>
      <p:sp>
        <p:nvSpPr>
          <p:cNvPr id="34" name="Text 32"/>
          <p:cNvSpPr txBox="1"/>
          <p:nvPr/>
        </p:nvSpPr>
        <p:spPr>
          <a:xfrm>
            <a:off x="4663440" y="3246120"/>
            <a:ext cx="3931920" cy="2743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4–5  ·  advance</a:t>
            </a:r>
            <a:endParaRPr lang="en-US" sz="1250" dirty="0"/>
          </a:p>
        </p:txBody>
      </p:sp>
      <p:sp>
        <p:nvSpPr>
          <p:cNvPr id="35" name="Text 33"/>
          <p:cNvSpPr txBox="1"/>
          <p:nvPr/>
        </p:nvSpPr>
        <p:spPr>
          <a:xfrm>
            <a:off x="548640" y="3749040"/>
            <a:ext cx="8046720" cy="310896"/>
          </a:xfrm>
          <a:prstGeom prst="rect">
            <a:avLst/>
          </a:prstGeom>
          <a:noFill/>
          <a:ln/>
        </p:spPr>
        <p:txBody>
          <a:bodyPr wrap="square" lIns="0" tIns="0" rIns="0" bIns="0" rtlCol="0" anchor="ctr"/>
          <a:lstStyle/>
          <a:p>
            <a:pPr indent="0" marL="0">
              <a:buNone/>
            </a:pPr>
            <a:r>
              <a:rPr lang="en-US" sz="1300" b="1" dirty="0">
                <a:solidFill>
                  <a:srgbClr val="14453C"/>
                </a:solidFill>
                <a:latin typeface="Calibri" pitchFamily="34" charset="0"/>
                <a:ea typeface="Calibri" pitchFamily="34" charset="-122"/>
                <a:cs typeface="Calibri" pitchFamily="34" charset="-120"/>
              </a:rPr>
              <a:t>Three bands, three behaviours. Everything on the following slides is one of these three branches.</a:t>
            </a:r>
            <a:endParaRPr lang="en-US" sz="1300" dirty="0"/>
          </a:p>
        </p:txBody>
      </p:sp>
      <p:sp>
        <p:nvSpPr>
          <p:cNvPr id="36" name="Text 34"/>
          <p:cNvSpPr txBox="1"/>
          <p:nvPr/>
        </p:nvSpPr>
        <p:spPr>
          <a:xfrm>
            <a:off x="548640" y="4160520"/>
            <a:ext cx="8046720" cy="365760"/>
          </a:xfrm>
          <a:prstGeom prst="rect">
            <a:avLst/>
          </a:prstGeom>
          <a:noFill/>
          <a:ln/>
        </p:spPr>
        <p:txBody>
          <a:bodyPr wrap="square" lIns="0" tIns="0" rIns="0" bIns="0" rtlCol="0" anchor="ctr"/>
          <a:lstStyle/>
          <a:p>
            <a:pPr indent="0" marL="0">
              <a:buNone/>
            </a:pPr>
            <a:r>
              <a:rPr lang="en-US" sz="1050" i="1" dirty="0">
                <a:solidFill>
                  <a:srgbClr val="857C6D"/>
                </a:solidFill>
                <a:latin typeface="Calibri" pitchFamily="34" charset="0"/>
                <a:ea typeface="Calibri" pitchFamily="34" charset="-122"/>
                <a:cs typeface="Calibri" pitchFamily="34" charset="-120"/>
              </a:rPr>
              <a:t>A 3 is not a failure — it is the app being told the page is holding but has not grown stronger, so the same interval repeats.</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10896"/>
            <a:ext cx="8046720" cy="237744"/>
          </a:xfrm>
          <a:prstGeom prst="rect">
            <a:avLst/>
          </a:prstGeom>
          <a:noFill/>
          <a:ln/>
        </p:spPr>
        <p:txBody>
          <a:bodyPr wrap="square" lIns="0" tIns="0" rIns="0" bIns="0" rtlCol="0" anchor="ctr"/>
          <a:lstStyle/>
          <a:p>
            <a:pPr indent="0" marL="0">
              <a:buNone/>
            </a:pPr>
            <a:r>
              <a:rPr lang="en-US" sz="1100" b="1" spc="200" kern="0" dirty="0">
                <a:solidFill>
                  <a:srgbClr val="B8860B"/>
                </a:solidFill>
                <a:latin typeface="Calibri" pitchFamily="34" charset="0"/>
                <a:ea typeface="Calibri" pitchFamily="34" charset="-122"/>
                <a:cs typeface="Calibri" pitchFamily="34" charset="-120"/>
              </a:rPr>
              <a:t>PART D · THE ALGORITHM</a:t>
            </a:r>
            <a:endParaRPr lang="en-US" sz="1100" dirty="0"/>
          </a:p>
        </p:txBody>
      </p:sp>
      <p:sp>
        <p:nvSpPr>
          <p:cNvPr id="3" name="Text 1"/>
          <p:cNvSpPr txBox="1"/>
          <p:nvPr/>
        </p:nvSpPr>
        <p:spPr>
          <a:xfrm>
            <a:off x="548640" y="530352"/>
            <a:ext cx="8046720" cy="603504"/>
          </a:xfrm>
          <a:prstGeom prst="rect">
            <a:avLst/>
          </a:prstGeom>
          <a:noFill/>
          <a:ln/>
        </p:spPr>
        <p:txBody>
          <a:bodyPr wrap="square" lIns="0" tIns="0" rIns="0" bIns="0" rtlCol="0" anchor="ctr"/>
          <a:lstStyle/>
          <a:p>
            <a:pPr indent="0" marL="0">
              <a:buNone/>
            </a:pPr>
            <a:r>
              <a:rPr lang="en-US" sz="2900" b="1" dirty="0">
                <a:solidFill>
                  <a:srgbClr val="1F6F5F"/>
                </a:solidFill>
                <a:latin typeface="Cambria" pitchFamily="34" charset="0"/>
                <a:ea typeface="Cambria" pitchFamily="34" charset="-122"/>
                <a:cs typeface="Cambria" pitchFamily="34" charset="-120"/>
              </a:rPr>
              <a:t>The ladder: 1 · 3 · 7 · 14 · 30</a:t>
            </a:r>
            <a:endParaRPr lang="en-US" sz="2900" dirty="0"/>
          </a:p>
        </p:txBody>
      </p:sp>
      <p:sp>
        <p:nvSpPr>
          <p:cNvPr id="4" name="Text 2"/>
          <p:cNvSpPr txBox="1"/>
          <p:nvPr/>
        </p:nvSpPr>
        <p:spPr>
          <a:xfrm>
            <a:off x="548640" y="1133856"/>
            <a:ext cx="8046720" cy="548640"/>
          </a:xfrm>
          <a:prstGeom prst="rect">
            <a:avLst/>
          </a:prstGeom>
          <a:noFill/>
          <a:ln/>
        </p:spPr>
        <p:txBody>
          <a:bodyPr wrap="square" lIns="0" tIns="0" rIns="0" bIns="0" rtlCol="0" anchor="ctr"/>
          <a:lstStyle/>
          <a:p>
            <a:pPr indent="0" marL="0">
              <a:lnSpc>
                <a:spcPct val="120000"/>
              </a:lnSpc>
              <a:buNone/>
            </a:pPr>
            <a:r>
              <a:rPr lang="en-US" sz="1350" dirty="0">
                <a:solidFill>
                  <a:srgbClr val="5D564B"/>
                </a:solidFill>
                <a:latin typeface="Calibri" pitchFamily="34" charset="0"/>
                <a:ea typeface="Calibri" pitchFamily="34" charset="-122"/>
                <a:cs typeface="Calibri" pitchFamily="34" charset="-120"/>
              </a:rPr>
              <a:t>A page that has just been memorised enters the ladder. Each rung is earned by a good recitation (4 or 5) —</a:t>
            </a:r>
            <a:endParaRPr lang="en-US" sz="1350" dirty="0"/>
          </a:p>
          <a:p>
            <a:pPr indent="0" marL="0">
              <a:lnSpc>
                <a:spcPct val="120000"/>
              </a:lnSpc>
              <a:buNone/>
            </a:pPr>
            <a:r>
              <a:rPr lang="en-US" sz="1350" dirty="0">
                <a:solidFill>
                  <a:srgbClr val="5D564B"/>
                </a:solidFill>
                <a:latin typeface="Calibri" pitchFamily="34" charset="0"/>
                <a:ea typeface="Calibri" pitchFamily="34" charset="-122"/>
                <a:cs typeface="Calibri" pitchFamily="34" charset="-120"/>
              </a:rPr>
              <a:t>never by the calendar alone. A page that is not recited well simply does not climb.</a:t>
            </a:r>
            <a:endParaRPr lang="en-US" sz="1350" dirty="0"/>
          </a:p>
        </p:txBody>
      </p:sp>
      <p:sp>
        <p:nvSpPr>
          <p:cNvPr id="5" name="Shape 3"/>
          <p:cNvSpPr/>
          <p:nvPr/>
        </p:nvSpPr>
        <p:spPr>
          <a:xfrm>
            <a:off x="548640" y="1828800"/>
            <a:ext cx="1207008" cy="786384"/>
          </a:xfrm>
          <a:prstGeom prst="roundRect">
            <a:avLst>
              <a:gd name="adj" fmla="val 9302"/>
            </a:avLst>
          </a:prstGeom>
          <a:solidFill>
            <a:srgbClr val="14453C"/>
          </a:solidFill>
          <a:ln/>
        </p:spPr>
      </p:sp>
      <p:sp>
        <p:nvSpPr>
          <p:cNvPr id="6" name="Text 4"/>
          <p:cNvSpPr txBox="1"/>
          <p:nvPr/>
        </p:nvSpPr>
        <p:spPr>
          <a:xfrm>
            <a:off x="548640" y="1956816"/>
            <a:ext cx="1207008" cy="292608"/>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Complete</a:t>
            </a:r>
            <a:endParaRPr lang="en-US" sz="1350" dirty="0"/>
          </a:p>
        </p:txBody>
      </p:sp>
      <p:sp>
        <p:nvSpPr>
          <p:cNvPr id="7" name="Text 5"/>
          <p:cNvSpPr txBox="1"/>
          <p:nvPr/>
        </p:nvSpPr>
        <p:spPr>
          <a:xfrm>
            <a:off x="548640" y="2249424"/>
            <a:ext cx="1207008" cy="256032"/>
          </a:xfrm>
          <a:prstGeom prst="rect">
            <a:avLst/>
          </a:prstGeom>
          <a:noFill/>
          <a:ln/>
        </p:spPr>
        <p:txBody>
          <a:bodyPr wrap="square" lIns="0" tIns="0" rIns="0" bIns="0" rtlCol="0" anchor="ctr"/>
          <a:lstStyle/>
          <a:p>
            <a:pPr algn="ctr" indent="0" marL="0">
              <a:buNone/>
            </a:pPr>
            <a:r>
              <a:rPr lang="en-US" sz="1000" dirty="0">
                <a:solidFill>
                  <a:srgbClr val="DCEAE5"/>
                </a:solidFill>
                <a:latin typeface="Calibri" pitchFamily="34" charset="0"/>
                <a:ea typeface="Calibri" pitchFamily="34" charset="-122"/>
                <a:cs typeface="Calibri" pitchFamily="34" charset="-120"/>
              </a:rPr>
              <a:t>day 0</a:t>
            </a:r>
            <a:endParaRPr lang="en-US" sz="1000" dirty="0"/>
          </a:p>
        </p:txBody>
      </p:sp>
      <p:sp>
        <p:nvSpPr>
          <p:cNvPr id="8" name="Shape 6"/>
          <p:cNvSpPr/>
          <p:nvPr/>
        </p:nvSpPr>
        <p:spPr>
          <a:xfrm>
            <a:off x="1792224" y="2121408"/>
            <a:ext cx="109728" cy="201168"/>
          </a:xfrm>
          <a:prstGeom prst="rightArrow">
            <a:avLst/>
          </a:prstGeom>
          <a:solidFill>
            <a:srgbClr val="E2D9C8"/>
          </a:solidFill>
          <a:ln/>
        </p:spPr>
      </p:sp>
      <p:sp>
        <p:nvSpPr>
          <p:cNvPr id="9" name="Shape 7"/>
          <p:cNvSpPr/>
          <p:nvPr/>
        </p:nvSpPr>
        <p:spPr>
          <a:xfrm>
            <a:off x="1920240" y="1828800"/>
            <a:ext cx="1207008" cy="786384"/>
          </a:xfrm>
          <a:prstGeom prst="roundRect">
            <a:avLst>
              <a:gd name="adj" fmla="val 9302"/>
            </a:avLst>
          </a:prstGeom>
          <a:solidFill>
            <a:srgbClr val="1F6F5F"/>
          </a:solidFill>
          <a:ln/>
        </p:spPr>
      </p:sp>
      <p:sp>
        <p:nvSpPr>
          <p:cNvPr id="10" name="Text 8"/>
          <p:cNvSpPr txBox="1"/>
          <p:nvPr/>
        </p:nvSpPr>
        <p:spPr>
          <a:xfrm>
            <a:off x="1920240" y="1956816"/>
            <a:ext cx="1207008" cy="292608"/>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+1 day</a:t>
            </a:r>
            <a:endParaRPr lang="en-US" sz="1350" dirty="0"/>
          </a:p>
        </p:txBody>
      </p:sp>
      <p:sp>
        <p:nvSpPr>
          <p:cNvPr id="11" name="Text 9"/>
          <p:cNvSpPr txBox="1"/>
          <p:nvPr/>
        </p:nvSpPr>
        <p:spPr>
          <a:xfrm>
            <a:off x="1920240" y="2249424"/>
            <a:ext cx="1207008" cy="256032"/>
          </a:xfrm>
          <a:prstGeom prst="rect">
            <a:avLst/>
          </a:prstGeom>
          <a:noFill/>
          <a:ln/>
        </p:spPr>
        <p:txBody>
          <a:bodyPr wrap="square" lIns="0" tIns="0" rIns="0" bIns="0" rtlCol="0" anchor="ctr"/>
          <a:lstStyle/>
          <a:p>
            <a:pPr algn="ctr" indent="0" marL="0">
              <a:buNone/>
            </a:pPr>
            <a:r>
              <a:rPr lang="en-US" sz="1000" dirty="0">
                <a:solidFill>
                  <a:srgbClr val="DCEAE5"/>
                </a:solidFill>
                <a:latin typeface="Calibri" pitchFamily="34" charset="0"/>
                <a:ea typeface="Calibri" pitchFamily="34" charset="-122"/>
                <a:cs typeface="Calibri" pitchFamily="34" charset="-120"/>
              </a:rPr>
              <a:t>day 1</a:t>
            </a:r>
            <a:endParaRPr lang="en-US" sz="1000" dirty="0"/>
          </a:p>
        </p:txBody>
      </p:sp>
      <p:sp>
        <p:nvSpPr>
          <p:cNvPr id="12" name="Shape 10"/>
          <p:cNvSpPr/>
          <p:nvPr/>
        </p:nvSpPr>
        <p:spPr>
          <a:xfrm>
            <a:off x="3163824" y="2121408"/>
            <a:ext cx="109728" cy="201168"/>
          </a:xfrm>
          <a:prstGeom prst="rightArrow">
            <a:avLst/>
          </a:prstGeom>
          <a:solidFill>
            <a:srgbClr val="E2D9C8"/>
          </a:solidFill>
          <a:ln/>
        </p:spPr>
      </p:sp>
      <p:sp>
        <p:nvSpPr>
          <p:cNvPr id="13" name="Shape 11"/>
          <p:cNvSpPr/>
          <p:nvPr/>
        </p:nvSpPr>
        <p:spPr>
          <a:xfrm>
            <a:off x="3291840" y="1828800"/>
            <a:ext cx="1207008" cy="786384"/>
          </a:xfrm>
          <a:prstGeom prst="roundRect">
            <a:avLst>
              <a:gd name="adj" fmla="val 9302"/>
            </a:avLst>
          </a:prstGeom>
          <a:solidFill>
            <a:srgbClr val="1F6F5F"/>
          </a:solidFill>
          <a:ln/>
        </p:spPr>
      </p:sp>
      <p:sp>
        <p:nvSpPr>
          <p:cNvPr id="14" name="Text 12"/>
          <p:cNvSpPr txBox="1"/>
          <p:nvPr/>
        </p:nvSpPr>
        <p:spPr>
          <a:xfrm>
            <a:off x="3291840" y="1956816"/>
            <a:ext cx="1207008" cy="292608"/>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+3 days</a:t>
            </a:r>
            <a:endParaRPr lang="en-US" sz="1350" dirty="0"/>
          </a:p>
        </p:txBody>
      </p:sp>
      <p:sp>
        <p:nvSpPr>
          <p:cNvPr id="15" name="Text 13"/>
          <p:cNvSpPr txBox="1"/>
          <p:nvPr/>
        </p:nvSpPr>
        <p:spPr>
          <a:xfrm>
            <a:off x="3291840" y="2249424"/>
            <a:ext cx="1207008" cy="256032"/>
          </a:xfrm>
          <a:prstGeom prst="rect">
            <a:avLst/>
          </a:prstGeom>
          <a:noFill/>
          <a:ln/>
        </p:spPr>
        <p:txBody>
          <a:bodyPr wrap="square" lIns="0" tIns="0" rIns="0" bIns="0" rtlCol="0" anchor="ctr"/>
          <a:lstStyle/>
          <a:p>
            <a:pPr algn="ctr" indent="0" marL="0">
              <a:buNone/>
            </a:pPr>
            <a:r>
              <a:rPr lang="en-US" sz="1000" dirty="0">
                <a:solidFill>
                  <a:srgbClr val="DCEAE5"/>
                </a:solidFill>
                <a:latin typeface="Calibri" pitchFamily="34" charset="0"/>
                <a:ea typeface="Calibri" pitchFamily="34" charset="-122"/>
                <a:cs typeface="Calibri" pitchFamily="34" charset="-120"/>
              </a:rPr>
              <a:t>day 4</a:t>
            </a:r>
            <a:endParaRPr lang="en-US" sz="1000" dirty="0"/>
          </a:p>
        </p:txBody>
      </p:sp>
      <p:sp>
        <p:nvSpPr>
          <p:cNvPr id="16" name="Shape 14"/>
          <p:cNvSpPr/>
          <p:nvPr/>
        </p:nvSpPr>
        <p:spPr>
          <a:xfrm>
            <a:off x="4535424" y="2121408"/>
            <a:ext cx="109728" cy="201168"/>
          </a:xfrm>
          <a:prstGeom prst="rightArrow">
            <a:avLst/>
          </a:prstGeom>
          <a:solidFill>
            <a:srgbClr val="E2D9C8"/>
          </a:solidFill>
          <a:ln/>
        </p:spPr>
      </p:sp>
      <p:sp>
        <p:nvSpPr>
          <p:cNvPr id="17" name="Shape 15"/>
          <p:cNvSpPr/>
          <p:nvPr/>
        </p:nvSpPr>
        <p:spPr>
          <a:xfrm>
            <a:off x="4663440" y="1828800"/>
            <a:ext cx="1207008" cy="786384"/>
          </a:xfrm>
          <a:prstGeom prst="roundRect">
            <a:avLst>
              <a:gd name="adj" fmla="val 9302"/>
            </a:avLst>
          </a:prstGeom>
          <a:solidFill>
            <a:srgbClr val="1F6F5F"/>
          </a:solidFill>
          <a:ln/>
        </p:spPr>
      </p:sp>
      <p:sp>
        <p:nvSpPr>
          <p:cNvPr id="18" name="Text 16"/>
          <p:cNvSpPr txBox="1"/>
          <p:nvPr/>
        </p:nvSpPr>
        <p:spPr>
          <a:xfrm>
            <a:off x="4663440" y="1956816"/>
            <a:ext cx="1207008" cy="292608"/>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+7 days</a:t>
            </a:r>
            <a:endParaRPr lang="en-US" sz="1350" dirty="0"/>
          </a:p>
        </p:txBody>
      </p:sp>
      <p:sp>
        <p:nvSpPr>
          <p:cNvPr id="19" name="Text 17"/>
          <p:cNvSpPr txBox="1"/>
          <p:nvPr/>
        </p:nvSpPr>
        <p:spPr>
          <a:xfrm>
            <a:off x="4663440" y="2249424"/>
            <a:ext cx="1207008" cy="256032"/>
          </a:xfrm>
          <a:prstGeom prst="rect">
            <a:avLst/>
          </a:prstGeom>
          <a:noFill/>
          <a:ln/>
        </p:spPr>
        <p:txBody>
          <a:bodyPr wrap="square" lIns="0" tIns="0" rIns="0" bIns="0" rtlCol="0" anchor="ctr"/>
          <a:lstStyle/>
          <a:p>
            <a:pPr algn="ctr" indent="0" marL="0">
              <a:buNone/>
            </a:pPr>
            <a:r>
              <a:rPr lang="en-US" sz="1000" dirty="0">
                <a:solidFill>
                  <a:srgbClr val="DCEAE5"/>
                </a:solidFill>
                <a:latin typeface="Calibri" pitchFamily="34" charset="0"/>
                <a:ea typeface="Calibri" pitchFamily="34" charset="-122"/>
                <a:cs typeface="Calibri" pitchFamily="34" charset="-120"/>
              </a:rPr>
              <a:t>day 11</a:t>
            </a:r>
            <a:endParaRPr lang="en-US" sz="1000" dirty="0"/>
          </a:p>
        </p:txBody>
      </p:sp>
      <p:sp>
        <p:nvSpPr>
          <p:cNvPr id="20" name="Shape 18"/>
          <p:cNvSpPr/>
          <p:nvPr/>
        </p:nvSpPr>
        <p:spPr>
          <a:xfrm>
            <a:off x="5907024" y="2121408"/>
            <a:ext cx="109728" cy="201168"/>
          </a:xfrm>
          <a:prstGeom prst="rightArrow">
            <a:avLst/>
          </a:prstGeom>
          <a:solidFill>
            <a:srgbClr val="E2D9C8"/>
          </a:solidFill>
          <a:ln/>
        </p:spPr>
      </p:sp>
      <p:sp>
        <p:nvSpPr>
          <p:cNvPr id="21" name="Shape 19"/>
          <p:cNvSpPr/>
          <p:nvPr/>
        </p:nvSpPr>
        <p:spPr>
          <a:xfrm>
            <a:off x="6035040" y="1828800"/>
            <a:ext cx="1207008" cy="786384"/>
          </a:xfrm>
          <a:prstGeom prst="roundRect">
            <a:avLst>
              <a:gd name="adj" fmla="val 9302"/>
            </a:avLst>
          </a:prstGeom>
          <a:solidFill>
            <a:srgbClr val="1F6F5F"/>
          </a:solidFill>
          <a:ln/>
        </p:spPr>
      </p:sp>
      <p:sp>
        <p:nvSpPr>
          <p:cNvPr id="22" name="Text 20"/>
          <p:cNvSpPr txBox="1"/>
          <p:nvPr/>
        </p:nvSpPr>
        <p:spPr>
          <a:xfrm>
            <a:off x="6035040" y="1956816"/>
            <a:ext cx="1207008" cy="292608"/>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+14 days</a:t>
            </a:r>
            <a:endParaRPr lang="en-US" sz="1350" dirty="0"/>
          </a:p>
        </p:txBody>
      </p:sp>
      <p:sp>
        <p:nvSpPr>
          <p:cNvPr id="23" name="Text 21"/>
          <p:cNvSpPr txBox="1"/>
          <p:nvPr/>
        </p:nvSpPr>
        <p:spPr>
          <a:xfrm>
            <a:off x="6035040" y="2249424"/>
            <a:ext cx="1207008" cy="256032"/>
          </a:xfrm>
          <a:prstGeom prst="rect">
            <a:avLst/>
          </a:prstGeom>
          <a:noFill/>
          <a:ln/>
        </p:spPr>
        <p:txBody>
          <a:bodyPr wrap="square" lIns="0" tIns="0" rIns="0" bIns="0" rtlCol="0" anchor="ctr"/>
          <a:lstStyle/>
          <a:p>
            <a:pPr algn="ctr" indent="0" marL="0">
              <a:buNone/>
            </a:pPr>
            <a:r>
              <a:rPr lang="en-US" sz="1000" dirty="0">
                <a:solidFill>
                  <a:srgbClr val="DCEAE5"/>
                </a:solidFill>
                <a:latin typeface="Calibri" pitchFamily="34" charset="0"/>
                <a:ea typeface="Calibri" pitchFamily="34" charset="-122"/>
                <a:cs typeface="Calibri" pitchFamily="34" charset="-120"/>
              </a:rPr>
              <a:t>day 25</a:t>
            </a:r>
            <a:endParaRPr lang="en-US" sz="1000" dirty="0"/>
          </a:p>
        </p:txBody>
      </p:sp>
      <p:sp>
        <p:nvSpPr>
          <p:cNvPr id="24" name="Shape 22"/>
          <p:cNvSpPr/>
          <p:nvPr/>
        </p:nvSpPr>
        <p:spPr>
          <a:xfrm>
            <a:off x="7278624" y="2121408"/>
            <a:ext cx="109728" cy="201168"/>
          </a:xfrm>
          <a:prstGeom prst="rightArrow">
            <a:avLst/>
          </a:prstGeom>
          <a:solidFill>
            <a:srgbClr val="E2D9C8"/>
          </a:solidFill>
          <a:ln/>
        </p:spPr>
      </p:sp>
      <p:sp>
        <p:nvSpPr>
          <p:cNvPr id="25" name="Shape 23"/>
          <p:cNvSpPr/>
          <p:nvPr/>
        </p:nvSpPr>
        <p:spPr>
          <a:xfrm>
            <a:off x="7406640" y="1828800"/>
            <a:ext cx="1207008" cy="786384"/>
          </a:xfrm>
          <a:prstGeom prst="roundRect">
            <a:avLst>
              <a:gd name="adj" fmla="val 9302"/>
            </a:avLst>
          </a:prstGeom>
          <a:solidFill>
            <a:srgbClr val="7A4B8F"/>
          </a:solidFill>
          <a:ln/>
        </p:spPr>
      </p:sp>
      <p:sp>
        <p:nvSpPr>
          <p:cNvPr id="26" name="Text 24"/>
          <p:cNvSpPr txBox="1"/>
          <p:nvPr/>
        </p:nvSpPr>
        <p:spPr>
          <a:xfrm>
            <a:off x="7406640" y="1956816"/>
            <a:ext cx="1207008" cy="292608"/>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+30 days</a:t>
            </a:r>
            <a:endParaRPr lang="en-US" sz="1350" dirty="0"/>
          </a:p>
        </p:txBody>
      </p:sp>
      <p:sp>
        <p:nvSpPr>
          <p:cNvPr id="27" name="Text 25"/>
          <p:cNvSpPr txBox="1"/>
          <p:nvPr/>
        </p:nvSpPr>
        <p:spPr>
          <a:xfrm>
            <a:off x="7406640" y="2249424"/>
            <a:ext cx="1207008" cy="256032"/>
          </a:xfrm>
          <a:prstGeom prst="rect">
            <a:avLst/>
          </a:prstGeom>
          <a:noFill/>
          <a:ln/>
        </p:spPr>
        <p:txBody>
          <a:bodyPr wrap="square" lIns="0" tIns="0" rIns="0" bIns="0" rtlCol="0" anchor="ctr"/>
          <a:lstStyle/>
          <a:p>
            <a:pPr algn="ctr" indent="0" marL="0">
              <a:buNone/>
            </a:pPr>
            <a:r>
              <a:rPr lang="en-US" sz="1000" dirty="0">
                <a:solidFill>
                  <a:srgbClr val="DCEAE5"/>
                </a:solidFill>
                <a:latin typeface="Calibri" pitchFamily="34" charset="0"/>
                <a:ea typeface="Calibri" pitchFamily="34" charset="-122"/>
                <a:cs typeface="Calibri" pitchFamily="34" charset="-120"/>
              </a:rPr>
              <a:t>day 55</a:t>
            </a:r>
            <a:endParaRPr lang="en-US" sz="1000" dirty="0"/>
          </a:p>
        </p:txBody>
      </p:sp>
      <p:sp>
        <p:nvSpPr>
          <p:cNvPr id="28" name="Text 26"/>
          <p:cNvSpPr txBox="1"/>
          <p:nvPr/>
        </p:nvSpPr>
        <p:spPr>
          <a:xfrm>
            <a:off x="548640" y="2670048"/>
            <a:ext cx="8046720" cy="274320"/>
          </a:xfrm>
          <a:prstGeom prst="rect">
            <a:avLst/>
          </a:prstGeom>
          <a:noFill/>
          <a:ln/>
        </p:spPr>
        <p:txBody>
          <a:bodyPr wrap="square" lIns="0" tIns="0" rIns="0" bIns="0" rtlCol="0" anchor="ctr"/>
          <a:lstStyle/>
          <a:p>
            <a:pPr algn="ctr" indent="0" marL="0">
              <a:buNone/>
            </a:pPr>
            <a:r>
              <a:rPr lang="en-US" sz="1100" i="1" dirty="0">
                <a:solidFill>
                  <a:srgbClr val="857C6D"/>
                </a:solidFill>
                <a:latin typeface="Calibri" pitchFamily="34" charset="0"/>
                <a:ea typeface="Calibri" pitchFamily="34" charset="-122"/>
                <a:cs typeface="Calibri" pitchFamily="34" charset="-120"/>
              </a:rPr>
              <a:t>rating 4 or 5 at each step</a:t>
            </a:r>
            <a:endParaRPr lang="en-US" sz="1100" dirty="0"/>
          </a:p>
        </p:txBody>
      </p:sp>
      <p:sp>
        <p:nvSpPr>
          <p:cNvPr id="29" name="Shape 27"/>
          <p:cNvSpPr/>
          <p:nvPr/>
        </p:nvSpPr>
        <p:spPr>
          <a:xfrm>
            <a:off x="548640" y="3054096"/>
            <a:ext cx="3931920" cy="1371600"/>
          </a:xfrm>
          <a:prstGeom prst="roundRect">
            <a:avLst>
              <a:gd name="adj" fmla="val 5333"/>
            </a:avLst>
          </a:prstGeom>
          <a:solidFill>
            <a:srgbClr val="F6F1E7"/>
          </a:solidFill>
          <a:ln w="12700">
            <a:solidFill>
              <a:srgbClr val="E2D9C8"/>
            </a:solidFill>
            <a:prstDash val="solid"/>
          </a:ln>
        </p:spPr>
      </p:sp>
      <p:sp>
        <p:nvSpPr>
          <p:cNvPr id="30" name="Text 28"/>
          <p:cNvSpPr txBox="1"/>
          <p:nvPr/>
        </p:nvSpPr>
        <p:spPr>
          <a:xfrm>
            <a:off x="786384" y="3273552"/>
            <a:ext cx="3474720" cy="310896"/>
          </a:xfrm>
          <a:prstGeom prst="rect">
            <a:avLst/>
          </a:prstGeom>
          <a:noFill/>
          <a:ln/>
        </p:spPr>
        <p:txBody>
          <a:bodyPr wrap="square" lIns="0" tIns="0" rIns="0" bIns="0" rtlCol="0" anchor="ctr"/>
          <a:lstStyle/>
          <a:p>
            <a:pPr indent="0" marL="0">
              <a:buNone/>
            </a:pPr>
            <a:r>
              <a:rPr lang="en-US" sz="1500" b="1" dirty="0">
                <a:solidFill>
                  <a:srgbClr val="1F6F5F"/>
                </a:solidFill>
                <a:latin typeface="Cambria" pitchFamily="34" charset="0"/>
                <a:ea typeface="Cambria" pitchFamily="34" charset="-122"/>
                <a:cs typeface="Cambria" pitchFamily="34" charset="-120"/>
              </a:rPr>
              <a:t>Why these numbers</a:t>
            </a:r>
            <a:endParaRPr lang="en-US" sz="1500" dirty="0"/>
          </a:p>
        </p:txBody>
      </p:sp>
      <p:sp>
        <p:nvSpPr>
          <p:cNvPr id="31" name="Text 29"/>
          <p:cNvSpPr txBox="1"/>
          <p:nvPr/>
        </p:nvSpPr>
        <p:spPr>
          <a:xfrm>
            <a:off x="786384" y="3657600"/>
            <a:ext cx="3456432" cy="548640"/>
          </a:xfrm>
          <a:prstGeom prst="rect">
            <a:avLst/>
          </a:prstGeom>
          <a:noFill/>
          <a:ln/>
        </p:spPr>
        <p:txBody>
          <a:bodyPr wrap="square" lIns="0" tIns="0" rIns="0" bIns="0" rtlCol="0" anchor="t"/>
          <a:lstStyle/>
          <a:p>
            <a:pPr indent="0" marL="0">
              <a:lnSpc>
                <a:spcPct val="112000"/>
              </a:lnSpc>
              <a:buNone/>
            </a:pPr>
            <a:r>
              <a:rPr lang="en-US" sz="1150" dirty="0">
                <a:solidFill>
                  <a:srgbClr val="5D564B"/>
                </a:solidFill>
                <a:latin typeface="Calibri" pitchFamily="34" charset="0"/>
                <a:ea typeface="Calibri" pitchFamily="34" charset="-122"/>
                <a:cs typeface="Calibri" pitchFamily="34" charset="-120"/>
              </a:rPr>
              <a:t>They approximate the expanding schedules used in the spacing literature and in SuperMemo’s early intervals, while staying memorable and roughly weekly-compatible — a ḥāfiẓ can see at a glance why a page is due.</a:t>
            </a:r>
            <a:endParaRPr lang="en-US" sz="1150" dirty="0"/>
          </a:p>
        </p:txBody>
      </p:sp>
      <p:sp>
        <p:nvSpPr>
          <p:cNvPr id="32" name="Shape 30"/>
          <p:cNvSpPr/>
          <p:nvPr/>
        </p:nvSpPr>
        <p:spPr>
          <a:xfrm>
            <a:off x="4663440" y="3054096"/>
            <a:ext cx="3931920" cy="1371600"/>
          </a:xfrm>
          <a:prstGeom prst="roundRect">
            <a:avLst>
              <a:gd name="adj" fmla="val 5333"/>
            </a:avLst>
          </a:prstGeom>
          <a:solidFill>
            <a:srgbClr val="F6F1E7"/>
          </a:solidFill>
          <a:ln w="12700">
            <a:solidFill>
              <a:srgbClr val="E2D9C8"/>
            </a:solidFill>
            <a:prstDash val="solid"/>
          </a:ln>
        </p:spPr>
      </p:sp>
      <p:sp>
        <p:nvSpPr>
          <p:cNvPr id="33" name="Text 31"/>
          <p:cNvSpPr txBox="1"/>
          <p:nvPr/>
        </p:nvSpPr>
        <p:spPr>
          <a:xfrm>
            <a:off x="4901184" y="3273552"/>
            <a:ext cx="3474720" cy="310896"/>
          </a:xfrm>
          <a:prstGeom prst="rect">
            <a:avLst/>
          </a:prstGeom>
          <a:noFill/>
          <a:ln/>
        </p:spPr>
        <p:txBody>
          <a:bodyPr wrap="square" lIns="0" tIns="0" rIns="0" bIns="0" rtlCol="0" anchor="ctr"/>
          <a:lstStyle/>
          <a:p>
            <a:pPr indent="0" marL="0">
              <a:buNone/>
            </a:pPr>
            <a:r>
              <a:rPr lang="en-US" sz="1500" b="1" dirty="0">
                <a:solidFill>
                  <a:srgbClr val="7A4B8F"/>
                </a:solidFill>
                <a:latin typeface="Cambria" pitchFamily="34" charset="0"/>
                <a:ea typeface="Cambria" pitchFamily="34" charset="-122"/>
                <a:cs typeface="Cambria" pitchFamily="34" charset="-120"/>
              </a:rPr>
              <a:t>What happens past 30 days</a:t>
            </a:r>
            <a:endParaRPr lang="en-US" sz="1500" dirty="0"/>
          </a:p>
        </p:txBody>
      </p:sp>
      <p:sp>
        <p:nvSpPr>
          <p:cNvPr id="34" name="Text 32"/>
          <p:cNvSpPr txBox="1"/>
          <p:nvPr/>
        </p:nvSpPr>
        <p:spPr>
          <a:xfrm>
            <a:off x="4901184" y="3657600"/>
            <a:ext cx="3456432" cy="548640"/>
          </a:xfrm>
          <a:prstGeom prst="rect">
            <a:avLst/>
          </a:prstGeom>
          <a:noFill/>
          <a:ln/>
        </p:spPr>
        <p:txBody>
          <a:bodyPr wrap="square" lIns="0" tIns="0" rIns="0" bIns="0" rtlCol="0" anchor="t"/>
          <a:lstStyle/>
          <a:p>
            <a:pPr indent="0" marL="0">
              <a:lnSpc>
                <a:spcPct val="112000"/>
              </a:lnSpc>
              <a:buNone/>
            </a:pPr>
            <a:r>
              <a:rPr lang="en-US" sz="1150" dirty="0">
                <a:solidFill>
                  <a:srgbClr val="5D564B"/>
                </a:solidFill>
                <a:latin typeface="Calibri" pitchFamily="34" charset="0"/>
                <a:ea typeface="Calibri" pitchFamily="34" charset="-122"/>
                <a:cs typeface="Calibri" pitchFamily="34" charset="-120"/>
              </a:rPr>
              <a:t>The ladder ends. From there the interval is multiplied by the page’s own ease factor, so two pages learned the same week drift apart according to how each one actually behaves for you.</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10896"/>
            <a:ext cx="8046720" cy="237744"/>
          </a:xfrm>
          <a:prstGeom prst="rect">
            <a:avLst/>
          </a:prstGeom>
          <a:noFill/>
          <a:ln/>
        </p:spPr>
        <p:txBody>
          <a:bodyPr wrap="square" lIns="0" tIns="0" rIns="0" bIns="0" rtlCol="0" anchor="ctr"/>
          <a:lstStyle/>
          <a:p>
            <a:pPr indent="0" marL="0">
              <a:buNone/>
            </a:pPr>
            <a:r>
              <a:rPr lang="en-US" sz="1100" b="1" spc="200" kern="0" dirty="0">
                <a:solidFill>
                  <a:srgbClr val="B8860B"/>
                </a:solidFill>
                <a:latin typeface="Calibri" pitchFamily="34" charset="0"/>
                <a:ea typeface="Calibri" pitchFamily="34" charset="-122"/>
                <a:cs typeface="Calibri" pitchFamily="34" charset="-120"/>
              </a:rPr>
              <a:t>PART D · THE ALGORITHM</a:t>
            </a:r>
            <a:endParaRPr lang="en-US" sz="1100" dirty="0"/>
          </a:p>
        </p:txBody>
      </p:sp>
      <p:sp>
        <p:nvSpPr>
          <p:cNvPr id="3" name="Text 1"/>
          <p:cNvSpPr txBox="1"/>
          <p:nvPr/>
        </p:nvSpPr>
        <p:spPr>
          <a:xfrm>
            <a:off x="548640" y="530352"/>
            <a:ext cx="8046720" cy="603504"/>
          </a:xfrm>
          <a:prstGeom prst="rect">
            <a:avLst/>
          </a:prstGeom>
          <a:noFill/>
          <a:ln/>
        </p:spPr>
        <p:txBody>
          <a:bodyPr wrap="square" lIns="0" tIns="0" rIns="0" bIns="0" rtlCol="0" anchor="ctr"/>
          <a:lstStyle/>
          <a:p>
            <a:pPr indent="0" marL="0">
              <a:buNone/>
            </a:pPr>
            <a:r>
              <a:rPr lang="en-US" sz="2900" b="1" dirty="0">
                <a:solidFill>
                  <a:srgbClr val="1F6F5F"/>
                </a:solidFill>
                <a:latin typeface="Cambria" pitchFamily="34" charset="0"/>
                <a:ea typeface="Cambria" pitchFamily="34" charset="-122"/>
                <a:cs typeface="Cambria" pitchFamily="34" charset="-120"/>
              </a:rPr>
              <a:t>Ease: the page’s own multiplier</a:t>
            </a:r>
            <a:endParaRPr lang="en-US" sz="2900" dirty="0"/>
          </a:p>
        </p:txBody>
      </p:sp>
      <p:sp>
        <p:nvSpPr>
          <p:cNvPr id="4" name="Text 2"/>
          <p:cNvSpPr txBox="1"/>
          <p:nvPr/>
        </p:nvSpPr>
        <p:spPr>
          <a:xfrm>
            <a:off x="548640" y="1152144"/>
            <a:ext cx="8046720" cy="310896"/>
          </a:xfrm>
          <a:prstGeom prst="rect">
            <a:avLst/>
          </a:prstGeom>
          <a:noFill/>
          <a:ln/>
        </p:spPr>
        <p:txBody>
          <a:bodyPr wrap="square" lIns="0" tIns="0" rIns="0" bIns="0" rtlCol="0" anchor="ctr"/>
          <a:lstStyle/>
          <a:p>
            <a:pPr indent="0" marL="0">
              <a:buNone/>
            </a:pPr>
            <a:r>
              <a:rPr lang="en-US" sz="1350" dirty="0">
                <a:solidFill>
                  <a:srgbClr val="5D564B"/>
                </a:solidFill>
                <a:latin typeface="Calibri" pitchFamily="34" charset="0"/>
                <a:ea typeface="Calibri" pitchFamily="34" charset="-122"/>
                <a:cs typeface="Calibri" pitchFamily="34" charset="-120"/>
              </a:rPr>
              <a:t>Every page carries an ease factor. Past the top of the ladder, the next interval is the current interval times ease.</a:t>
            </a:r>
            <a:endParaRPr lang="en-US" sz="1350" dirty="0"/>
          </a:p>
        </p:txBody>
      </p:sp>
      <p:sp>
        <p:nvSpPr>
          <p:cNvPr id="5" name="Shape 3"/>
          <p:cNvSpPr/>
          <p:nvPr/>
        </p:nvSpPr>
        <p:spPr>
          <a:xfrm>
            <a:off x="548640" y="1609344"/>
            <a:ext cx="5120640" cy="603504"/>
          </a:xfrm>
          <a:prstGeom prst="roundRect">
            <a:avLst>
              <a:gd name="adj" fmla="val 12121"/>
            </a:avLst>
          </a:prstGeom>
          <a:solidFill>
            <a:srgbClr val="14453C"/>
          </a:solidFill>
          <a:ln/>
        </p:spPr>
      </p:sp>
      <p:sp>
        <p:nvSpPr>
          <p:cNvPr id="6" name="Text 4"/>
          <p:cNvSpPr txBox="1"/>
          <p:nvPr/>
        </p:nvSpPr>
        <p:spPr>
          <a:xfrm>
            <a:off x="548640" y="1764792"/>
            <a:ext cx="5120640" cy="329184"/>
          </a:xfrm>
          <a:prstGeom prst="rect">
            <a:avLst/>
          </a:prstGeom>
          <a:noFill/>
          <a:ln/>
        </p:spPr>
        <p:txBody>
          <a:bodyPr wrap="square" lIns="0" tIns="0" rIns="0" bIns="0" rtlCol="0" anchor="ctr"/>
          <a:lstStyle/>
          <a:p>
            <a:pPr algn="ctr" indent="0" marL="0">
              <a:buNone/>
            </a:pPr>
            <a:r>
              <a:rPr lang="en-US" sz="1700" b="1" dirty="0">
                <a:solidFill>
                  <a:srgbClr val="FFFFFF"/>
                </a:solidFill>
                <a:latin typeface="Courier New" pitchFamily="34" charset="0"/>
                <a:ea typeface="Courier New" pitchFamily="34" charset="-122"/>
                <a:cs typeface="Courier New" pitchFamily="34" charset="-120"/>
              </a:rPr>
              <a:t>next interval  =  round( interval × ease )</a:t>
            </a:r>
            <a:endParaRPr lang="en-US" sz="1700" dirty="0"/>
          </a:p>
        </p:txBody>
      </p:sp>
      <p:sp>
        <p:nvSpPr>
          <p:cNvPr id="7" name="Text 5"/>
          <p:cNvSpPr txBox="1"/>
          <p:nvPr/>
        </p:nvSpPr>
        <p:spPr>
          <a:xfrm>
            <a:off x="5852160" y="1481328"/>
            <a:ext cx="868680" cy="658368"/>
          </a:xfrm>
          <a:prstGeom prst="rect">
            <a:avLst/>
          </a:prstGeom>
          <a:noFill/>
          <a:ln/>
        </p:spPr>
        <p:txBody>
          <a:bodyPr wrap="square" lIns="0" tIns="0" rIns="0" bIns="0" rtlCol="0" anchor="ctr"/>
          <a:lstStyle/>
          <a:p>
            <a:pPr algn="ctr" indent="0" marL="0">
              <a:buNone/>
            </a:pPr>
            <a:r>
              <a:rPr lang="en-US" sz="2600" b="1" dirty="0">
                <a:solidFill>
                  <a:srgbClr val="857C6D"/>
                </a:solidFill>
                <a:latin typeface="Cambria" pitchFamily="34" charset="0"/>
                <a:ea typeface="Cambria" pitchFamily="34" charset="-122"/>
                <a:cs typeface="Cambria" pitchFamily="34" charset="-120"/>
              </a:rPr>
              <a:t>1.3</a:t>
            </a:r>
            <a:endParaRPr lang="en-US" sz="2600" dirty="0"/>
          </a:p>
        </p:txBody>
      </p:sp>
      <p:sp>
        <p:nvSpPr>
          <p:cNvPr id="8" name="Text 6"/>
          <p:cNvSpPr txBox="1"/>
          <p:nvPr/>
        </p:nvSpPr>
        <p:spPr>
          <a:xfrm>
            <a:off x="5852160" y="2157984"/>
            <a:ext cx="868680" cy="548640"/>
          </a:xfrm>
          <a:prstGeom prst="rect">
            <a:avLst/>
          </a:prstGeom>
          <a:noFill/>
          <a:ln/>
        </p:spPr>
        <p:txBody>
          <a:bodyPr wrap="square" lIns="0" tIns="0" rIns="0" bIns="0" rtlCol="0" anchor="ctr"/>
          <a:lstStyle/>
          <a:p>
            <a:pPr algn="ctr" indent="0" marL="0">
              <a:lnSpc>
                <a:spcPct val="110000"/>
              </a:lnSpc>
              <a:buNone/>
            </a:pPr>
            <a:r>
              <a:rPr lang="en-US" sz="1150" dirty="0">
                <a:solidFill>
                  <a:srgbClr val="5D564B"/>
                </a:solidFill>
                <a:latin typeface="Calibri" pitchFamily="34" charset="0"/>
                <a:ea typeface="Calibri" pitchFamily="34" charset="-122"/>
                <a:cs typeface="Calibri" pitchFamily="34" charset="-120"/>
              </a:rPr>
              <a:t>floor</a:t>
            </a:r>
            <a:endParaRPr lang="en-US" sz="1150" dirty="0"/>
          </a:p>
        </p:txBody>
      </p:sp>
      <p:sp>
        <p:nvSpPr>
          <p:cNvPr id="9" name="Text 7"/>
          <p:cNvSpPr txBox="1"/>
          <p:nvPr/>
        </p:nvSpPr>
        <p:spPr>
          <a:xfrm>
            <a:off x="6766560" y="1481328"/>
            <a:ext cx="914400" cy="658368"/>
          </a:xfrm>
          <a:prstGeom prst="rect">
            <a:avLst/>
          </a:prstGeom>
          <a:noFill/>
          <a:ln/>
        </p:spPr>
        <p:txBody>
          <a:bodyPr wrap="square" lIns="0" tIns="0" rIns="0" bIns="0" rtlCol="0" anchor="ctr"/>
          <a:lstStyle/>
          <a:p>
            <a:pPr algn="ctr" indent="0" marL="0">
              <a:buNone/>
            </a:pPr>
            <a:r>
              <a:rPr lang="en-US" sz="2600" b="1" dirty="0">
                <a:solidFill>
                  <a:srgbClr val="1F6F5F"/>
                </a:solidFill>
                <a:latin typeface="Cambria" pitchFamily="34" charset="0"/>
                <a:ea typeface="Cambria" pitchFamily="34" charset="-122"/>
                <a:cs typeface="Cambria" pitchFamily="34" charset="-120"/>
              </a:rPr>
              <a:t>2.3</a:t>
            </a:r>
            <a:endParaRPr lang="en-US" sz="2600" dirty="0"/>
          </a:p>
        </p:txBody>
      </p:sp>
      <p:sp>
        <p:nvSpPr>
          <p:cNvPr id="10" name="Text 8"/>
          <p:cNvSpPr txBox="1"/>
          <p:nvPr/>
        </p:nvSpPr>
        <p:spPr>
          <a:xfrm>
            <a:off x="6766560" y="2157984"/>
            <a:ext cx="914400" cy="548640"/>
          </a:xfrm>
          <a:prstGeom prst="rect">
            <a:avLst/>
          </a:prstGeom>
          <a:noFill/>
          <a:ln/>
        </p:spPr>
        <p:txBody>
          <a:bodyPr wrap="square" lIns="0" tIns="0" rIns="0" bIns="0" rtlCol="0" anchor="ctr"/>
          <a:lstStyle/>
          <a:p>
            <a:pPr algn="ctr" indent="0" marL="0">
              <a:lnSpc>
                <a:spcPct val="110000"/>
              </a:lnSpc>
              <a:buNone/>
            </a:pPr>
            <a:r>
              <a:rPr lang="en-US" sz="1150" dirty="0">
                <a:solidFill>
                  <a:srgbClr val="5D564B"/>
                </a:solidFill>
                <a:latin typeface="Calibri" pitchFamily="34" charset="0"/>
                <a:ea typeface="Calibri" pitchFamily="34" charset="-122"/>
                <a:cs typeface="Calibri" pitchFamily="34" charset="-120"/>
              </a:rPr>
              <a:t>start</a:t>
            </a:r>
            <a:endParaRPr lang="en-US" sz="1150" dirty="0"/>
          </a:p>
        </p:txBody>
      </p:sp>
      <p:sp>
        <p:nvSpPr>
          <p:cNvPr id="11" name="Text 9"/>
          <p:cNvSpPr txBox="1"/>
          <p:nvPr/>
        </p:nvSpPr>
        <p:spPr>
          <a:xfrm>
            <a:off x="7726680" y="1481328"/>
            <a:ext cx="868680" cy="658368"/>
          </a:xfrm>
          <a:prstGeom prst="rect">
            <a:avLst/>
          </a:prstGeom>
          <a:noFill/>
          <a:ln/>
        </p:spPr>
        <p:txBody>
          <a:bodyPr wrap="square" lIns="0" tIns="0" rIns="0" bIns="0" rtlCol="0" anchor="ctr"/>
          <a:lstStyle/>
          <a:p>
            <a:pPr algn="ctr" indent="0" marL="0">
              <a:buNone/>
            </a:pPr>
            <a:r>
              <a:rPr lang="en-US" sz="2600" b="1" dirty="0">
                <a:solidFill>
                  <a:srgbClr val="857C6D"/>
                </a:solidFill>
                <a:latin typeface="Cambria" pitchFamily="34" charset="0"/>
                <a:ea typeface="Cambria" pitchFamily="34" charset="-122"/>
                <a:cs typeface="Cambria" pitchFamily="34" charset="-120"/>
              </a:rPr>
              <a:t>2.8</a:t>
            </a:r>
            <a:endParaRPr lang="en-US" sz="2600" dirty="0"/>
          </a:p>
        </p:txBody>
      </p:sp>
      <p:sp>
        <p:nvSpPr>
          <p:cNvPr id="12" name="Text 10"/>
          <p:cNvSpPr txBox="1"/>
          <p:nvPr/>
        </p:nvSpPr>
        <p:spPr>
          <a:xfrm>
            <a:off x="7726680" y="2157984"/>
            <a:ext cx="868680" cy="548640"/>
          </a:xfrm>
          <a:prstGeom prst="rect">
            <a:avLst/>
          </a:prstGeom>
          <a:noFill/>
          <a:ln/>
        </p:spPr>
        <p:txBody>
          <a:bodyPr wrap="square" lIns="0" tIns="0" rIns="0" bIns="0" rtlCol="0" anchor="ctr"/>
          <a:lstStyle/>
          <a:p>
            <a:pPr algn="ctr" indent="0" marL="0">
              <a:lnSpc>
                <a:spcPct val="110000"/>
              </a:lnSpc>
              <a:buNone/>
            </a:pPr>
            <a:r>
              <a:rPr lang="en-US" sz="1150" dirty="0">
                <a:solidFill>
                  <a:srgbClr val="5D564B"/>
                </a:solidFill>
                <a:latin typeface="Calibri" pitchFamily="34" charset="0"/>
                <a:ea typeface="Calibri" pitchFamily="34" charset="-122"/>
                <a:cs typeface="Calibri" pitchFamily="34" charset="-120"/>
              </a:rPr>
              <a:t>ceiling</a:t>
            </a:r>
            <a:endParaRPr lang="en-US" sz="1150" dirty="0"/>
          </a:p>
        </p:txBody>
      </p:sp>
      <p:sp>
        <p:nvSpPr>
          <p:cNvPr id="13" name="Shape 11"/>
          <p:cNvSpPr/>
          <p:nvPr/>
        </p:nvSpPr>
        <p:spPr>
          <a:xfrm>
            <a:off x="548640" y="2487168"/>
            <a:ext cx="3931920" cy="420624"/>
          </a:xfrm>
          <a:prstGeom prst="roundRect">
            <a:avLst>
              <a:gd name="adj" fmla="val 13043"/>
            </a:avLst>
          </a:prstGeom>
          <a:solidFill>
            <a:srgbClr val="FFFFFF"/>
          </a:solidFill>
          <a:ln w="12700">
            <a:solidFill>
              <a:srgbClr val="E2D9C8"/>
            </a:solidFill>
            <a:prstDash val="solid"/>
          </a:ln>
        </p:spPr>
      </p:sp>
      <p:sp>
        <p:nvSpPr>
          <p:cNvPr id="14" name="Shape 12"/>
          <p:cNvSpPr/>
          <p:nvPr/>
        </p:nvSpPr>
        <p:spPr>
          <a:xfrm>
            <a:off x="685800" y="2615184"/>
            <a:ext cx="164592" cy="164592"/>
          </a:xfrm>
          <a:prstGeom prst="ellipse">
            <a:avLst/>
          </a:prstGeom>
          <a:solidFill>
            <a:srgbClr val="1F6F5F"/>
          </a:solidFill>
          <a:ln/>
        </p:spPr>
      </p:sp>
      <p:sp>
        <p:nvSpPr>
          <p:cNvPr id="15" name="Text 13"/>
          <p:cNvSpPr txBox="1"/>
          <p:nvPr/>
        </p:nvSpPr>
        <p:spPr>
          <a:xfrm>
            <a:off x="960120" y="2560320"/>
            <a:ext cx="1920240" cy="274320"/>
          </a:xfrm>
          <a:prstGeom prst="rect">
            <a:avLst/>
          </a:prstGeom>
          <a:noFill/>
          <a:ln/>
        </p:spPr>
        <p:txBody>
          <a:bodyPr wrap="square" lIns="0" tIns="0" rIns="0" bIns="0" rtlCol="0" anchor="ctr"/>
          <a:lstStyle/>
          <a:p>
            <a:pPr indent="0" marL="0">
              <a:buNone/>
            </a:pPr>
            <a:r>
              <a:rPr lang="en-US" sz="1150" b="1" dirty="0">
                <a:solidFill>
                  <a:srgbClr val="23201B"/>
                </a:solidFill>
                <a:latin typeface="Calibri" pitchFamily="34" charset="0"/>
                <a:ea typeface="Calibri" pitchFamily="34" charset="-122"/>
                <a:cs typeface="Calibri" pitchFamily="34" charset="-120"/>
              </a:rPr>
              <a:t>Rating 5 · flawless</a:t>
            </a:r>
            <a:endParaRPr lang="en-US" sz="1150" dirty="0"/>
          </a:p>
        </p:txBody>
      </p:sp>
      <p:sp>
        <p:nvSpPr>
          <p:cNvPr id="16" name="Text 14"/>
          <p:cNvSpPr txBox="1"/>
          <p:nvPr/>
        </p:nvSpPr>
        <p:spPr>
          <a:xfrm>
            <a:off x="2880360" y="2560320"/>
            <a:ext cx="1463040" cy="274320"/>
          </a:xfrm>
          <a:prstGeom prst="rect">
            <a:avLst/>
          </a:prstGeom>
          <a:noFill/>
          <a:ln/>
        </p:spPr>
        <p:txBody>
          <a:bodyPr wrap="square" lIns="0" tIns="0" rIns="0" bIns="0" rtlCol="0" anchor="ctr"/>
          <a:lstStyle/>
          <a:p>
            <a:pPr algn="r" indent="0" marL="0">
              <a:buNone/>
            </a:pPr>
            <a:r>
              <a:rPr lang="en-US" sz="1150" b="1" dirty="0">
                <a:solidFill>
                  <a:srgbClr val="1F6F5F"/>
                </a:solidFill>
                <a:latin typeface="Calibri" pitchFamily="34" charset="0"/>
                <a:ea typeface="Calibri" pitchFamily="34" charset="-122"/>
                <a:cs typeface="Calibri" pitchFamily="34" charset="-120"/>
              </a:rPr>
              <a:t>ease + 0.10</a:t>
            </a:r>
            <a:endParaRPr lang="en-US" sz="1150" dirty="0"/>
          </a:p>
        </p:txBody>
      </p:sp>
      <p:sp>
        <p:nvSpPr>
          <p:cNvPr id="17" name="Shape 15"/>
          <p:cNvSpPr/>
          <p:nvPr/>
        </p:nvSpPr>
        <p:spPr>
          <a:xfrm>
            <a:off x="548640" y="2999232"/>
            <a:ext cx="3931920" cy="420624"/>
          </a:xfrm>
          <a:prstGeom prst="roundRect">
            <a:avLst>
              <a:gd name="adj" fmla="val 13043"/>
            </a:avLst>
          </a:prstGeom>
          <a:solidFill>
            <a:srgbClr val="FFFFFF"/>
          </a:solidFill>
          <a:ln w="12700">
            <a:solidFill>
              <a:srgbClr val="E2D9C8"/>
            </a:solidFill>
            <a:prstDash val="solid"/>
          </a:ln>
        </p:spPr>
      </p:sp>
      <p:sp>
        <p:nvSpPr>
          <p:cNvPr id="18" name="Shape 16"/>
          <p:cNvSpPr/>
          <p:nvPr/>
        </p:nvSpPr>
        <p:spPr>
          <a:xfrm>
            <a:off x="685800" y="3127248"/>
            <a:ext cx="164592" cy="164592"/>
          </a:xfrm>
          <a:prstGeom prst="ellipse">
            <a:avLst/>
          </a:prstGeom>
          <a:solidFill>
            <a:srgbClr val="1F6F5F"/>
          </a:solidFill>
          <a:ln/>
        </p:spPr>
      </p:sp>
      <p:sp>
        <p:nvSpPr>
          <p:cNvPr id="19" name="Text 17"/>
          <p:cNvSpPr txBox="1"/>
          <p:nvPr/>
        </p:nvSpPr>
        <p:spPr>
          <a:xfrm>
            <a:off x="960120" y="3072384"/>
            <a:ext cx="1920240" cy="274320"/>
          </a:xfrm>
          <a:prstGeom prst="rect">
            <a:avLst/>
          </a:prstGeom>
          <a:noFill/>
          <a:ln/>
        </p:spPr>
        <p:txBody>
          <a:bodyPr wrap="square" lIns="0" tIns="0" rIns="0" bIns="0" rtlCol="0" anchor="ctr"/>
          <a:lstStyle/>
          <a:p>
            <a:pPr indent="0" marL="0">
              <a:buNone/>
            </a:pPr>
            <a:r>
              <a:rPr lang="en-US" sz="1150" b="1" dirty="0">
                <a:solidFill>
                  <a:srgbClr val="23201B"/>
                </a:solidFill>
                <a:latin typeface="Calibri" pitchFamily="34" charset="0"/>
                <a:ea typeface="Calibri" pitchFamily="34" charset="-122"/>
                <a:cs typeface="Calibri" pitchFamily="34" charset="-120"/>
              </a:rPr>
              <a:t>Rating 4 · minor slips</a:t>
            </a:r>
            <a:endParaRPr lang="en-US" sz="1150" dirty="0"/>
          </a:p>
        </p:txBody>
      </p:sp>
      <p:sp>
        <p:nvSpPr>
          <p:cNvPr id="20" name="Text 18"/>
          <p:cNvSpPr txBox="1"/>
          <p:nvPr/>
        </p:nvSpPr>
        <p:spPr>
          <a:xfrm>
            <a:off x="2880360" y="3072384"/>
            <a:ext cx="1463040" cy="274320"/>
          </a:xfrm>
          <a:prstGeom prst="rect">
            <a:avLst/>
          </a:prstGeom>
          <a:noFill/>
          <a:ln/>
        </p:spPr>
        <p:txBody>
          <a:bodyPr wrap="square" lIns="0" tIns="0" rIns="0" bIns="0" rtlCol="0" anchor="ctr"/>
          <a:lstStyle/>
          <a:p>
            <a:pPr algn="r" indent="0" marL="0">
              <a:buNone/>
            </a:pPr>
            <a:r>
              <a:rPr lang="en-US" sz="1150" b="1" dirty="0">
                <a:solidFill>
                  <a:srgbClr val="1F6F5F"/>
                </a:solidFill>
                <a:latin typeface="Calibri" pitchFamily="34" charset="0"/>
                <a:ea typeface="Calibri" pitchFamily="34" charset="-122"/>
                <a:cs typeface="Calibri" pitchFamily="34" charset="-120"/>
              </a:rPr>
              <a:t>ease unchanged</a:t>
            </a:r>
            <a:endParaRPr lang="en-US" sz="1150" dirty="0"/>
          </a:p>
        </p:txBody>
      </p:sp>
      <p:sp>
        <p:nvSpPr>
          <p:cNvPr id="21" name="Shape 19"/>
          <p:cNvSpPr/>
          <p:nvPr/>
        </p:nvSpPr>
        <p:spPr>
          <a:xfrm>
            <a:off x="548640" y="3511296"/>
            <a:ext cx="3931920" cy="420624"/>
          </a:xfrm>
          <a:prstGeom prst="roundRect">
            <a:avLst>
              <a:gd name="adj" fmla="val 13043"/>
            </a:avLst>
          </a:prstGeom>
          <a:solidFill>
            <a:srgbClr val="FFFFFF"/>
          </a:solidFill>
          <a:ln w="12700">
            <a:solidFill>
              <a:srgbClr val="E2D9C8"/>
            </a:solidFill>
            <a:prstDash val="solid"/>
          </a:ln>
        </p:spPr>
      </p:sp>
      <p:sp>
        <p:nvSpPr>
          <p:cNvPr id="22" name="Shape 20"/>
          <p:cNvSpPr/>
          <p:nvPr/>
        </p:nvSpPr>
        <p:spPr>
          <a:xfrm>
            <a:off x="685800" y="3639312"/>
            <a:ext cx="164592" cy="164592"/>
          </a:xfrm>
          <a:prstGeom prst="ellipse">
            <a:avLst/>
          </a:prstGeom>
          <a:solidFill>
            <a:srgbClr val="B8860B"/>
          </a:solidFill>
          <a:ln/>
        </p:spPr>
      </p:sp>
      <p:sp>
        <p:nvSpPr>
          <p:cNvPr id="23" name="Text 21"/>
          <p:cNvSpPr txBox="1"/>
          <p:nvPr/>
        </p:nvSpPr>
        <p:spPr>
          <a:xfrm>
            <a:off x="960120" y="3584448"/>
            <a:ext cx="1920240" cy="274320"/>
          </a:xfrm>
          <a:prstGeom prst="rect">
            <a:avLst/>
          </a:prstGeom>
          <a:noFill/>
          <a:ln/>
        </p:spPr>
        <p:txBody>
          <a:bodyPr wrap="square" lIns="0" tIns="0" rIns="0" bIns="0" rtlCol="0" anchor="ctr"/>
          <a:lstStyle/>
          <a:p>
            <a:pPr indent="0" marL="0">
              <a:buNone/>
            </a:pPr>
            <a:r>
              <a:rPr lang="en-US" sz="1150" b="1" dirty="0">
                <a:solidFill>
                  <a:srgbClr val="23201B"/>
                </a:solidFill>
                <a:latin typeface="Calibri" pitchFamily="34" charset="0"/>
                <a:ea typeface="Calibri" pitchFamily="34" charset="-122"/>
                <a:cs typeface="Calibri" pitchFamily="34" charset="-120"/>
              </a:rPr>
              <a:t>Rating 3 · hesitant</a:t>
            </a:r>
            <a:endParaRPr lang="en-US" sz="1150" dirty="0"/>
          </a:p>
        </p:txBody>
      </p:sp>
      <p:sp>
        <p:nvSpPr>
          <p:cNvPr id="24" name="Text 22"/>
          <p:cNvSpPr txBox="1"/>
          <p:nvPr/>
        </p:nvSpPr>
        <p:spPr>
          <a:xfrm>
            <a:off x="2880360" y="3584448"/>
            <a:ext cx="1463040" cy="274320"/>
          </a:xfrm>
          <a:prstGeom prst="rect">
            <a:avLst/>
          </a:prstGeom>
          <a:noFill/>
          <a:ln/>
        </p:spPr>
        <p:txBody>
          <a:bodyPr wrap="square" lIns="0" tIns="0" rIns="0" bIns="0" rtlCol="0" anchor="ctr"/>
          <a:lstStyle/>
          <a:p>
            <a:pPr algn="r" indent="0" marL="0">
              <a:buNone/>
            </a:pPr>
            <a:r>
              <a:rPr lang="en-US" sz="1150" b="1" dirty="0">
                <a:solidFill>
                  <a:srgbClr val="B8860B"/>
                </a:solidFill>
                <a:latin typeface="Calibri" pitchFamily="34" charset="0"/>
                <a:ea typeface="Calibri" pitchFamily="34" charset="-122"/>
                <a:cs typeface="Calibri" pitchFamily="34" charset="-120"/>
              </a:rPr>
              <a:t>ease − 0.15</a:t>
            </a:r>
            <a:endParaRPr lang="en-US" sz="1150" dirty="0"/>
          </a:p>
        </p:txBody>
      </p:sp>
      <p:sp>
        <p:nvSpPr>
          <p:cNvPr id="25" name="Shape 23"/>
          <p:cNvSpPr/>
          <p:nvPr/>
        </p:nvSpPr>
        <p:spPr>
          <a:xfrm>
            <a:off x="548640" y="4023360"/>
            <a:ext cx="3931920" cy="420624"/>
          </a:xfrm>
          <a:prstGeom prst="roundRect">
            <a:avLst>
              <a:gd name="adj" fmla="val 13043"/>
            </a:avLst>
          </a:prstGeom>
          <a:solidFill>
            <a:srgbClr val="FFFFFF"/>
          </a:solidFill>
          <a:ln w="12700">
            <a:solidFill>
              <a:srgbClr val="E2D9C8"/>
            </a:solidFill>
            <a:prstDash val="solid"/>
          </a:ln>
        </p:spPr>
      </p:sp>
      <p:sp>
        <p:nvSpPr>
          <p:cNvPr id="26" name="Shape 24"/>
          <p:cNvSpPr/>
          <p:nvPr/>
        </p:nvSpPr>
        <p:spPr>
          <a:xfrm>
            <a:off x="685800" y="4151376"/>
            <a:ext cx="164592" cy="164592"/>
          </a:xfrm>
          <a:prstGeom prst="ellipse">
            <a:avLst/>
          </a:prstGeom>
          <a:solidFill>
            <a:srgbClr val="C0392B"/>
          </a:solidFill>
          <a:ln/>
        </p:spPr>
      </p:sp>
      <p:sp>
        <p:nvSpPr>
          <p:cNvPr id="27" name="Text 25"/>
          <p:cNvSpPr txBox="1"/>
          <p:nvPr/>
        </p:nvSpPr>
        <p:spPr>
          <a:xfrm>
            <a:off x="960120" y="4096512"/>
            <a:ext cx="1920240" cy="274320"/>
          </a:xfrm>
          <a:prstGeom prst="rect">
            <a:avLst/>
          </a:prstGeom>
          <a:noFill/>
          <a:ln/>
        </p:spPr>
        <p:txBody>
          <a:bodyPr wrap="square" lIns="0" tIns="0" rIns="0" bIns="0" rtlCol="0" anchor="ctr"/>
          <a:lstStyle/>
          <a:p>
            <a:pPr indent="0" marL="0">
              <a:buNone/>
            </a:pPr>
            <a:r>
              <a:rPr lang="en-US" sz="1150" b="1" dirty="0">
                <a:solidFill>
                  <a:srgbClr val="23201B"/>
                </a:solidFill>
                <a:latin typeface="Calibri" pitchFamily="34" charset="0"/>
                <a:ea typeface="Calibri" pitchFamily="34" charset="-122"/>
                <a:cs typeface="Calibri" pitchFamily="34" charset="-120"/>
              </a:rPr>
              <a:t>Rating 0–2 · lapse</a:t>
            </a:r>
            <a:endParaRPr lang="en-US" sz="1150" dirty="0"/>
          </a:p>
        </p:txBody>
      </p:sp>
      <p:sp>
        <p:nvSpPr>
          <p:cNvPr id="28" name="Text 26"/>
          <p:cNvSpPr txBox="1"/>
          <p:nvPr/>
        </p:nvSpPr>
        <p:spPr>
          <a:xfrm>
            <a:off x="2880360" y="4096512"/>
            <a:ext cx="1463040" cy="274320"/>
          </a:xfrm>
          <a:prstGeom prst="rect">
            <a:avLst/>
          </a:prstGeom>
          <a:noFill/>
          <a:ln/>
        </p:spPr>
        <p:txBody>
          <a:bodyPr wrap="square" lIns="0" tIns="0" rIns="0" bIns="0" rtlCol="0" anchor="ctr"/>
          <a:lstStyle/>
          <a:p>
            <a:pPr algn="r" indent="0" marL="0">
              <a:buNone/>
            </a:pPr>
            <a:r>
              <a:rPr lang="en-US" sz="1150" b="1" dirty="0">
                <a:solidFill>
                  <a:srgbClr val="C0392B"/>
                </a:solidFill>
                <a:latin typeface="Calibri" pitchFamily="34" charset="0"/>
                <a:ea typeface="Calibri" pitchFamily="34" charset="-122"/>
                <a:cs typeface="Calibri" pitchFamily="34" charset="-120"/>
              </a:rPr>
              <a:t>ease − 0.30</a:t>
            </a:r>
            <a:endParaRPr lang="en-US" sz="1150" dirty="0"/>
          </a:p>
        </p:txBody>
      </p:sp>
      <p:sp>
        <p:nvSpPr>
          <p:cNvPr id="29" name="Shape 27"/>
          <p:cNvSpPr/>
          <p:nvPr/>
        </p:nvSpPr>
        <p:spPr>
          <a:xfrm>
            <a:off x="4663440" y="2487168"/>
            <a:ext cx="3931920" cy="1847088"/>
          </a:xfrm>
          <a:prstGeom prst="roundRect">
            <a:avLst>
              <a:gd name="adj" fmla="val 3960"/>
            </a:avLst>
          </a:prstGeom>
          <a:solidFill>
            <a:srgbClr val="F6F1E7"/>
          </a:solidFill>
          <a:ln w="12700">
            <a:solidFill>
              <a:srgbClr val="E2D9C8"/>
            </a:solidFill>
            <a:prstDash val="solid"/>
          </a:ln>
        </p:spPr>
      </p:sp>
      <p:sp>
        <p:nvSpPr>
          <p:cNvPr id="30" name="Text 28"/>
          <p:cNvSpPr txBox="1"/>
          <p:nvPr/>
        </p:nvSpPr>
        <p:spPr>
          <a:xfrm>
            <a:off x="4901184" y="2706624"/>
            <a:ext cx="3474720" cy="310896"/>
          </a:xfrm>
          <a:prstGeom prst="rect">
            <a:avLst/>
          </a:prstGeom>
          <a:noFill/>
          <a:ln/>
        </p:spPr>
        <p:txBody>
          <a:bodyPr wrap="square" lIns="0" tIns="0" rIns="0" bIns="0" rtlCol="0" anchor="ctr"/>
          <a:lstStyle/>
          <a:p>
            <a:pPr indent="0" marL="0">
              <a:buNone/>
            </a:pPr>
            <a:r>
              <a:rPr lang="en-US" sz="1500" b="1" dirty="0">
                <a:solidFill>
                  <a:srgbClr val="1F6F5F"/>
                </a:solidFill>
                <a:latin typeface="Cambria" pitchFamily="34" charset="0"/>
                <a:ea typeface="Cambria" pitchFamily="34" charset="-122"/>
                <a:cs typeface="Cambria" pitchFamily="34" charset="-120"/>
              </a:rPr>
              <a:t>What ease is for</a:t>
            </a:r>
            <a:endParaRPr lang="en-US" sz="1500" dirty="0"/>
          </a:p>
        </p:txBody>
      </p:sp>
      <p:sp>
        <p:nvSpPr>
          <p:cNvPr id="31" name="Text 29"/>
          <p:cNvSpPr txBox="1"/>
          <p:nvPr/>
        </p:nvSpPr>
        <p:spPr>
          <a:xfrm>
            <a:off x="4901184" y="3090672"/>
            <a:ext cx="3456432" cy="1024128"/>
          </a:xfrm>
          <a:prstGeom prst="rect">
            <a:avLst/>
          </a:prstGeom>
          <a:noFill/>
          <a:ln/>
        </p:spPr>
        <p:txBody>
          <a:bodyPr wrap="square" lIns="0" tIns="0" rIns="0" bIns="0" rtlCol="0" anchor="t"/>
          <a:lstStyle/>
          <a:p>
            <a:pPr indent="0" marL="0">
              <a:lnSpc>
                <a:spcPct val="112000"/>
              </a:lnSpc>
              <a:buNone/>
            </a:pPr>
            <a:r>
              <a:rPr lang="en-US" sz="1150" dirty="0">
                <a:solidFill>
                  <a:srgbClr val="5D564B"/>
                </a:solidFill>
                <a:latin typeface="Calibri" pitchFamily="34" charset="0"/>
                <a:ea typeface="Calibri" pitchFamily="34" charset="-122"/>
                <a:cs typeface="Calibri" pitchFamily="34" charset="-120"/>
              </a:rPr>
              <a:t>Two ḥuffāẓ, or two pages, do not behave alike. A page of long, rhythmic āyāt may hold for months; a page of dense legal text with look-alike verses may not.</a:t>
            </a:r>
            <a:endParaRPr lang="en-US" sz="1150" dirty="0"/>
          </a:p>
          <a:p>
            <a:pPr indent="0" marL="0">
              <a:lnSpc>
                <a:spcPct val="112000"/>
              </a:lnSpc>
              <a:buNone/>
            </a:pPr>
            <a:endParaRPr lang="en-US" sz="1150" dirty="0"/>
          </a:p>
          <a:p>
            <a:pPr indent="0" marL="0">
              <a:lnSpc>
                <a:spcPct val="112000"/>
              </a:lnSpc>
              <a:buNone/>
            </a:pPr>
            <a:r>
              <a:rPr lang="en-US" sz="1150" dirty="0">
                <a:solidFill>
                  <a:srgbClr val="5D564B"/>
                </a:solidFill>
                <a:latin typeface="Calibri" pitchFamily="34" charset="0"/>
                <a:ea typeface="Calibri" pitchFamily="34" charset="-122"/>
                <a:cs typeface="Calibri" pitchFamily="34" charset="-120"/>
              </a:rPr>
              <a:t>Ease lets the schedule discover that from the ratings instead of assuming it. The clamp stops one bad week, or one lucky streak, running away with the schedule.</a:t>
            </a:r>
            <a:endParaRPr lang="en-US" sz="1150" dirty="0"/>
          </a:p>
        </p:txBody>
      </p:sp>
      <p:sp>
        <p:nvSpPr>
          <p:cNvPr id="32" name="Text 30"/>
          <p:cNvSpPr txBox="1"/>
          <p:nvPr/>
        </p:nvSpPr>
        <p:spPr>
          <a:xfrm>
            <a:off x="548640" y="4462272"/>
            <a:ext cx="8046720" cy="365760"/>
          </a:xfrm>
          <a:prstGeom prst="rect">
            <a:avLst/>
          </a:prstGeom>
          <a:noFill/>
          <a:ln/>
        </p:spPr>
        <p:txBody>
          <a:bodyPr wrap="square" lIns="0" tIns="0" rIns="0" bIns="0" rtlCol="0" anchor="ctr"/>
          <a:lstStyle/>
          <a:p>
            <a:pPr indent="0" marL="0">
              <a:buNone/>
            </a:pPr>
            <a:r>
              <a:rPr lang="en-US" sz="1050" i="1" dirty="0">
                <a:solidFill>
                  <a:srgbClr val="857C6D"/>
                </a:solidFill>
                <a:latin typeface="Calibri" pitchFamily="34" charset="0"/>
                <a:ea typeface="Calibri" pitchFamily="34" charset="-122"/>
                <a:cs typeface="Calibri" pitchFamily="34" charset="-120"/>
              </a:rPr>
              <a:t>Ease factors with a floor of 1.3 follow the SM-2 family (Woźniak &amp; Gorzelańczyk, 1994); the specific step sizes here are the app’s own.</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10896"/>
            <a:ext cx="8046720" cy="237744"/>
          </a:xfrm>
          <a:prstGeom prst="rect">
            <a:avLst/>
          </a:prstGeom>
          <a:noFill/>
          <a:ln/>
        </p:spPr>
        <p:txBody>
          <a:bodyPr wrap="square" lIns="0" tIns="0" rIns="0" bIns="0" rtlCol="0" anchor="ctr"/>
          <a:lstStyle/>
          <a:p>
            <a:pPr indent="0" marL="0">
              <a:buNone/>
            </a:pPr>
            <a:r>
              <a:rPr lang="en-US" sz="1100" b="1" spc="200" kern="0" dirty="0">
                <a:solidFill>
                  <a:srgbClr val="B8860B"/>
                </a:solidFill>
                <a:latin typeface="Calibri" pitchFamily="34" charset="0"/>
                <a:ea typeface="Calibri" pitchFamily="34" charset="-122"/>
                <a:cs typeface="Calibri" pitchFamily="34" charset="-120"/>
              </a:rPr>
              <a:t>PART D · THE ALGORITHM</a:t>
            </a:r>
            <a:endParaRPr lang="en-US" sz="1100" dirty="0"/>
          </a:p>
        </p:txBody>
      </p:sp>
      <p:sp>
        <p:nvSpPr>
          <p:cNvPr id="3" name="Text 1"/>
          <p:cNvSpPr txBox="1"/>
          <p:nvPr/>
        </p:nvSpPr>
        <p:spPr>
          <a:xfrm>
            <a:off x="548640" y="530352"/>
            <a:ext cx="8046720" cy="603504"/>
          </a:xfrm>
          <a:prstGeom prst="rect">
            <a:avLst/>
          </a:prstGeom>
          <a:noFill/>
          <a:ln/>
        </p:spPr>
        <p:txBody>
          <a:bodyPr wrap="square" lIns="0" tIns="0" rIns="0" bIns="0" rtlCol="0" anchor="ctr"/>
          <a:lstStyle/>
          <a:p>
            <a:pPr indent="0" marL="0">
              <a:buNone/>
            </a:pPr>
            <a:r>
              <a:rPr lang="en-US" sz="2900" b="1" dirty="0">
                <a:solidFill>
                  <a:srgbClr val="1F6F5F"/>
                </a:solidFill>
                <a:latin typeface="Cambria" pitchFamily="34" charset="0"/>
                <a:ea typeface="Cambria" pitchFamily="34" charset="-122"/>
                <a:cs typeface="Cambria" pitchFamily="34" charset="-120"/>
              </a:rPr>
              <a:t>What a rating actually does</a:t>
            </a:r>
            <a:endParaRPr lang="en-US" sz="2900" dirty="0"/>
          </a:p>
        </p:txBody>
      </p:sp>
      <p:sp>
        <p:nvSpPr>
          <p:cNvPr id="4" name="Shape 2"/>
          <p:cNvSpPr/>
          <p:nvPr/>
        </p:nvSpPr>
        <p:spPr>
          <a:xfrm>
            <a:off x="548640" y="1207008"/>
            <a:ext cx="2606040" cy="3108960"/>
          </a:xfrm>
          <a:prstGeom prst="roundRect">
            <a:avLst>
              <a:gd name="adj" fmla="val 2807"/>
            </a:avLst>
          </a:prstGeom>
          <a:solidFill>
            <a:srgbClr val="FFFFFF"/>
          </a:solidFill>
          <a:ln w="12700">
            <a:solidFill>
              <a:srgbClr val="C0392B"/>
            </a:solidFill>
            <a:prstDash val="solid"/>
          </a:ln>
        </p:spPr>
      </p:sp>
      <p:sp>
        <p:nvSpPr>
          <p:cNvPr id="5" name="Text 3"/>
          <p:cNvSpPr txBox="1"/>
          <p:nvPr/>
        </p:nvSpPr>
        <p:spPr>
          <a:xfrm>
            <a:off x="786384" y="1426464"/>
            <a:ext cx="2148840" cy="310896"/>
          </a:xfrm>
          <a:prstGeom prst="rect">
            <a:avLst/>
          </a:prstGeom>
          <a:noFill/>
          <a:ln/>
        </p:spPr>
        <p:txBody>
          <a:bodyPr wrap="square" lIns="0" tIns="0" rIns="0" bIns="0" rtlCol="0" anchor="ctr"/>
          <a:lstStyle/>
          <a:p>
            <a:pPr indent="0" marL="0">
              <a:buNone/>
            </a:pPr>
            <a:r>
              <a:rPr lang="en-US" sz="1500" b="1" dirty="0">
                <a:solidFill>
                  <a:srgbClr val="C0392B"/>
                </a:solidFill>
                <a:latin typeface="Cambria" pitchFamily="34" charset="0"/>
                <a:ea typeface="Cambria" pitchFamily="34" charset="-122"/>
                <a:cs typeface="Cambria" pitchFamily="34" charset="-120"/>
              </a:rPr>
              <a:t>0, 1 or 2 — lapse</a:t>
            </a:r>
            <a:endParaRPr lang="en-US" sz="1500" dirty="0"/>
          </a:p>
        </p:txBody>
      </p:sp>
      <p:sp>
        <p:nvSpPr>
          <p:cNvPr id="6" name="Text 4"/>
          <p:cNvSpPr txBox="1"/>
          <p:nvPr/>
        </p:nvSpPr>
        <p:spPr>
          <a:xfrm>
            <a:off x="786384" y="1810512"/>
            <a:ext cx="2130552" cy="2286000"/>
          </a:xfrm>
          <a:prstGeom prst="rect">
            <a:avLst/>
          </a:prstGeom>
          <a:noFill/>
          <a:ln/>
        </p:spPr>
        <p:txBody>
          <a:bodyPr wrap="square" lIns="0" tIns="0" rIns="0" bIns="0" rtlCol="0" anchor="t"/>
          <a:lstStyle/>
          <a:p>
            <a:pPr indent="0" marL="0">
              <a:lnSpc>
                <a:spcPct val="112000"/>
              </a:lnSpc>
              <a:buNone/>
            </a:pPr>
            <a:r>
              <a:rPr lang="en-US" sz="1150" dirty="0">
                <a:solidFill>
                  <a:srgbClr val="5D564B"/>
                </a:solidFill>
                <a:latin typeface="Calibri" pitchFamily="34" charset="0"/>
                <a:ea typeface="Calibri" pitchFamily="34" charset="-122"/>
                <a:cs typeface="Calibri" pitchFamily="34" charset="-120"/>
              </a:rPr>
              <a:t>• interval → 1 day</a:t>
            </a:r>
            <a:endParaRPr lang="en-US" sz="1150" dirty="0"/>
          </a:p>
          <a:p>
            <a:pPr indent="0" marL="0">
              <a:lnSpc>
                <a:spcPct val="112000"/>
              </a:lnSpc>
              <a:buNone/>
            </a:pPr>
            <a:r>
              <a:rPr lang="en-US" sz="1150" dirty="0">
                <a:solidFill>
                  <a:srgbClr val="5D564B"/>
                </a:solidFill>
                <a:latin typeface="Calibri" pitchFamily="34" charset="0"/>
                <a:ea typeface="Calibri" pitchFamily="34" charset="-122"/>
                <a:cs typeface="Calibri" pitchFamily="34" charset="-120"/>
              </a:rPr>
              <a:t>• back to the bottom rung</a:t>
            </a:r>
            <a:endParaRPr lang="en-US" sz="1150" dirty="0"/>
          </a:p>
          <a:p>
            <a:pPr indent="0" marL="0">
              <a:lnSpc>
                <a:spcPct val="112000"/>
              </a:lnSpc>
              <a:buNone/>
            </a:pPr>
            <a:r>
              <a:rPr lang="en-US" sz="1150" dirty="0">
                <a:solidFill>
                  <a:srgbClr val="5D564B"/>
                </a:solidFill>
                <a:latin typeface="Calibri" pitchFamily="34" charset="0"/>
                <a:ea typeface="Calibri" pitchFamily="34" charset="-122"/>
                <a:cs typeface="Calibri" pitchFamily="34" charset="-120"/>
              </a:rPr>
              <a:t>• ease − 0.30</a:t>
            </a:r>
            <a:endParaRPr lang="en-US" sz="1150" dirty="0"/>
          </a:p>
          <a:p>
            <a:pPr indent="0" marL="0">
              <a:lnSpc>
                <a:spcPct val="112000"/>
              </a:lnSpc>
              <a:buNone/>
            </a:pPr>
            <a:r>
              <a:rPr lang="en-US" sz="1150" dirty="0">
                <a:solidFill>
                  <a:srgbClr val="5D564B"/>
                </a:solidFill>
                <a:latin typeface="Calibri" pitchFamily="34" charset="0"/>
                <a:ea typeface="Calibri" pitchFamily="34" charset="-122"/>
                <a:cs typeface="Calibri" pitchFamily="34" charset="-120"/>
              </a:rPr>
              <a:t>• the page is flagged weak</a:t>
            </a:r>
            <a:endParaRPr lang="en-US" sz="1150" dirty="0"/>
          </a:p>
          <a:p>
            <a:pPr indent="0" marL="0">
              <a:lnSpc>
                <a:spcPct val="112000"/>
              </a:lnSpc>
              <a:buNone/>
            </a:pPr>
            <a:r>
              <a:rPr lang="en-US" sz="1150" dirty="0">
                <a:solidFill>
                  <a:srgbClr val="5D564B"/>
                </a:solidFill>
                <a:latin typeface="Calibri" pitchFamily="34" charset="0"/>
                <a:ea typeface="Calibri" pitchFamily="34" charset="-122"/>
                <a:cs typeface="Calibri" pitchFamily="34" charset="-120"/>
              </a:rPr>
              <a:t>• lapse counter + 1</a:t>
            </a:r>
            <a:endParaRPr lang="en-US" sz="1150" dirty="0"/>
          </a:p>
          <a:p>
            <a:pPr indent="0" marL="0">
              <a:lnSpc>
                <a:spcPct val="112000"/>
              </a:lnSpc>
              <a:buNone/>
            </a:pPr>
            <a:r>
              <a:rPr lang="en-US" sz="1150" dirty="0">
                <a:solidFill>
                  <a:srgbClr val="5D564B"/>
                </a:solidFill>
                <a:latin typeface="Calibri" pitchFamily="34" charset="0"/>
                <a:ea typeface="Calibri" pitchFamily="34" charset="-122"/>
                <a:cs typeface="Calibri" pitchFamily="34" charset="-120"/>
              </a:rPr>
              <a:t>• a manzil page is demoted back to sabqi</a:t>
            </a:r>
            <a:endParaRPr lang="en-US" sz="1150" dirty="0"/>
          </a:p>
          <a:p>
            <a:pPr indent="0" marL="0">
              <a:lnSpc>
                <a:spcPct val="112000"/>
              </a:lnSpc>
              <a:buNone/>
            </a:pPr>
            <a:endParaRPr lang="en-US" sz="1150" dirty="0"/>
          </a:p>
          <a:p>
            <a:pPr indent="0" marL="0">
              <a:lnSpc>
                <a:spcPct val="112000"/>
              </a:lnSpc>
              <a:buNone/>
            </a:pPr>
            <a:r>
              <a:rPr lang="en-US" sz="1150" dirty="0">
                <a:solidFill>
                  <a:srgbClr val="5D564B"/>
                </a:solidFill>
                <a:latin typeface="Calibri" pitchFamily="34" charset="0"/>
                <a:ea typeface="Calibri" pitchFamily="34" charset="-122"/>
                <a:cs typeface="Calibri" pitchFamily="34" charset="-120"/>
              </a:rPr>
              <a:t>The page returns tomorrow.</a:t>
            </a:r>
            <a:endParaRPr lang="en-US" sz="1150" dirty="0"/>
          </a:p>
        </p:txBody>
      </p:sp>
      <p:sp>
        <p:nvSpPr>
          <p:cNvPr id="7" name="Shape 5"/>
          <p:cNvSpPr/>
          <p:nvPr/>
        </p:nvSpPr>
        <p:spPr>
          <a:xfrm>
            <a:off x="3291840" y="1207008"/>
            <a:ext cx="2606040" cy="3108960"/>
          </a:xfrm>
          <a:prstGeom prst="roundRect">
            <a:avLst>
              <a:gd name="adj" fmla="val 2807"/>
            </a:avLst>
          </a:prstGeom>
          <a:solidFill>
            <a:srgbClr val="FFFFFF"/>
          </a:solidFill>
          <a:ln w="12700">
            <a:solidFill>
              <a:srgbClr val="B8860B"/>
            </a:solidFill>
            <a:prstDash val="solid"/>
          </a:ln>
        </p:spPr>
      </p:sp>
      <p:sp>
        <p:nvSpPr>
          <p:cNvPr id="8" name="Text 6"/>
          <p:cNvSpPr txBox="1"/>
          <p:nvPr/>
        </p:nvSpPr>
        <p:spPr>
          <a:xfrm>
            <a:off x="3529584" y="1426464"/>
            <a:ext cx="2148840" cy="310896"/>
          </a:xfrm>
          <a:prstGeom prst="rect">
            <a:avLst/>
          </a:prstGeom>
          <a:noFill/>
          <a:ln/>
        </p:spPr>
        <p:txBody>
          <a:bodyPr wrap="square" lIns="0" tIns="0" rIns="0" bIns="0" rtlCol="0" anchor="ctr"/>
          <a:lstStyle/>
          <a:p>
            <a:pPr indent="0" marL="0">
              <a:buNone/>
            </a:pPr>
            <a:r>
              <a:rPr lang="en-US" sz="1500" b="1" dirty="0">
                <a:solidFill>
                  <a:srgbClr val="B8860B"/>
                </a:solidFill>
                <a:latin typeface="Cambria" pitchFamily="34" charset="0"/>
                <a:ea typeface="Cambria" pitchFamily="34" charset="-122"/>
                <a:cs typeface="Cambria" pitchFamily="34" charset="-120"/>
              </a:rPr>
              <a:t>3 — hold</a:t>
            </a:r>
            <a:endParaRPr lang="en-US" sz="1500" dirty="0"/>
          </a:p>
        </p:txBody>
      </p:sp>
      <p:sp>
        <p:nvSpPr>
          <p:cNvPr id="9" name="Text 7"/>
          <p:cNvSpPr txBox="1"/>
          <p:nvPr/>
        </p:nvSpPr>
        <p:spPr>
          <a:xfrm>
            <a:off x="3529584" y="1810512"/>
            <a:ext cx="2130552" cy="2286000"/>
          </a:xfrm>
          <a:prstGeom prst="rect">
            <a:avLst/>
          </a:prstGeom>
          <a:noFill/>
          <a:ln/>
        </p:spPr>
        <p:txBody>
          <a:bodyPr wrap="square" lIns="0" tIns="0" rIns="0" bIns="0" rtlCol="0" anchor="t"/>
          <a:lstStyle/>
          <a:p>
            <a:pPr indent="0" marL="0">
              <a:lnSpc>
                <a:spcPct val="112000"/>
              </a:lnSpc>
              <a:buNone/>
            </a:pPr>
            <a:r>
              <a:rPr lang="en-US" sz="1150" dirty="0">
                <a:solidFill>
                  <a:srgbClr val="5D564B"/>
                </a:solidFill>
                <a:latin typeface="Calibri" pitchFamily="34" charset="0"/>
                <a:ea typeface="Calibri" pitchFamily="34" charset="-122"/>
                <a:cs typeface="Calibri" pitchFamily="34" charset="-120"/>
              </a:rPr>
              <a:t>• the same interval repeats</a:t>
            </a:r>
            <a:endParaRPr lang="en-US" sz="1150" dirty="0"/>
          </a:p>
          <a:p>
            <a:pPr indent="0" marL="0">
              <a:lnSpc>
                <a:spcPct val="112000"/>
              </a:lnSpc>
              <a:buNone/>
            </a:pPr>
            <a:r>
              <a:rPr lang="en-US" sz="1150" dirty="0">
                <a:solidFill>
                  <a:srgbClr val="5D564B"/>
                </a:solidFill>
                <a:latin typeface="Calibri" pitchFamily="34" charset="0"/>
                <a:ea typeface="Calibri" pitchFamily="34" charset="-122"/>
                <a:cs typeface="Calibri" pitchFamily="34" charset="-120"/>
              </a:rPr>
              <a:t>• ease − 0.15</a:t>
            </a:r>
            <a:endParaRPr lang="en-US" sz="1150" dirty="0"/>
          </a:p>
          <a:p>
            <a:pPr indent="0" marL="0">
              <a:lnSpc>
                <a:spcPct val="112000"/>
              </a:lnSpc>
              <a:buNone/>
            </a:pPr>
            <a:r>
              <a:rPr lang="en-US" sz="1150" dirty="0">
                <a:solidFill>
                  <a:srgbClr val="5D564B"/>
                </a:solidFill>
                <a:latin typeface="Calibri" pitchFamily="34" charset="0"/>
                <a:ea typeface="Calibri" pitchFamily="34" charset="-122"/>
                <a:cs typeface="Calibri" pitchFamily="34" charset="-120"/>
              </a:rPr>
              <a:t>• the good-run counter resets to zero</a:t>
            </a:r>
            <a:endParaRPr lang="en-US" sz="1150" dirty="0"/>
          </a:p>
          <a:p>
            <a:pPr indent="0" marL="0">
              <a:lnSpc>
                <a:spcPct val="112000"/>
              </a:lnSpc>
              <a:buNone/>
            </a:pPr>
            <a:endParaRPr lang="en-US" sz="1150" dirty="0"/>
          </a:p>
          <a:p>
            <a:pPr indent="0" marL="0">
              <a:lnSpc>
                <a:spcPct val="112000"/>
              </a:lnSpc>
              <a:buNone/>
            </a:pPr>
            <a:r>
              <a:rPr lang="en-US" sz="1150" dirty="0">
                <a:solidFill>
                  <a:srgbClr val="5D564B"/>
                </a:solidFill>
                <a:latin typeface="Calibri" pitchFamily="34" charset="0"/>
                <a:ea typeface="Calibri" pitchFamily="34" charset="-122"/>
                <a:cs typeface="Calibri" pitchFamily="34" charset="-120"/>
              </a:rPr>
              <a:t>No climb, no punishment. The page is holding, but it has not shown it is stronger, so it is not given a longer gap.</a:t>
            </a:r>
            <a:endParaRPr lang="en-US" sz="1150" dirty="0"/>
          </a:p>
        </p:txBody>
      </p:sp>
      <p:sp>
        <p:nvSpPr>
          <p:cNvPr id="10" name="Shape 8"/>
          <p:cNvSpPr/>
          <p:nvPr/>
        </p:nvSpPr>
        <p:spPr>
          <a:xfrm>
            <a:off x="6035040" y="1207008"/>
            <a:ext cx="2606040" cy="3108960"/>
          </a:xfrm>
          <a:prstGeom prst="roundRect">
            <a:avLst>
              <a:gd name="adj" fmla="val 2807"/>
            </a:avLst>
          </a:prstGeom>
          <a:solidFill>
            <a:srgbClr val="FFFFFF"/>
          </a:solidFill>
          <a:ln w="12700">
            <a:solidFill>
              <a:srgbClr val="1F6F5F"/>
            </a:solidFill>
            <a:prstDash val="solid"/>
          </a:ln>
        </p:spPr>
      </p:sp>
      <p:sp>
        <p:nvSpPr>
          <p:cNvPr id="11" name="Text 9"/>
          <p:cNvSpPr txBox="1"/>
          <p:nvPr/>
        </p:nvSpPr>
        <p:spPr>
          <a:xfrm>
            <a:off x="6272784" y="1426464"/>
            <a:ext cx="2148840" cy="310896"/>
          </a:xfrm>
          <a:prstGeom prst="rect">
            <a:avLst/>
          </a:prstGeom>
          <a:noFill/>
          <a:ln/>
        </p:spPr>
        <p:txBody>
          <a:bodyPr wrap="square" lIns="0" tIns="0" rIns="0" bIns="0" rtlCol="0" anchor="ctr"/>
          <a:lstStyle/>
          <a:p>
            <a:pPr indent="0" marL="0">
              <a:buNone/>
            </a:pPr>
            <a:r>
              <a:rPr lang="en-US" sz="1500" b="1" dirty="0">
                <a:solidFill>
                  <a:srgbClr val="1F6F5F"/>
                </a:solidFill>
                <a:latin typeface="Cambria" pitchFamily="34" charset="0"/>
                <a:ea typeface="Cambria" pitchFamily="34" charset="-122"/>
                <a:cs typeface="Cambria" pitchFamily="34" charset="-120"/>
              </a:rPr>
              <a:t>4 or 5 — advance</a:t>
            </a:r>
            <a:endParaRPr lang="en-US" sz="1500" dirty="0"/>
          </a:p>
        </p:txBody>
      </p:sp>
      <p:sp>
        <p:nvSpPr>
          <p:cNvPr id="12" name="Text 10"/>
          <p:cNvSpPr txBox="1"/>
          <p:nvPr/>
        </p:nvSpPr>
        <p:spPr>
          <a:xfrm>
            <a:off x="6272784" y="1810512"/>
            <a:ext cx="2130552" cy="2286000"/>
          </a:xfrm>
          <a:prstGeom prst="rect">
            <a:avLst/>
          </a:prstGeom>
          <a:noFill/>
          <a:ln/>
        </p:spPr>
        <p:txBody>
          <a:bodyPr wrap="square" lIns="0" tIns="0" rIns="0" bIns="0" rtlCol="0" anchor="t"/>
          <a:lstStyle/>
          <a:p>
            <a:pPr indent="0" marL="0">
              <a:lnSpc>
                <a:spcPct val="112000"/>
              </a:lnSpc>
              <a:buNone/>
            </a:pPr>
            <a:r>
              <a:rPr lang="en-US" sz="1150" dirty="0">
                <a:solidFill>
                  <a:srgbClr val="5D564B"/>
                </a:solidFill>
                <a:latin typeface="Calibri" pitchFamily="34" charset="0"/>
                <a:ea typeface="Calibri" pitchFamily="34" charset="-122"/>
                <a:cs typeface="Calibri" pitchFamily="34" charset="-120"/>
              </a:rPr>
              <a:t>• good-run counter + 1</a:t>
            </a:r>
            <a:endParaRPr lang="en-US" sz="1150" dirty="0"/>
          </a:p>
          <a:p>
            <a:pPr indent="0" marL="0">
              <a:lnSpc>
                <a:spcPct val="112000"/>
              </a:lnSpc>
              <a:buNone/>
            </a:pPr>
            <a:r>
              <a:rPr lang="en-US" sz="1150" dirty="0">
                <a:solidFill>
                  <a:srgbClr val="5D564B"/>
                </a:solidFill>
                <a:latin typeface="Calibri" pitchFamily="34" charset="0"/>
                <a:ea typeface="Calibri" pitchFamily="34" charset="-122"/>
                <a:cs typeface="Calibri" pitchFamily="34" charset="-120"/>
              </a:rPr>
              <a:t>• a 5 adds 0.10 to ease</a:t>
            </a:r>
            <a:endParaRPr lang="en-US" sz="1150" dirty="0"/>
          </a:p>
          <a:p>
            <a:pPr indent="0" marL="0">
              <a:lnSpc>
                <a:spcPct val="112000"/>
              </a:lnSpc>
              <a:buNone/>
            </a:pPr>
            <a:r>
              <a:rPr lang="en-US" sz="1150" dirty="0">
                <a:solidFill>
                  <a:srgbClr val="5D564B"/>
                </a:solidFill>
                <a:latin typeface="Calibri" pitchFamily="34" charset="0"/>
                <a:ea typeface="Calibri" pitchFamily="34" charset="-122"/>
                <a:cs typeface="Calibri" pitchFamily="34" charset="-120"/>
              </a:rPr>
              <a:t>• climb one rung, or multiply by ease past the top</a:t>
            </a:r>
            <a:endParaRPr lang="en-US" sz="1150" dirty="0"/>
          </a:p>
          <a:p>
            <a:pPr indent="0" marL="0">
              <a:lnSpc>
                <a:spcPct val="112000"/>
              </a:lnSpc>
              <a:buNone/>
            </a:pPr>
            <a:r>
              <a:rPr lang="en-US" sz="1150" dirty="0">
                <a:solidFill>
                  <a:srgbClr val="5D564B"/>
                </a:solidFill>
                <a:latin typeface="Calibri" pitchFamily="34" charset="0"/>
                <a:ea typeface="Calibri" pitchFamily="34" charset="-122"/>
                <a:cs typeface="Calibri" pitchFamily="34" charset="-120"/>
              </a:rPr>
              <a:t>• two good runs clear the weak flag</a:t>
            </a:r>
            <a:endParaRPr lang="en-US" sz="1150" dirty="0"/>
          </a:p>
          <a:p>
            <a:pPr indent="0" marL="0">
              <a:lnSpc>
                <a:spcPct val="112000"/>
              </a:lnSpc>
              <a:buNone/>
            </a:pPr>
            <a:r>
              <a:rPr lang="en-US" sz="1150" dirty="0">
                <a:solidFill>
                  <a:srgbClr val="5D564B"/>
                </a:solidFill>
                <a:latin typeface="Calibri" pitchFamily="34" charset="0"/>
                <a:ea typeface="Calibri" pitchFamily="34" charset="-122"/>
                <a:cs typeface="Calibri" pitchFamily="34" charset="-120"/>
              </a:rPr>
              <a:t>• three good runs at ≥ 30 days promote the page to manzil</a:t>
            </a:r>
            <a:endParaRPr lang="en-US" sz="1150" dirty="0"/>
          </a:p>
        </p:txBody>
      </p:sp>
      <p:sp>
        <p:nvSpPr>
          <p:cNvPr id="13" name="Text 11"/>
          <p:cNvSpPr txBox="1"/>
          <p:nvPr/>
        </p:nvSpPr>
        <p:spPr>
          <a:xfrm>
            <a:off x="548640" y="4434840"/>
            <a:ext cx="8046720" cy="365760"/>
          </a:xfrm>
          <a:prstGeom prst="rect">
            <a:avLst/>
          </a:prstGeom>
          <a:noFill/>
          <a:ln/>
        </p:spPr>
        <p:txBody>
          <a:bodyPr wrap="square" lIns="0" tIns="0" rIns="0" bIns="0" rtlCol="0" anchor="ctr"/>
          <a:lstStyle/>
          <a:p>
            <a:pPr indent="0" marL="0">
              <a:buNone/>
            </a:pPr>
            <a:r>
              <a:rPr lang="en-US" sz="1050" i="1" dirty="0">
                <a:solidFill>
                  <a:srgbClr val="857C6D"/>
                </a:solidFill>
                <a:latin typeface="Calibri" pitchFamily="34" charset="0"/>
                <a:ea typeface="Calibri" pitchFamily="34" charset="-122"/>
                <a:cs typeface="Calibri" pitchFamily="34" charset="-120"/>
              </a:rPr>
              <a:t>These are the complete rules. There is nothing else in the scheduler — no hidden weighting, no model fitted to your data, no AI judgement of your recitation.</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10896"/>
            <a:ext cx="8046720" cy="237744"/>
          </a:xfrm>
          <a:prstGeom prst="rect">
            <a:avLst/>
          </a:prstGeom>
          <a:noFill/>
          <a:ln/>
        </p:spPr>
        <p:txBody>
          <a:bodyPr wrap="square" lIns="0" tIns="0" rIns="0" bIns="0" rtlCol="0" anchor="ctr"/>
          <a:lstStyle/>
          <a:p>
            <a:pPr indent="0" marL="0">
              <a:buNone/>
            </a:pPr>
            <a:r>
              <a:rPr lang="en-US" sz="1100" b="1" spc="200" kern="0" dirty="0">
                <a:solidFill>
                  <a:srgbClr val="B8860B"/>
                </a:solidFill>
                <a:latin typeface="Calibri" pitchFamily="34" charset="0"/>
                <a:ea typeface="Calibri" pitchFamily="34" charset="-122"/>
                <a:cs typeface="Calibri" pitchFamily="34" charset="-120"/>
              </a:rPr>
              <a:t>PART D · THE ALGORITHM</a:t>
            </a:r>
            <a:endParaRPr lang="en-US" sz="1100" dirty="0"/>
          </a:p>
        </p:txBody>
      </p:sp>
      <p:sp>
        <p:nvSpPr>
          <p:cNvPr id="3" name="Text 1"/>
          <p:cNvSpPr txBox="1"/>
          <p:nvPr/>
        </p:nvSpPr>
        <p:spPr>
          <a:xfrm>
            <a:off x="548640" y="530352"/>
            <a:ext cx="8046720" cy="603504"/>
          </a:xfrm>
          <a:prstGeom prst="rect">
            <a:avLst/>
          </a:prstGeom>
          <a:noFill/>
          <a:ln/>
        </p:spPr>
        <p:txBody>
          <a:bodyPr wrap="square" lIns="0" tIns="0" rIns="0" bIns="0" rtlCol="0" anchor="ctr"/>
          <a:lstStyle/>
          <a:p>
            <a:pPr indent="0" marL="0">
              <a:buNone/>
            </a:pPr>
            <a:r>
              <a:rPr lang="en-US" sz="2900" b="1" dirty="0">
                <a:solidFill>
                  <a:srgbClr val="1F6F5F"/>
                </a:solidFill>
                <a:latin typeface="Cambria" pitchFamily="34" charset="0"/>
                <a:ea typeface="Cambria" pitchFamily="34" charset="-122"/>
                <a:cs typeface="Cambria" pitchFamily="34" charset="-120"/>
              </a:rPr>
              <a:t>A slip is remembered, not just punished</a:t>
            </a:r>
            <a:endParaRPr lang="en-US" sz="2900" dirty="0"/>
          </a:p>
        </p:txBody>
      </p:sp>
      <p:sp>
        <p:nvSpPr>
          <p:cNvPr id="4" name="Text 2"/>
          <p:cNvSpPr txBox="1"/>
          <p:nvPr/>
        </p:nvSpPr>
        <p:spPr>
          <a:xfrm>
            <a:off x="548640" y="1152144"/>
            <a:ext cx="8046720" cy="310896"/>
          </a:xfrm>
          <a:prstGeom prst="rect">
            <a:avLst/>
          </a:prstGeom>
          <a:noFill/>
          <a:ln/>
        </p:spPr>
        <p:txBody>
          <a:bodyPr wrap="square" lIns="0" tIns="0" rIns="0" bIns="0" rtlCol="0" anchor="ctr"/>
          <a:lstStyle/>
          <a:p>
            <a:pPr indent="0" marL="0">
              <a:buNone/>
            </a:pPr>
            <a:r>
              <a:rPr lang="en-US" sz="1350" dirty="0">
                <a:solidFill>
                  <a:srgbClr val="5D564B"/>
                </a:solidFill>
                <a:latin typeface="Calibri" pitchFamily="34" charset="0"/>
                <a:ea typeface="Calibri" pitchFamily="34" charset="-122"/>
                <a:cs typeface="Calibri" pitchFamily="34" charset="-120"/>
              </a:rPr>
              <a:t>Resetting the interval is not enough. A page that has failed once is likely to fail again, so it is marked.</a:t>
            </a:r>
            <a:endParaRPr lang="en-US" sz="1350" dirty="0"/>
          </a:p>
        </p:txBody>
      </p:sp>
      <p:sp>
        <p:nvSpPr>
          <p:cNvPr id="5" name="Shape 3"/>
          <p:cNvSpPr/>
          <p:nvPr/>
        </p:nvSpPr>
        <p:spPr>
          <a:xfrm>
            <a:off x="548640" y="1645920"/>
            <a:ext cx="2560320" cy="960120"/>
          </a:xfrm>
          <a:prstGeom prst="roundRect">
            <a:avLst>
              <a:gd name="adj" fmla="val 7619"/>
            </a:avLst>
          </a:prstGeom>
          <a:solidFill>
            <a:srgbClr val="FFFFFF"/>
          </a:solidFill>
          <a:ln w="19050">
            <a:solidFill>
              <a:srgbClr val="C0392B"/>
            </a:solidFill>
            <a:prstDash val="solid"/>
          </a:ln>
        </p:spPr>
      </p:sp>
      <p:sp>
        <p:nvSpPr>
          <p:cNvPr id="6" name="Text 4"/>
          <p:cNvSpPr txBox="1"/>
          <p:nvPr/>
        </p:nvSpPr>
        <p:spPr>
          <a:xfrm>
            <a:off x="731520" y="1783080"/>
            <a:ext cx="2194560" cy="274320"/>
          </a:xfrm>
          <a:prstGeom prst="rect">
            <a:avLst/>
          </a:prstGeom>
          <a:noFill/>
          <a:ln/>
        </p:spPr>
        <p:txBody>
          <a:bodyPr wrap="square" lIns="0" tIns="0" rIns="0" bIns="0" rtlCol="0" anchor="ctr"/>
          <a:lstStyle/>
          <a:p>
            <a:pPr indent="0" marL="0">
              <a:buNone/>
            </a:pPr>
            <a:r>
              <a:rPr lang="en-US" sz="1300" b="1" dirty="0">
                <a:solidFill>
                  <a:srgbClr val="C0392B"/>
                </a:solidFill>
                <a:latin typeface="Cambria" pitchFamily="34" charset="0"/>
                <a:ea typeface="Cambria" pitchFamily="34" charset="-122"/>
                <a:cs typeface="Cambria" pitchFamily="34" charset="-120"/>
              </a:rPr>
              <a:t>Rating 0–2</a:t>
            </a:r>
            <a:endParaRPr lang="en-US" sz="1300" dirty="0"/>
          </a:p>
        </p:txBody>
      </p:sp>
      <p:sp>
        <p:nvSpPr>
          <p:cNvPr id="7" name="Text 5"/>
          <p:cNvSpPr txBox="1"/>
          <p:nvPr/>
        </p:nvSpPr>
        <p:spPr>
          <a:xfrm>
            <a:off x="731520" y="2066544"/>
            <a:ext cx="2194560" cy="457200"/>
          </a:xfrm>
          <a:prstGeom prst="rect">
            <a:avLst/>
          </a:prstGeom>
          <a:noFill/>
          <a:ln/>
        </p:spPr>
        <p:txBody>
          <a:bodyPr wrap="square" lIns="0" tIns="0" rIns="0" bIns="0" rtlCol="0" anchor="ctr"/>
          <a:lstStyle/>
          <a:p>
            <a:pPr indent="0" marL="0">
              <a:lnSpc>
                <a:spcPct val="110000"/>
              </a:lnSpc>
              <a:buNone/>
            </a:pPr>
            <a:r>
              <a:rPr lang="en-US" sz="1100" dirty="0">
                <a:solidFill>
                  <a:srgbClr val="5D564B"/>
                </a:solidFill>
                <a:latin typeface="Calibri" pitchFamily="34" charset="0"/>
                <a:ea typeface="Calibri" pitchFamily="34" charset="-122"/>
                <a:cs typeface="Calibri" pitchFamily="34" charset="-120"/>
              </a:rPr>
              <a:t>weak = true</a:t>
            </a:r>
            <a:endParaRPr lang="en-US" sz="1100" dirty="0"/>
          </a:p>
        </p:txBody>
      </p:sp>
      <p:sp>
        <p:nvSpPr>
          <p:cNvPr id="8" name="Shape 6"/>
          <p:cNvSpPr/>
          <p:nvPr/>
        </p:nvSpPr>
        <p:spPr>
          <a:xfrm>
            <a:off x="3145536" y="2029968"/>
            <a:ext cx="109728" cy="201168"/>
          </a:xfrm>
          <a:prstGeom prst="rightArrow">
            <a:avLst/>
          </a:prstGeom>
          <a:solidFill>
            <a:srgbClr val="E2D9C8"/>
          </a:solidFill>
          <a:ln/>
        </p:spPr>
      </p:sp>
      <p:sp>
        <p:nvSpPr>
          <p:cNvPr id="9" name="Shape 7"/>
          <p:cNvSpPr/>
          <p:nvPr/>
        </p:nvSpPr>
        <p:spPr>
          <a:xfrm>
            <a:off x="3291840" y="1645920"/>
            <a:ext cx="2560320" cy="960120"/>
          </a:xfrm>
          <a:prstGeom prst="roundRect">
            <a:avLst>
              <a:gd name="adj" fmla="val 7619"/>
            </a:avLst>
          </a:prstGeom>
          <a:solidFill>
            <a:srgbClr val="FFFFFF"/>
          </a:solidFill>
          <a:ln w="19050">
            <a:solidFill>
              <a:srgbClr val="B8860B"/>
            </a:solidFill>
            <a:prstDash val="solid"/>
          </a:ln>
        </p:spPr>
      </p:sp>
      <p:sp>
        <p:nvSpPr>
          <p:cNvPr id="10" name="Text 8"/>
          <p:cNvSpPr txBox="1"/>
          <p:nvPr/>
        </p:nvSpPr>
        <p:spPr>
          <a:xfrm>
            <a:off x="3474720" y="1783080"/>
            <a:ext cx="2194560" cy="274320"/>
          </a:xfrm>
          <a:prstGeom prst="rect">
            <a:avLst/>
          </a:prstGeom>
          <a:noFill/>
          <a:ln/>
        </p:spPr>
        <p:txBody>
          <a:bodyPr wrap="square" lIns="0" tIns="0" rIns="0" bIns="0" rtlCol="0" anchor="ctr"/>
          <a:lstStyle/>
          <a:p>
            <a:pPr indent="0" marL="0">
              <a:buNone/>
            </a:pPr>
            <a:r>
              <a:rPr lang="en-US" sz="1300" b="1" dirty="0">
                <a:solidFill>
                  <a:srgbClr val="B8860B"/>
                </a:solidFill>
                <a:latin typeface="Cambria" pitchFamily="34" charset="0"/>
                <a:ea typeface="Cambria" pitchFamily="34" charset="-122"/>
                <a:cs typeface="Cambria" pitchFamily="34" charset="-120"/>
              </a:rPr>
              <a:t>Next review</a:t>
            </a:r>
            <a:endParaRPr lang="en-US" sz="1300" dirty="0"/>
          </a:p>
        </p:txBody>
      </p:sp>
      <p:sp>
        <p:nvSpPr>
          <p:cNvPr id="11" name="Text 9"/>
          <p:cNvSpPr txBox="1"/>
          <p:nvPr/>
        </p:nvSpPr>
        <p:spPr>
          <a:xfrm>
            <a:off x="3474720" y="2066544"/>
            <a:ext cx="2194560" cy="457200"/>
          </a:xfrm>
          <a:prstGeom prst="rect">
            <a:avLst/>
          </a:prstGeom>
          <a:noFill/>
          <a:ln/>
        </p:spPr>
        <p:txBody>
          <a:bodyPr wrap="square" lIns="0" tIns="0" rIns="0" bIns="0" rtlCol="0" anchor="ctr"/>
          <a:lstStyle/>
          <a:p>
            <a:pPr indent="0" marL="0">
              <a:lnSpc>
                <a:spcPct val="110000"/>
              </a:lnSpc>
              <a:buNone/>
            </a:pPr>
            <a:r>
              <a:rPr lang="en-US" sz="1100" dirty="0">
                <a:solidFill>
                  <a:srgbClr val="5D564B"/>
                </a:solidFill>
                <a:latin typeface="Calibri" pitchFamily="34" charset="0"/>
                <a:ea typeface="Calibri" pitchFamily="34" charset="-122"/>
                <a:cs typeface="Calibri" pitchFamily="34" charset="-120"/>
              </a:rPr>
              <a:t>one good recitation is not enough — the flag stays</a:t>
            </a:r>
            <a:endParaRPr lang="en-US" sz="1100" dirty="0"/>
          </a:p>
        </p:txBody>
      </p:sp>
      <p:sp>
        <p:nvSpPr>
          <p:cNvPr id="12" name="Shape 10"/>
          <p:cNvSpPr/>
          <p:nvPr/>
        </p:nvSpPr>
        <p:spPr>
          <a:xfrm>
            <a:off x="5888736" y="2029968"/>
            <a:ext cx="109728" cy="201168"/>
          </a:xfrm>
          <a:prstGeom prst="rightArrow">
            <a:avLst/>
          </a:prstGeom>
          <a:solidFill>
            <a:srgbClr val="E2D9C8"/>
          </a:solidFill>
          <a:ln/>
        </p:spPr>
      </p:sp>
      <p:sp>
        <p:nvSpPr>
          <p:cNvPr id="13" name="Shape 11"/>
          <p:cNvSpPr/>
          <p:nvPr/>
        </p:nvSpPr>
        <p:spPr>
          <a:xfrm>
            <a:off x="6035040" y="1645920"/>
            <a:ext cx="2560320" cy="960120"/>
          </a:xfrm>
          <a:prstGeom prst="roundRect">
            <a:avLst>
              <a:gd name="adj" fmla="val 7619"/>
            </a:avLst>
          </a:prstGeom>
          <a:solidFill>
            <a:srgbClr val="FFFFFF"/>
          </a:solidFill>
          <a:ln w="19050">
            <a:solidFill>
              <a:srgbClr val="1F6F5F"/>
            </a:solidFill>
            <a:prstDash val="solid"/>
          </a:ln>
        </p:spPr>
      </p:sp>
      <p:sp>
        <p:nvSpPr>
          <p:cNvPr id="14" name="Text 12"/>
          <p:cNvSpPr txBox="1"/>
          <p:nvPr/>
        </p:nvSpPr>
        <p:spPr>
          <a:xfrm>
            <a:off x="6217920" y="1783080"/>
            <a:ext cx="2194560" cy="274320"/>
          </a:xfrm>
          <a:prstGeom prst="rect">
            <a:avLst/>
          </a:prstGeom>
          <a:noFill/>
          <a:ln/>
        </p:spPr>
        <p:txBody>
          <a:bodyPr wrap="square" lIns="0" tIns="0" rIns="0" bIns="0" rtlCol="0" anchor="ctr"/>
          <a:lstStyle/>
          <a:p>
            <a:pPr indent="0" marL="0">
              <a:buNone/>
            </a:pPr>
            <a:r>
              <a:rPr lang="en-US" sz="1300" b="1" dirty="0">
                <a:solidFill>
                  <a:srgbClr val="1F6F5F"/>
                </a:solidFill>
                <a:latin typeface="Cambria" pitchFamily="34" charset="0"/>
                <a:ea typeface="Cambria" pitchFamily="34" charset="-122"/>
                <a:cs typeface="Cambria" pitchFamily="34" charset="-120"/>
              </a:rPr>
              <a:t>The one after</a:t>
            </a:r>
            <a:endParaRPr lang="en-US" sz="1300" dirty="0"/>
          </a:p>
        </p:txBody>
      </p:sp>
      <p:sp>
        <p:nvSpPr>
          <p:cNvPr id="15" name="Text 13"/>
          <p:cNvSpPr txBox="1"/>
          <p:nvPr/>
        </p:nvSpPr>
        <p:spPr>
          <a:xfrm>
            <a:off x="6217920" y="2066544"/>
            <a:ext cx="2194560" cy="457200"/>
          </a:xfrm>
          <a:prstGeom prst="rect">
            <a:avLst/>
          </a:prstGeom>
          <a:noFill/>
          <a:ln/>
        </p:spPr>
        <p:txBody>
          <a:bodyPr wrap="square" lIns="0" tIns="0" rIns="0" bIns="0" rtlCol="0" anchor="ctr"/>
          <a:lstStyle/>
          <a:p>
            <a:pPr indent="0" marL="0">
              <a:lnSpc>
                <a:spcPct val="110000"/>
              </a:lnSpc>
              <a:buNone/>
            </a:pPr>
            <a:r>
              <a:rPr lang="en-US" sz="1100" dirty="0">
                <a:solidFill>
                  <a:srgbClr val="5D564B"/>
                </a:solidFill>
                <a:latin typeface="Calibri" pitchFamily="34" charset="0"/>
                <a:ea typeface="Calibri" pitchFamily="34" charset="-122"/>
                <a:cs typeface="Calibri" pitchFamily="34" charset="-120"/>
              </a:rPr>
              <a:t>two consecutive good recitations clear it</a:t>
            </a:r>
            <a:endParaRPr lang="en-US" sz="1100" dirty="0"/>
          </a:p>
        </p:txBody>
      </p:sp>
      <p:sp>
        <p:nvSpPr>
          <p:cNvPr id="16" name="Shape 14"/>
          <p:cNvSpPr/>
          <p:nvPr/>
        </p:nvSpPr>
        <p:spPr>
          <a:xfrm>
            <a:off x="548640" y="2761488"/>
            <a:ext cx="3931920" cy="1554480"/>
          </a:xfrm>
          <a:prstGeom prst="roundRect">
            <a:avLst>
              <a:gd name="adj" fmla="val 4706"/>
            </a:avLst>
          </a:prstGeom>
          <a:solidFill>
            <a:srgbClr val="F6F1E7"/>
          </a:solidFill>
          <a:ln w="12700">
            <a:solidFill>
              <a:srgbClr val="E2D9C8"/>
            </a:solidFill>
            <a:prstDash val="solid"/>
          </a:ln>
        </p:spPr>
      </p:sp>
      <p:sp>
        <p:nvSpPr>
          <p:cNvPr id="17" name="Text 15"/>
          <p:cNvSpPr txBox="1"/>
          <p:nvPr/>
        </p:nvSpPr>
        <p:spPr>
          <a:xfrm>
            <a:off x="786384" y="2980944"/>
            <a:ext cx="3474720" cy="310896"/>
          </a:xfrm>
          <a:prstGeom prst="rect">
            <a:avLst/>
          </a:prstGeom>
          <a:noFill/>
          <a:ln/>
        </p:spPr>
        <p:txBody>
          <a:bodyPr wrap="square" lIns="0" tIns="0" rIns="0" bIns="0" rtlCol="0" anchor="ctr"/>
          <a:lstStyle/>
          <a:p>
            <a:pPr indent="0" marL="0">
              <a:buNone/>
            </a:pPr>
            <a:r>
              <a:rPr lang="en-US" sz="1500" b="1" dirty="0">
                <a:solidFill>
                  <a:srgbClr val="1F6F5F"/>
                </a:solidFill>
                <a:latin typeface="Cambria" pitchFamily="34" charset="0"/>
                <a:ea typeface="Cambria" pitchFamily="34" charset="-122"/>
                <a:cs typeface="Cambria" pitchFamily="34" charset="-120"/>
              </a:rPr>
              <a:t>What the flag buys you</a:t>
            </a:r>
            <a:endParaRPr lang="en-US" sz="1500" dirty="0"/>
          </a:p>
        </p:txBody>
      </p:sp>
      <p:sp>
        <p:nvSpPr>
          <p:cNvPr id="18" name="Text 16"/>
          <p:cNvSpPr txBox="1"/>
          <p:nvPr/>
        </p:nvSpPr>
        <p:spPr>
          <a:xfrm>
            <a:off x="786384" y="3364992"/>
            <a:ext cx="3456432" cy="731520"/>
          </a:xfrm>
          <a:prstGeom prst="rect">
            <a:avLst/>
          </a:prstGeom>
          <a:noFill/>
          <a:ln/>
        </p:spPr>
        <p:txBody>
          <a:bodyPr wrap="square" lIns="0" tIns="0" rIns="0" bIns="0" rtlCol="0" anchor="t"/>
          <a:lstStyle/>
          <a:p>
            <a:pPr indent="0" marL="0">
              <a:lnSpc>
                <a:spcPct val="112000"/>
              </a:lnSpc>
              <a:buNone/>
            </a:pPr>
            <a:r>
              <a:rPr lang="en-US" sz="1150" dirty="0">
                <a:solidFill>
                  <a:srgbClr val="5D564B"/>
                </a:solidFill>
                <a:latin typeface="Calibri" pitchFamily="34" charset="0"/>
                <a:ea typeface="Calibri" pitchFamily="34" charset="-122"/>
                <a:cs typeface="Calibri" pitchFamily="34" charset="-120"/>
              </a:rPr>
              <a:t>Weak pages are placed first in the day’s revision queue, ahead of everything else that is due, and they are offered first in the next week’s plan proposal. A page you are losing is worked on while you still have the energy for it.</a:t>
            </a:r>
            <a:endParaRPr lang="en-US" sz="1150" dirty="0"/>
          </a:p>
        </p:txBody>
      </p:sp>
      <p:sp>
        <p:nvSpPr>
          <p:cNvPr id="19" name="Shape 17"/>
          <p:cNvSpPr/>
          <p:nvPr/>
        </p:nvSpPr>
        <p:spPr>
          <a:xfrm>
            <a:off x="4663440" y="2761488"/>
            <a:ext cx="3931920" cy="1554480"/>
          </a:xfrm>
          <a:prstGeom prst="roundRect">
            <a:avLst>
              <a:gd name="adj" fmla="val 4706"/>
            </a:avLst>
          </a:prstGeom>
          <a:solidFill>
            <a:srgbClr val="F6F1E7"/>
          </a:solidFill>
          <a:ln w="12700">
            <a:solidFill>
              <a:srgbClr val="E2D9C8"/>
            </a:solidFill>
            <a:prstDash val="solid"/>
          </a:ln>
        </p:spPr>
      </p:sp>
      <p:sp>
        <p:nvSpPr>
          <p:cNvPr id="20" name="Text 18"/>
          <p:cNvSpPr txBox="1"/>
          <p:nvPr/>
        </p:nvSpPr>
        <p:spPr>
          <a:xfrm>
            <a:off x="4901184" y="2980944"/>
            <a:ext cx="3474720" cy="310896"/>
          </a:xfrm>
          <a:prstGeom prst="rect">
            <a:avLst/>
          </a:prstGeom>
          <a:noFill/>
          <a:ln/>
        </p:spPr>
        <p:txBody>
          <a:bodyPr wrap="square" lIns="0" tIns="0" rIns="0" bIns="0" rtlCol="0" anchor="ctr"/>
          <a:lstStyle/>
          <a:p>
            <a:pPr indent="0" marL="0">
              <a:buNone/>
            </a:pPr>
            <a:r>
              <a:rPr lang="en-US" sz="1500" b="1" dirty="0">
                <a:solidFill>
                  <a:srgbClr val="1F6F5F"/>
                </a:solidFill>
                <a:latin typeface="Cambria" pitchFamily="34" charset="0"/>
                <a:ea typeface="Cambria" pitchFamily="34" charset="-122"/>
                <a:cs typeface="Cambria" pitchFamily="34" charset="-120"/>
              </a:rPr>
              <a:t>Why two, not one</a:t>
            </a:r>
            <a:endParaRPr lang="en-US" sz="1500" dirty="0"/>
          </a:p>
        </p:txBody>
      </p:sp>
      <p:sp>
        <p:nvSpPr>
          <p:cNvPr id="21" name="Text 19"/>
          <p:cNvSpPr txBox="1"/>
          <p:nvPr/>
        </p:nvSpPr>
        <p:spPr>
          <a:xfrm>
            <a:off x="4901184" y="3364992"/>
            <a:ext cx="3456432" cy="731520"/>
          </a:xfrm>
          <a:prstGeom prst="rect">
            <a:avLst/>
          </a:prstGeom>
          <a:noFill/>
          <a:ln/>
        </p:spPr>
        <p:txBody>
          <a:bodyPr wrap="square" lIns="0" tIns="0" rIns="0" bIns="0" rtlCol="0" anchor="t"/>
          <a:lstStyle/>
          <a:p>
            <a:pPr indent="0" marL="0">
              <a:lnSpc>
                <a:spcPct val="112000"/>
              </a:lnSpc>
              <a:buNone/>
            </a:pPr>
            <a:r>
              <a:rPr lang="en-US" sz="1150" dirty="0">
                <a:solidFill>
                  <a:srgbClr val="5D564B"/>
                </a:solidFill>
                <a:latin typeface="Calibri" pitchFamily="34" charset="0"/>
                <a:ea typeface="Calibri" pitchFamily="34" charset="-122"/>
                <a:cs typeface="Calibri" pitchFamily="34" charset="-120"/>
              </a:rPr>
              <a:t>One good recitation the day after a failure often reflects the failure itself still being fresh in mind. Requiring two consecutive good recitations, days apart, is a far better signal that the page has actually been repaired.</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10896"/>
            <a:ext cx="8046720" cy="237744"/>
          </a:xfrm>
          <a:prstGeom prst="rect">
            <a:avLst/>
          </a:prstGeom>
          <a:noFill/>
          <a:ln/>
        </p:spPr>
        <p:txBody>
          <a:bodyPr wrap="square" lIns="0" tIns="0" rIns="0" bIns="0" rtlCol="0" anchor="ctr"/>
          <a:lstStyle/>
          <a:p>
            <a:pPr indent="0" marL="0">
              <a:buNone/>
            </a:pPr>
            <a:r>
              <a:rPr lang="en-US" sz="1100" b="1" spc="200" kern="0" dirty="0">
                <a:solidFill>
                  <a:srgbClr val="B8860B"/>
                </a:solidFill>
                <a:latin typeface="Calibri" pitchFamily="34" charset="0"/>
                <a:ea typeface="Calibri" pitchFamily="34" charset="-122"/>
                <a:cs typeface="Calibri" pitchFamily="34" charset="-120"/>
              </a:rPr>
              <a:t>PART D · THE ALGORITHM</a:t>
            </a:r>
            <a:endParaRPr lang="en-US" sz="1100" dirty="0"/>
          </a:p>
        </p:txBody>
      </p:sp>
      <p:sp>
        <p:nvSpPr>
          <p:cNvPr id="3" name="Text 1"/>
          <p:cNvSpPr txBox="1"/>
          <p:nvPr/>
        </p:nvSpPr>
        <p:spPr>
          <a:xfrm>
            <a:off x="548640" y="530352"/>
            <a:ext cx="8046720" cy="603504"/>
          </a:xfrm>
          <a:prstGeom prst="rect">
            <a:avLst/>
          </a:prstGeom>
          <a:noFill/>
          <a:ln/>
        </p:spPr>
        <p:txBody>
          <a:bodyPr wrap="square" lIns="0" tIns="0" rIns="0" bIns="0" rtlCol="0" anchor="ctr"/>
          <a:lstStyle/>
          <a:p>
            <a:pPr indent="0" marL="0">
              <a:buNone/>
            </a:pPr>
            <a:r>
              <a:rPr lang="en-US" sz="2900" b="1" dirty="0">
                <a:solidFill>
                  <a:srgbClr val="1F6F5F"/>
                </a:solidFill>
                <a:latin typeface="Cambria" pitchFamily="34" charset="0"/>
                <a:ea typeface="Cambria" pitchFamily="34" charset="-122"/>
                <a:cs typeface="Cambria" pitchFamily="34" charset="-120"/>
              </a:rPr>
              <a:t>Graduation into manzil</a:t>
            </a:r>
            <a:endParaRPr lang="en-US" sz="2900" dirty="0"/>
          </a:p>
        </p:txBody>
      </p:sp>
      <p:sp>
        <p:nvSpPr>
          <p:cNvPr id="4" name="Text 2"/>
          <p:cNvSpPr txBox="1"/>
          <p:nvPr/>
        </p:nvSpPr>
        <p:spPr>
          <a:xfrm>
            <a:off x="548640" y="1152144"/>
            <a:ext cx="8046720" cy="310896"/>
          </a:xfrm>
          <a:prstGeom prst="rect">
            <a:avLst/>
          </a:prstGeom>
          <a:noFill/>
          <a:ln/>
        </p:spPr>
        <p:txBody>
          <a:bodyPr wrap="square" lIns="0" tIns="0" rIns="0" bIns="0" rtlCol="0" anchor="ctr"/>
          <a:lstStyle/>
          <a:p>
            <a:pPr indent="0" marL="0">
              <a:buNone/>
            </a:pPr>
            <a:r>
              <a:rPr lang="en-US" sz="1350" dirty="0">
                <a:solidFill>
                  <a:srgbClr val="5D564B"/>
                </a:solidFill>
                <a:latin typeface="Calibri" pitchFamily="34" charset="0"/>
                <a:ea typeface="Calibri" pitchFamily="34" charset="-122"/>
                <a:cs typeface="Calibri" pitchFamily="34" charset="-120"/>
              </a:rPr>
              <a:t>A page is not moved to the long rotation because time has passed. It has to earn the move.</a:t>
            </a:r>
            <a:endParaRPr lang="en-US" sz="1350" dirty="0"/>
          </a:p>
        </p:txBody>
      </p:sp>
      <p:sp>
        <p:nvSpPr>
          <p:cNvPr id="5" name="Shape 3"/>
          <p:cNvSpPr/>
          <p:nvPr/>
        </p:nvSpPr>
        <p:spPr>
          <a:xfrm>
            <a:off x="548640" y="1645920"/>
            <a:ext cx="3931920" cy="1371600"/>
          </a:xfrm>
          <a:prstGeom prst="roundRect">
            <a:avLst>
              <a:gd name="adj" fmla="val 5333"/>
            </a:avLst>
          </a:prstGeom>
          <a:solidFill>
            <a:srgbClr val="EFF5F2"/>
          </a:solidFill>
          <a:ln w="19050">
            <a:solidFill>
              <a:srgbClr val="2B5F9E"/>
            </a:solidFill>
            <a:prstDash val="solid"/>
          </a:ln>
        </p:spPr>
      </p:sp>
      <p:sp>
        <p:nvSpPr>
          <p:cNvPr id="6" name="Text 4"/>
          <p:cNvSpPr txBox="1"/>
          <p:nvPr/>
        </p:nvSpPr>
        <p:spPr>
          <a:xfrm>
            <a:off x="777240" y="1792224"/>
            <a:ext cx="3474720" cy="274320"/>
          </a:xfrm>
          <a:prstGeom prst="rect">
            <a:avLst/>
          </a:prstGeom>
          <a:noFill/>
          <a:ln/>
        </p:spPr>
        <p:txBody>
          <a:bodyPr wrap="square" lIns="0" tIns="0" rIns="0" bIns="0" rtlCol="0" anchor="ctr"/>
          <a:lstStyle/>
          <a:p>
            <a:pPr indent="0" marL="0">
              <a:buNone/>
            </a:pPr>
            <a:r>
              <a:rPr lang="en-US" sz="1250" b="1" dirty="0">
                <a:solidFill>
                  <a:srgbClr val="2B5F9E"/>
                </a:solidFill>
                <a:latin typeface="Calibri" pitchFamily="34" charset="0"/>
                <a:ea typeface="Calibri" pitchFamily="34" charset="-122"/>
                <a:cs typeface="Calibri" pitchFamily="34" charset="-120"/>
              </a:rPr>
              <a:t>Both conditions, together</a:t>
            </a:r>
            <a:endParaRPr lang="en-US" sz="1250" dirty="0"/>
          </a:p>
        </p:txBody>
      </p:sp>
      <p:sp>
        <p:nvSpPr>
          <p:cNvPr id="7" name="Text 5"/>
          <p:cNvSpPr txBox="1"/>
          <p:nvPr/>
        </p:nvSpPr>
        <p:spPr>
          <a:xfrm>
            <a:off x="777240" y="2103120"/>
            <a:ext cx="3474720" cy="731520"/>
          </a:xfrm>
          <a:prstGeom prst="rect">
            <a:avLst/>
          </a:prstGeom>
          <a:noFill/>
          <a:ln/>
        </p:spPr>
        <p:txBody>
          <a:bodyPr wrap="square" lIns="0" tIns="0" rIns="0" bIns="0" rtlCol="0" anchor="ctr"/>
          <a:lstStyle/>
          <a:p>
            <a:pPr indent="0" marL="0">
              <a:lnSpc>
                <a:spcPct val="135000"/>
              </a:lnSpc>
              <a:buNone/>
            </a:pPr>
            <a:r>
              <a:rPr lang="en-US" sz="1250" dirty="0">
                <a:solidFill>
                  <a:srgbClr val="23201B"/>
                </a:solidFill>
                <a:latin typeface="Calibri" pitchFamily="34" charset="0"/>
                <a:ea typeface="Calibri" pitchFamily="34" charset="-122"/>
                <a:cs typeface="Calibri" pitchFamily="34" charset="-120"/>
              </a:rPr>
              <a:t>1.  three consecutive good recitations (4 or 5)</a:t>
            </a:r>
            <a:endParaRPr lang="en-US" sz="1250" dirty="0"/>
          </a:p>
          <a:p>
            <a:pPr indent="0" marL="0">
              <a:lnSpc>
                <a:spcPct val="135000"/>
              </a:lnSpc>
              <a:buNone/>
            </a:pPr>
            <a:r>
              <a:rPr lang="en-US" sz="1250" dirty="0">
                <a:solidFill>
                  <a:srgbClr val="23201B"/>
                </a:solidFill>
                <a:latin typeface="Calibri" pitchFamily="34" charset="0"/>
                <a:ea typeface="Calibri" pitchFamily="34" charset="-122"/>
                <a:cs typeface="Calibri" pitchFamily="34" charset="-120"/>
              </a:rPr>
              <a:t>2.  the interval has reached 30 days or more</a:t>
            </a:r>
            <a:endParaRPr lang="en-US" sz="1250" dirty="0"/>
          </a:p>
        </p:txBody>
      </p:sp>
      <p:sp>
        <p:nvSpPr>
          <p:cNvPr id="8" name="Shape 6"/>
          <p:cNvSpPr/>
          <p:nvPr/>
        </p:nvSpPr>
        <p:spPr>
          <a:xfrm>
            <a:off x="4617720" y="2212848"/>
            <a:ext cx="320040" cy="237744"/>
          </a:xfrm>
          <a:prstGeom prst="rightArrow">
            <a:avLst/>
          </a:prstGeom>
          <a:solidFill>
            <a:srgbClr val="E2D9C8"/>
          </a:solidFill>
          <a:ln/>
        </p:spPr>
      </p:sp>
      <p:sp>
        <p:nvSpPr>
          <p:cNvPr id="9" name="Shape 7"/>
          <p:cNvSpPr/>
          <p:nvPr/>
        </p:nvSpPr>
        <p:spPr>
          <a:xfrm>
            <a:off x="5120640" y="1645920"/>
            <a:ext cx="3474720" cy="1371600"/>
          </a:xfrm>
          <a:prstGeom prst="roundRect">
            <a:avLst>
              <a:gd name="adj" fmla="val 5333"/>
            </a:avLst>
          </a:prstGeom>
          <a:solidFill>
            <a:srgbClr val="7A4B8F"/>
          </a:solidFill>
          <a:ln/>
        </p:spPr>
      </p:sp>
      <p:sp>
        <p:nvSpPr>
          <p:cNvPr id="10" name="Text 8"/>
          <p:cNvSpPr txBox="1"/>
          <p:nvPr/>
        </p:nvSpPr>
        <p:spPr>
          <a:xfrm>
            <a:off x="5120640" y="1883664"/>
            <a:ext cx="3474720" cy="40233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manzil</a:t>
            </a:r>
            <a:endParaRPr lang="en-US" sz="2400" dirty="0"/>
          </a:p>
        </p:txBody>
      </p:sp>
      <p:sp>
        <p:nvSpPr>
          <p:cNvPr id="11" name="Text 9"/>
          <p:cNvSpPr txBox="1"/>
          <p:nvPr/>
        </p:nvSpPr>
        <p:spPr>
          <a:xfrm>
            <a:off x="5120640" y="2340864"/>
            <a:ext cx="3474720" cy="310896"/>
          </a:xfrm>
          <a:prstGeom prst="rect">
            <a:avLst/>
          </a:prstGeom>
          <a:noFill/>
          <a:ln/>
        </p:spPr>
        <p:txBody>
          <a:bodyPr wrap="square" lIns="0" tIns="0" rIns="0" bIns="0" rtlCol="0" anchor="ctr"/>
          <a:lstStyle/>
          <a:p>
            <a:pPr algn="ctr" indent="0" marL="0">
              <a:buNone/>
            </a:pPr>
            <a:r>
              <a:rPr lang="en-US" sz="1200" dirty="0">
                <a:solidFill>
                  <a:srgbClr val="E6D8EE"/>
                </a:solidFill>
                <a:latin typeface="Calibri" pitchFamily="34" charset="0"/>
                <a:ea typeface="Calibri" pitchFamily="34" charset="-122"/>
                <a:cs typeface="Calibri" pitchFamily="34" charset="-120"/>
              </a:rPr>
              <a:t>steady 30-day rotation, revisited for life</a:t>
            </a:r>
            <a:endParaRPr lang="en-US" sz="1200" dirty="0"/>
          </a:p>
        </p:txBody>
      </p:sp>
      <p:sp>
        <p:nvSpPr>
          <p:cNvPr id="12" name="Text 10"/>
          <p:cNvSpPr txBox="1"/>
          <p:nvPr/>
        </p:nvSpPr>
        <p:spPr>
          <a:xfrm>
            <a:off x="548640" y="3145536"/>
            <a:ext cx="8046720" cy="1371600"/>
          </a:xfrm>
          <a:prstGeom prst="rect">
            <a:avLst/>
          </a:prstGeom>
          <a:noFill/>
          <a:ln/>
        </p:spPr>
        <p:txBody>
          <a:bodyPr wrap="square" lIns="0" tIns="0" rIns="0" bIns="0" rtlCol="0" anchor="ctr"/>
          <a:lstStyle/>
          <a:p>
            <a:pPr marL="342900" indent="-342900">
              <a:spcAft>
                <a:spcPts val="700"/>
              </a:spcAft>
              <a:buSzPct val="100000"/>
              <a:buChar char="▪"/>
            </a:pPr>
            <a:r>
              <a:rPr lang="en-US" sz="1350" dirty="0">
                <a:solidFill>
                  <a:srgbClr val="5D564B"/>
                </a:solidFill>
                <a:latin typeface="Calibri" pitchFamily="34" charset="0"/>
                <a:ea typeface="Calibri" pitchFamily="34" charset="-122"/>
                <a:cs typeface="Calibri" pitchFamily="34" charset="-120"/>
              </a:rPr>
              <a:t>Graduation is not permanent. A single lapse on a manzil page sends it back to sabqi, where it is worked at short intervals until it is firm again.</a:t>
            </a:r>
            <a:endParaRPr lang="en-US" sz="1350" dirty="0"/>
          </a:p>
          <a:p>
            <a:pPr marL="342900" indent="-342900">
              <a:spcAft>
                <a:spcPts val="700"/>
              </a:spcAft>
              <a:buSzPct val="100000"/>
              <a:buChar char="▪"/>
            </a:pPr>
            <a:r>
              <a:rPr lang="en-US" sz="1350" dirty="0">
                <a:solidFill>
                  <a:srgbClr val="5D564B"/>
                </a:solidFill>
                <a:latin typeface="Calibri" pitchFamily="34" charset="0"/>
                <a:ea typeface="Calibri" pitchFamily="34" charset="-122"/>
                <a:cs typeface="Calibri" pitchFamily="34" charset="-120"/>
              </a:rPr>
              <a:t>Pages the user marks as “already known” at setup enter manzil directly, but are still shown once soon afterwards rather than trusted blindly.</a:t>
            </a:r>
            <a:endParaRPr lang="en-US" sz="1350" dirty="0"/>
          </a:p>
          <a:p>
            <a:pPr marL="342900" indent="-342900">
              <a:spcAft>
                <a:spcPts val="700"/>
              </a:spcAft>
              <a:buSzPct val="100000"/>
              <a:buChar char="▪"/>
            </a:pPr>
            <a:r>
              <a:rPr lang="en-US" sz="1350" dirty="0">
                <a:solidFill>
                  <a:srgbClr val="5D564B"/>
                </a:solidFill>
                <a:latin typeface="Calibri" pitchFamily="34" charset="0"/>
                <a:ea typeface="Calibri" pitchFamily="34" charset="-122"/>
                <a:cs typeface="Calibri" pitchFamily="34" charset="-120"/>
              </a:rPr>
              <a:t>The rotation length is a setting. Where the daily cap makes the configured rotation impossible, the app reports the longer realistic figure and labels it an estimate rather than quietly missing the target.</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10896"/>
            <a:ext cx="8046720" cy="237744"/>
          </a:xfrm>
          <a:prstGeom prst="rect">
            <a:avLst/>
          </a:prstGeom>
          <a:noFill/>
          <a:ln/>
        </p:spPr>
        <p:txBody>
          <a:bodyPr wrap="square" lIns="0" tIns="0" rIns="0" bIns="0" rtlCol="0" anchor="ctr"/>
          <a:lstStyle/>
          <a:p>
            <a:pPr indent="0" marL="0">
              <a:buNone/>
            </a:pPr>
            <a:r>
              <a:rPr lang="en-US" sz="1100" b="1" spc="200" kern="0" dirty="0">
                <a:solidFill>
                  <a:srgbClr val="B8860B"/>
                </a:solidFill>
                <a:latin typeface="Calibri" pitchFamily="34" charset="0"/>
                <a:ea typeface="Calibri" pitchFamily="34" charset="-122"/>
                <a:cs typeface="Calibri" pitchFamily="34" charset="-120"/>
              </a:rPr>
              <a:t>PART D · THE ALGORITHM</a:t>
            </a:r>
            <a:endParaRPr lang="en-US" sz="1100" dirty="0"/>
          </a:p>
        </p:txBody>
      </p:sp>
      <p:sp>
        <p:nvSpPr>
          <p:cNvPr id="3" name="Text 1"/>
          <p:cNvSpPr txBox="1"/>
          <p:nvPr/>
        </p:nvSpPr>
        <p:spPr>
          <a:xfrm>
            <a:off x="548640" y="530352"/>
            <a:ext cx="8046720" cy="603504"/>
          </a:xfrm>
          <a:prstGeom prst="rect">
            <a:avLst/>
          </a:prstGeom>
          <a:noFill/>
          <a:ln/>
        </p:spPr>
        <p:txBody>
          <a:bodyPr wrap="square" lIns="0" tIns="0" rIns="0" bIns="0" rtlCol="0" anchor="ctr"/>
          <a:lstStyle/>
          <a:p>
            <a:pPr indent="0" marL="0">
              <a:buNone/>
            </a:pPr>
            <a:r>
              <a:rPr lang="en-US" sz="2900" b="1" dirty="0">
                <a:solidFill>
                  <a:srgbClr val="1F6F5F"/>
                </a:solidFill>
                <a:latin typeface="Cambria" pitchFamily="34" charset="0"/>
                <a:ea typeface="Cambria" pitchFamily="34" charset="-122"/>
                <a:cs typeface="Cambria" pitchFamily="34" charset="-120"/>
              </a:rPr>
              <a:t>The day has a ceiling</a:t>
            </a:r>
            <a:endParaRPr lang="en-US" sz="2900" dirty="0"/>
          </a:p>
        </p:txBody>
      </p:sp>
      <p:sp>
        <p:nvSpPr>
          <p:cNvPr id="4" name="Text 2"/>
          <p:cNvSpPr txBox="1"/>
          <p:nvPr/>
        </p:nvSpPr>
        <p:spPr>
          <a:xfrm>
            <a:off x="548640" y="1133856"/>
            <a:ext cx="8046720" cy="548640"/>
          </a:xfrm>
          <a:prstGeom prst="rect">
            <a:avLst/>
          </a:prstGeom>
          <a:noFill/>
          <a:ln/>
        </p:spPr>
        <p:txBody>
          <a:bodyPr wrap="square" lIns="0" tIns="0" rIns="0" bIns="0" rtlCol="0" anchor="ctr"/>
          <a:lstStyle/>
          <a:p>
            <a:pPr indent="0" marL="0">
              <a:lnSpc>
                <a:spcPct val="120000"/>
              </a:lnSpc>
              <a:buNone/>
            </a:pPr>
            <a:r>
              <a:rPr lang="en-US" sz="1350" dirty="0">
                <a:solidFill>
                  <a:srgbClr val="5D564B"/>
                </a:solidFill>
                <a:latin typeface="Calibri" pitchFamily="34" charset="0"/>
                <a:ea typeface="Calibri" pitchFamily="34" charset="-122"/>
                <a:cs typeface="Calibri" pitchFamily="34" charset="-120"/>
              </a:rPr>
              <a:t>Any spaced-repetition system will eventually generate more work than a person can do. The usual failure is a</a:t>
            </a:r>
            <a:endParaRPr lang="en-US" sz="1350" dirty="0"/>
          </a:p>
          <a:p>
            <a:pPr indent="0" marL="0">
              <a:lnSpc>
                <a:spcPct val="120000"/>
              </a:lnSpc>
              <a:buNone/>
            </a:pPr>
            <a:r>
              <a:rPr lang="en-US" sz="1350" dirty="0">
                <a:solidFill>
                  <a:srgbClr val="5D564B"/>
                </a:solidFill>
                <a:latin typeface="Calibri" pitchFamily="34" charset="0"/>
                <a:ea typeface="Calibri" pitchFamily="34" charset="-122"/>
                <a:cs typeface="Calibri" pitchFamily="34" charset="-120"/>
              </a:rPr>
              <a:t>backlog of hundreds of items that the learner abandons. The app refuses to produce one.</a:t>
            </a:r>
            <a:endParaRPr lang="en-US" sz="1350" dirty="0"/>
          </a:p>
        </p:txBody>
      </p:sp>
      <p:sp>
        <p:nvSpPr>
          <p:cNvPr id="5" name="Shape 3"/>
          <p:cNvSpPr/>
          <p:nvPr/>
        </p:nvSpPr>
        <p:spPr>
          <a:xfrm>
            <a:off x="548640" y="1755648"/>
            <a:ext cx="2606040" cy="2651760"/>
          </a:xfrm>
          <a:prstGeom prst="roundRect">
            <a:avLst>
              <a:gd name="adj" fmla="val 2807"/>
            </a:avLst>
          </a:prstGeom>
          <a:solidFill>
            <a:srgbClr val="F6F1E7"/>
          </a:solidFill>
          <a:ln w="12700">
            <a:solidFill>
              <a:srgbClr val="E2D9C8"/>
            </a:solidFill>
            <a:prstDash val="solid"/>
          </a:ln>
        </p:spPr>
      </p:sp>
      <p:sp>
        <p:nvSpPr>
          <p:cNvPr id="6" name="Text 4"/>
          <p:cNvSpPr txBox="1"/>
          <p:nvPr/>
        </p:nvSpPr>
        <p:spPr>
          <a:xfrm>
            <a:off x="786384" y="1975104"/>
            <a:ext cx="2148840" cy="310896"/>
          </a:xfrm>
          <a:prstGeom prst="rect">
            <a:avLst/>
          </a:prstGeom>
          <a:noFill/>
          <a:ln/>
        </p:spPr>
        <p:txBody>
          <a:bodyPr wrap="square" lIns="0" tIns="0" rIns="0" bIns="0" rtlCol="0" anchor="ctr"/>
          <a:lstStyle/>
          <a:p>
            <a:pPr indent="0" marL="0">
              <a:buNone/>
            </a:pPr>
            <a:r>
              <a:rPr lang="en-US" sz="1500" b="1" dirty="0">
                <a:solidFill>
                  <a:srgbClr val="1F6F5F"/>
                </a:solidFill>
                <a:latin typeface="Cambria" pitchFamily="34" charset="0"/>
                <a:ea typeface="Cambria" pitchFamily="34" charset="-122"/>
                <a:cs typeface="Cambria" pitchFamily="34" charset="-120"/>
              </a:rPr>
              <a:t>1 · A hard cap</a:t>
            </a:r>
            <a:endParaRPr lang="en-US" sz="1500" dirty="0"/>
          </a:p>
        </p:txBody>
      </p:sp>
      <p:sp>
        <p:nvSpPr>
          <p:cNvPr id="7" name="Text 5"/>
          <p:cNvSpPr txBox="1"/>
          <p:nvPr/>
        </p:nvSpPr>
        <p:spPr>
          <a:xfrm>
            <a:off x="786384" y="2359152"/>
            <a:ext cx="2130552" cy="1828800"/>
          </a:xfrm>
          <a:prstGeom prst="rect">
            <a:avLst/>
          </a:prstGeom>
          <a:noFill/>
          <a:ln/>
        </p:spPr>
        <p:txBody>
          <a:bodyPr wrap="square" lIns="0" tIns="0" rIns="0" bIns="0" rtlCol="0" anchor="t"/>
          <a:lstStyle/>
          <a:p>
            <a:pPr indent="0" marL="0">
              <a:lnSpc>
                <a:spcPct val="112000"/>
              </a:lnSpc>
              <a:buNone/>
            </a:pPr>
            <a:r>
              <a:rPr lang="en-US" sz="1150" dirty="0">
                <a:solidFill>
                  <a:srgbClr val="5D564B"/>
                </a:solidFill>
                <a:latin typeface="Calibri" pitchFamily="34" charset="0"/>
                <a:ea typeface="Calibri" pitchFamily="34" charset="-122"/>
                <a:cs typeface="Calibri" pitchFamily="34" charset="-120"/>
              </a:rPr>
              <a:t>Six revision pages a day by default, and it is a setting.</a:t>
            </a:r>
            <a:endParaRPr lang="en-US" sz="1150" dirty="0"/>
          </a:p>
          <a:p>
            <a:pPr indent="0" marL="0">
              <a:lnSpc>
                <a:spcPct val="112000"/>
              </a:lnSpc>
              <a:buNone/>
            </a:pPr>
            <a:endParaRPr lang="en-US" sz="1150" dirty="0"/>
          </a:p>
          <a:p>
            <a:pPr indent="0" marL="0">
              <a:lnSpc>
                <a:spcPct val="112000"/>
              </a:lnSpc>
              <a:buNone/>
            </a:pPr>
            <a:r>
              <a:rPr lang="en-US" sz="1150" dirty="0">
                <a:solidFill>
                  <a:srgbClr val="5D564B"/>
                </a:solidFill>
                <a:latin typeface="Calibri" pitchFamily="34" charset="0"/>
                <a:ea typeface="Calibri" pitchFamily="34" charset="-122"/>
                <a:cs typeface="Calibri" pitchFamily="34" charset="-120"/>
              </a:rPr>
              <a:t>Whatever the queue length, the day’s list is never longer than the cap. Sabaq — the new page — is separate and always shown.</a:t>
            </a:r>
            <a:endParaRPr lang="en-US" sz="1150" dirty="0"/>
          </a:p>
        </p:txBody>
      </p:sp>
      <p:sp>
        <p:nvSpPr>
          <p:cNvPr id="8" name="Shape 6"/>
          <p:cNvSpPr/>
          <p:nvPr/>
        </p:nvSpPr>
        <p:spPr>
          <a:xfrm>
            <a:off x="3291840" y="1755648"/>
            <a:ext cx="2606040" cy="2651760"/>
          </a:xfrm>
          <a:prstGeom prst="roundRect">
            <a:avLst>
              <a:gd name="adj" fmla="val 2807"/>
            </a:avLst>
          </a:prstGeom>
          <a:solidFill>
            <a:srgbClr val="F6F1E7"/>
          </a:solidFill>
          <a:ln w="12700">
            <a:solidFill>
              <a:srgbClr val="E2D9C8"/>
            </a:solidFill>
            <a:prstDash val="solid"/>
          </a:ln>
        </p:spPr>
      </p:sp>
      <p:sp>
        <p:nvSpPr>
          <p:cNvPr id="9" name="Text 7"/>
          <p:cNvSpPr txBox="1"/>
          <p:nvPr/>
        </p:nvSpPr>
        <p:spPr>
          <a:xfrm>
            <a:off x="3529584" y="1975104"/>
            <a:ext cx="2148840" cy="310896"/>
          </a:xfrm>
          <a:prstGeom prst="rect">
            <a:avLst/>
          </a:prstGeom>
          <a:noFill/>
          <a:ln/>
        </p:spPr>
        <p:txBody>
          <a:bodyPr wrap="square" lIns="0" tIns="0" rIns="0" bIns="0" rtlCol="0" anchor="ctr"/>
          <a:lstStyle/>
          <a:p>
            <a:pPr indent="0" marL="0">
              <a:buNone/>
            </a:pPr>
            <a:r>
              <a:rPr lang="en-US" sz="1500" b="1" dirty="0">
                <a:solidFill>
                  <a:srgbClr val="2B5F9E"/>
                </a:solidFill>
                <a:latin typeface="Cambria" pitchFamily="34" charset="0"/>
                <a:ea typeface="Cambria" pitchFamily="34" charset="-122"/>
                <a:cs typeface="Cambria" pitchFamily="34" charset="-120"/>
              </a:rPr>
              <a:t>2 · An explicit priority order</a:t>
            </a:r>
            <a:endParaRPr lang="en-US" sz="1500" dirty="0"/>
          </a:p>
        </p:txBody>
      </p:sp>
      <p:sp>
        <p:nvSpPr>
          <p:cNvPr id="10" name="Text 8"/>
          <p:cNvSpPr txBox="1"/>
          <p:nvPr/>
        </p:nvSpPr>
        <p:spPr>
          <a:xfrm>
            <a:off x="3529584" y="2359152"/>
            <a:ext cx="2130552" cy="1828800"/>
          </a:xfrm>
          <a:prstGeom prst="rect">
            <a:avLst/>
          </a:prstGeom>
          <a:noFill/>
          <a:ln/>
        </p:spPr>
        <p:txBody>
          <a:bodyPr wrap="square" lIns="0" tIns="0" rIns="0" bIns="0" rtlCol="0" anchor="t"/>
          <a:lstStyle/>
          <a:p>
            <a:pPr indent="0" marL="0">
              <a:lnSpc>
                <a:spcPct val="112000"/>
              </a:lnSpc>
              <a:buNone/>
            </a:pPr>
            <a:r>
              <a:rPr lang="en-US" sz="1150" dirty="0">
                <a:solidFill>
                  <a:srgbClr val="5D564B"/>
                </a:solidFill>
                <a:latin typeface="Calibri" pitchFamily="34" charset="0"/>
                <a:ea typeface="Calibri" pitchFamily="34" charset="-122"/>
                <a:cs typeface="Calibri" pitchFamily="34" charset="-120"/>
              </a:rPr>
              <a:t>When more is due than fits, the queue is sorted in this exact order:</a:t>
            </a:r>
            <a:endParaRPr lang="en-US" sz="1150" dirty="0"/>
          </a:p>
          <a:p>
            <a:pPr indent="0" marL="0">
              <a:lnSpc>
                <a:spcPct val="112000"/>
              </a:lnSpc>
              <a:buNone/>
            </a:pPr>
            <a:endParaRPr lang="en-US" sz="1150" dirty="0"/>
          </a:p>
          <a:p>
            <a:pPr indent="0" marL="0">
              <a:lnSpc>
                <a:spcPct val="112000"/>
              </a:lnSpc>
              <a:buNone/>
            </a:pPr>
            <a:r>
              <a:rPr lang="en-US" sz="1150" dirty="0">
                <a:solidFill>
                  <a:srgbClr val="5D564B"/>
                </a:solidFill>
                <a:latin typeface="Calibri" pitchFamily="34" charset="0"/>
                <a:ea typeface="Calibri" pitchFamily="34" charset="-122"/>
                <a:cs typeface="Calibri" pitchFamily="34" charset="-120"/>
              </a:rPr>
              <a:t>• sabqi before manzil</a:t>
            </a:r>
            <a:endParaRPr lang="en-US" sz="1150" dirty="0"/>
          </a:p>
          <a:p>
            <a:pPr indent="0" marL="0">
              <a:lnSpc>
                <a:spcPct val="112000"/>
              </a:lnSpc>
              <a:buNone/>
            </a:pPr>
            <a:r>
              <a:rPr lang="en-US" sz="1150" dirty="0">
                <a:solidFill>
                  <a:srgbClr val="5D564B"/>
                </a:solidFill>
                <a:latin typeface="Calibri" pitchFamily="34" charset="0"/>
                <a:ea typeface="Calibri" pitchFamily="34" charset="-122"/>
                <a:cs typeface="Calibri" pitchFamily="34" charset="-120"/>
              </a:rPr>
              <a:t>• weak pages first</a:t>
            </a:r>
            <a:endParaRPr lang="en-US" sz="1150" dirty="0"/>
          </a:p>
          <a:p>
            <a:pPr indent="0" marL="0">
              <a:lnSpc>
                <a:spcPct val="112000"/>
              </a:lnSpc>
              <a:buNone/>
            </a:pPr>
            <a:r>
              <a:rPr lang="en-US" sz="1150" dirty="0">
                <a:solidFill>
                  <a:srgbClr val="5D564B"/>
                </a:solidFill>
                <a:latin typeface="Calibri" pitchFamily="34" charset="0"/>
                <a:ea typeface="Calibri" pitchFamily="34" charset="-122"/>
                <a:cs typeface="Calibri" pitchFamily="34" charset="-120"/>
              </a:rPr>
              <a:t>• then pages with recent marked mistakes</a:t>
            </a:r>
            <a:endParaRPr lang="en-US" sz="1150" dirty="0"/>
          </a:p>
          <a:p>
            <a:pPr indent="0" marL="0">
              <a:lnSpc>
                <a:spcPct val="112000"/>
              </a:lnSpc>
              <a:buNone/>
            </a:pPr>
            <a:r>
              <a:rPr lang="en-US" sz="1150" dirty="0">
                <a:solidFill>
                  <a:srgbClr val="5D564B"/>
                </a:solidFill>
                <a:latin typeface="Calibri" pitchFamily="34" charset="0"/>
                <a:ea typeface="Calibri" pitchFamily="34" charset="-122"/>
                <a:cs typeface="Calibri" pitchFamily="34" charset="-120"/>
              </a:rPr>
              <a:t>• then the most overdue</a:t>
            </a:r>
            <a:endParaRPr lang="en-US" sz="1150" dirty="0"/>
          </a:p>
          <a:p>
            <a:pPr indent="0" marL="0">
              <a:lnSpc>
                <a:spcPct val="112000"/>
              </a:lnSpc>
              <a:buNone/>
            </a:pPr>
            <a:r>
              <a:rPr lang="en-US" sz="1150" dirty="0">
                <a:solidFill>
                  <a:srgbClr val="5D564B"/>
                </a:solidFill>
                <a:latin typeface="Calibri" pitchFamily="34" charset="0"/>
                <a:ea typeface="Calibri" pitchFamily="34" charset="-122"/>
                <a:cs typeface="Calibri" pitchFamily="34" charset="-120"/>
              </a:rPr>
              <a:t>• then by page number</a:t>
            </a:r>
            <a:endParaRPr lang="en-US" sz="1150" dirty="0"/>
          </a:p>
        </p:txBody>
      </p:sp>
      <p:sp>
        <p:nvSpPr>
          <p:cNvPr id="11" name="Shape 9"/>
          <p:cNvSpPr/>
          <p:nvPr/>
        </p:nvSpPr>
        <p:spPr>
          <a:xfrm>
            <a:off x="6035040" y="1755648"/>
            <a:ext cx="2606040" cy="2651760"/>
          </a:xfrm>
          <a:prstGeom prst="roundRect">
            <a:avLst>
              <a:gd name="adj" fmla="val 2807"/>
            </a:avLst>
          </a:prstGeom>
          <a:solidFill>
            <a:srgbClr val="F6F1E7"/>
          </a:solidFill>
          <a:ln w="12700">
            <a:solidFill>
              <a:srgbClr val="E2D9C8"/>
            </a:solidFill>
            <a:prstDash val="solid"/>
          </a:ln>
        </p:spPr>
      </p:sp>
      <p:sp>
        <p:nvSpPr>
          <p:cNvPr id="12" name="Text 10"/>
          <p:cNvSpPr txBox="1"/>
          <p:nvPr/>
        </p:nvSpPr>
        <p:spPr>
          <a:xfrm>
            <a:off x="6272784" y="1975104"/>
            <a:ext cx="2148840" cy="310896"/>
          </a:xfrm>
          <a:prstGeom prst="rect">
            <a:avLst/>
          </a:prstGeom>
          <a:noFill/>
          <a:ln/>
        </p:spPr>
        <p:txBody>
          <a:bodyPr wrap="square" lIns="0" tIns="0" rIns="0" bIns="0" rtlCol="0" anchor="ctr"/>
          <a:lstStyle/>
          <a:p>
            <a:pPr indent="0" marL="0">
              <a:buNone/>
            </a:pPr>
            <a:r>
              <a:rPr lang="en-US" sz="1500" b="1" dirty="0">
                <a:solidFill>
                  <a:srgbClr val="B8860B"/>
                </a:solidFill>
                <a:latin typeface="Cambria" pitchFamily="34" charset="0"/>
                <a:ea typeface="Cambria" pitchFamily="34" charset="-122"/>
                <a:cs typeface="Cambria" pitchFamily="34" charset="-120"/>
              </a:rPr>
              <a:t>3 · An honest overflow</a:t>
            </a:r>
            <a:endParaRPr lang="en-US" sz="1500" dirty="0"/>
          </a:p>
        </p:txBody>
      </p:sp>
      <p:sp>
        <p:nvSpPr>
          <p:cNvPr id="13" name="Text 11"/>
          <p:cNvSpPr txBox="1"/>
          <p:nvPr/>
        </p:nvSpPr>
        <p:spPr>
          <a:xfrm>
            <a:off x="6272784" y="2359152"/>
            <a:ext cx="2130552" cy="1828800"/>
          </a:xfrm>
          <a:prstGeom prst="rect">
            <a:avLst/>
          </a:prstGeom>
          <a:noFill/>
          <a:ln/>
        </p:spPr>
        <p:txBody>
          <a:bodyPr wrap="square" lIns="0" tIns="0" rIns="0" bIns="0" rtlCol="0" anchor="t"/>
          <a:lstStyle/>
          <a:p>
            <a:pPr indent="0" marL="0">
              <a:lnSpc>
                <a:spcPct val="112000"/>
              </a:lnSpc>
              <a:buNone/>
            </a:pPr>
            <a:r>
              <a:rPr lang="en-US" sz="1150" dirty="0">
                <a:solidFill>
                  <a:srgbClr val="5D564B"/>
                </a:solidFill>
                <a:latin typeface="Calibri" pitchFamily="34" charset="0"/>
                <a:ea typeface="Calibri" pitchFamily="34" charset="-122"/>
                <a:cs typeface="Calibri" pitchFamily="34" charset="-120"/>
              </a:rPr>
              <a:t>What does not fit is not dropped and never silently marked done.</a:t>
            </a:r>
            <a:endParaRPr lang="en-US" sz="1150" dirty="0"/>
          </a:p>
          <a:p>
            <a:pPr indent="0" marL="0">
              <a:lnSpc>
                <a:spcPct val="112000"/>
              </a:lnSpc>
              <a:buNone/>
            </a:pPr>
            <a:endParaRPr lang="en-US" sz="1150" dirty="0"/>
          </a:p>
          <a:p>
            <a:pPr indent="0" marL="0">
              <a:lnSpc>
                <a:spcPct val="112000"/>
              </a:lnSpc>
              <a:buNone/>
            </a:pPr>
            <a:r>
              <a:rPr lang="en-US" sz="1150" dirty="0">
                <a:solidFill>
                  <a:srgbClr val="5D564B"/>
                </a:solidFill>
                <a:latin typeface="Calibri" pitchFamily="34" charset="0"/>
                <a:ea typeface="Calibri" pitchFamily="34" charset="-122"/>
                <a:cs typeface="Calibri" pitchFamily="34" charset="-120"/>
              </a:rPr>
              <a:t>It is spread over the following days, counting the work already booked on each of them — so the plan cannot promise a day that is secretly double-booked.</a:t>
            </a:r>
            <a:endParaRPr lang="en-US" sz="1150" dirty="0"/>
          </a:p>
        </p:txBody>
      </p:sp>
      <p:sp>
        <p:nvSpPr>
          <p:cNvPr id="14" name="Text 12"/>
          <p:cNvSpPr txBox="1"/>
          <p:nvPr/>
        </p:nvSpPr>
        <p:spPr>
          <a:xfrm>
            <a:off x="548640" y="4498848"/>
            <a:ext cx="8046720" cy="365760"/>
          </a:xfrm>
          <a:prstGeom prst="rect">
            <a:avLst/>
          </a:prstGeom>
          <a:noFill/>
          <a:ln/>
        </p:spPr>
        <p:txBody>
          <a:bodyPr wrap="square" lIns="0" tIns="0" rIns="0" bIns="0" rtlCol="0" anchor="ctr"/>
          <a:lstStyle/>
          <a:p>
            <a:pPr indent="0" marL="0">
              <a:buNone/>
            </a:pPr>
            <a:r>
              <a:rPr lang="en-US" sz="1050" i="1" dirty="0">
                <a:solidFill>
                  <a:srgbClr val="857C6D"/>
                </a:solidFill>
                <a:latin typeface="Calibri" pitchFamily="34" charset="0"/>
                <a:ea typeface="Calibri" pitchFamily="34" charset="-122"/>
                <a:cs typeface="Calibri" pitchFamily="34" charset="-120"/>
              </a:rPr>
              <a:t>A deliberate ordered comparison, not a weighted score: one page that is 400 days overdue must never outrank a weak page that is due today.</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10896"/>
            <a:ext cx="8046720" cy="237744"/>
          </a:xfrm>
          <a:prstGeom prst="rect">
            <a:avLst/>
          </a:prstGeom>
          <a:noFill/>
          <a:ln/>
        </p:spPr>
        <p:txBody>
          <a:bodyPr wrap="square" lIns="0" tIns="0" rIns="0" bIns="0" rtlCol="0" anchor="ctr"/>
          <a:lstStyle/>
          <a:p>
            <a:pPr indent="0" marL="0">
              <a:buNone/>
            </a:pPr>
            <a:r>
              <a:rPr lang="en-US" sz="1100" b="1" spc="200" kern="0" dirty="0">
                <a:solidFill>
                  <a:srgbClr val="B8860B"/>
                </a:solidFill>
                <a:latin typeface="Calibri" pitchFamily="34" charset="0"/>
                <a:ea typeface="Calibri" pitchFamily="34" charset="-122"/>
                <a:cs typeface="Calibri" pitchFamily="34" charset="-120"/>
              </a:rPr>
              <a:t>PART D · THE ALGORITHM</a:t>
            </a:r>
            <a:endParaRPr lang="en-US" sz="1100" dirty="0"/>
          </a:p>
        </p:txBody>
      </p:sp>
      <p:sp>
        <p:nvSpPr>
          <p:cNvPr id="3" name="Text 1"/>
          <p:cNvSpPr txBox="1"/>
          <p:nvPr/>
        </p:nvSpPr>
        <p:spPr>
          <a:xfrm>
            <a:off x="548640" y="530352"/>
            <a:ext cx="8046720" cy="603504"/>
          </a:xfrm>
          <a:prstGeom prst="rect">
            <a:avLst/>
          </a:prstGeom>
          <a:noFill/>
          <a:ln/>
        </p:spPr>
        <p:txBody>
          <a:bodyPr wrap="square" lIns="0" tIns="0" rIns="0" bIns="0" rtlCol="0" anchor="ctr"/>
          <a:lstStyle/>
          <a:p>
            <a:pPr indent="0" marL="0">
              <a:buNone/>
            </a:pPr>
            <a:r>
              <a:rPr lang="en-US" sz="2900" b="1" dirty="0">
                <a:solidFill>
                  <a:srgbClr val="1F6F5F"/>
                </a:solidFill>
                <a:latin typeface="Cambria" pitchFamily="34" charset="0"/>
                <a:ea typeface="Cambria" pitchFamily="34" charset="-122"/>
                <a:cs typeface="Cambria" pitchFamily="34" charset="-120"/>
              </a:rPr>
              <a:t>One assessment per page per day</a:t>
            </a:r>
            <a:endParaRPr lang="en-US" sz="2900" dirty="0"/>
          </a:p>
        </p:txBody>
      </p:sp>
      <p:sp>
        <p:nvSpPr>
          <p:cNvPr id="4" name="Text 2"/>
          <p:cNvSpPr txBox="1"/>
          <p:nvPr/>
        </p:nvSpPr>
        <p:spPr>
          <a:xfrm>
            <a:off x="548640" y="1133856"/>
            <a:ext cx="8046720" cy="548640"/>
          </a:xfrm>
          <a:prstGeom prst="rect">
            <a:avLst/>
          </a:prstGeom>
          <a:noFill/>
          <a:ln/>
        </p:spPr>
        <p:txBody>
          <a:bodyPr wrap="square" lIns="0" tIns="0" rIns="0" bIns="0" rtlCol="0" anchor="ctr"/>
          <a:lstStyle/>
          <a:p>
            <a:pPr indent="0" marL="0">
              <a:lnSpc>
                <a:spcPct val="120000"/>
              </a:lnSpc>
              <a:buNone/>
            </a:pPr>
            <a:r>
              <a:rPr lang="en-US" sz="1350" dirty="0">
                <a:solidFill>
                  <a:srgbClr val="5D564B"/>
                </a:solidFill>
                <a:latin typeface="Calibri" pitchFamily="34" charset="0"/>
                <a:ea typeface="Calibri" pitchFamily="34" charset="-122"/>
                <a:cs typeface="Calibri" pitchFamily="34" charset="-120"/>
              </a:rPr>
              <a:t>The ladder models memory across days. Rating the same page four times in one evening is not four days of</a:t>
            </a:r>
            <a:endParaRPr lang="en-US" sz="1350" dirty="0"/>
          </a:p>
          <a:p>
            <a:pPr indent="0" marL="0">
              <a:lnSpc>
                <a:spcPct val="120000"/>
              </a:lnSpc>
              <a:buNone/>
            </a:pPr>
            <a:r>
              <a:rPr lang="en-US" sz="1350" dirty="0">
                <a:solidFill>
                  <a:srgbClr val="5D564B"/>
                </a:solidFill>
                <a:latin typeface="Calibri" pitchFamily="34" charset="0"/>
                <a:ea typeface="Calibri" pitchFamily="34" charset="-122"/>
                <a:cs typeface="Calibri" pitchFamily="34" charset="-120"/>
              </a:rPr>
              <a:t>evidence — so the app will not let it become four rungs of interval.</a:t>
            </a:r>
            <a:endParaRPr lang="en-US" sz="1350" dirty="0"/>
          </a:p>
        </p:txBody>
      </p:sp>
      <p:sp>
        <p:nvSpPr>
          <p:cNvPr id="5" name="Shape 3"/>
          <p:cNvSpPr/>
          <p:nvPr/>
        </p:nvSpPr>
        <p:spPr>
          <a:xfrm>
            <a:off x="548640" y="1828800"/>
            <a:ext cx="402336" cy="402336"/>
          </a:xfrm>
          <a:prstGeom prst="ellipse">
            <a:avLst/>
          </a:prstGeom>
          <a:solidFill>
            <a:srgbClr val="1F6F5F"/>
          </a:solidFill>
          <a:ln/>
        </p:spPr>
      </p:sp>
      <p:sp>
        <p:nvSpPr>
          <p:cNvPr id="6" name="Text 4"/>
          <p:cNvSpPr txBox="1"/>
          <p:nvPr/>
        </p:nvSpPr>
        <p:spPr>
          <a:xfrm>
            <a:off x="548640" y="1883664"/>
            <a:ext cx="402336" cy="301752"/>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a:t>
            </a:r>
            <a:endParaRPr lang="en-US" sz="1350" dirty="0"/>
          </a:p>
        </p:txBody>
      </p:sp>
      <p:sp>
        <p:nvSpPr>
          <p:cNvPr id="7" name="Text 5"/>
          <p:cNvSpPr txBox="1"/>
          <p:nvPr/>
        </p:nvSpPr>
        <p:spPr>
          <a:xfrm>
            <a:off x="1115568" y="1792224"/>
            <a:ext cx="7479792" cy="274320"/>
          </a:xfrm>
          <a:prstGeom prst="rect">
            <a:avLst/>
          </a:prstGeom>
          <a:noFill/>
          <a:ln/>
        </p:spPr>
        <p:txBody>
          <a:bodyPr wrap="square" lIns="0" tIns="0" rIns="0" bIns="0" rtlCol="0" anchor="ctr"/>
          <a:lstStyle/>
          <a:p>
            <a:pPr indent="0" marL="0">
              <a:buNone/>
            </a:pPr>
            <a:r>
              <a:rPr lang="en-US" sz="1400" b="1" dirty="0">
                <a:solidFill>
                  <a:srgbClr val="23201B"/>
                </a:solidFill>
                <a:latin typeface="Calibri" pitchFamily="34" charset="0"/>
                <a:ea typeface="Calibri" pitchFamily="34" charset="-122"/>
                <a:cs typeface="Calibri" pitchFamily="34" charset="-120"/>
              </a:rPr>
              <a:t>Morning</a:t>
            </a:r>
            <a:endParaRPr lang="en-US" sz="1400" dirty="0"/>
          </a:p>
        </p:txBody>
      </p:sp>
      <p:sp>
        <p:nvSpPr>
          <p:cNvPr id="8" name="Text 6"/>
          <p:cNvSpPr txBox="1"/>
          <p:nvPr/>
        </p:nvSpPr>
        <p:spPr>
          <a:xfrm>
            <a:off x="1115568" y="2057400"/>
            <a:ext cx="7479792" cy="365760"/>
          </a:xfrm>
          <a:prstGeom prst="rect">
            <a:avLst/>
          </a:prstGeom>
          <a:noFill/>
          <a:ln/>
        </p:spPr>
        <p:txBody>
          <a:bodyPr wrap="square" lIns="0" tIns="0" rIns="0" bIns="0" rtlCol="0" anchor="ctr"/>
          <a:lstStyle/>
          <a:p>
            <a:pPr indent="0" marL="0">
              <a:lnSpc>
                <a:spcPct val="110000"/>
              </a:lnSpc>
              <a:buNone/>
            </a:pPr>
            <a:r>
              <a:rPr lang="en-US" sz="1150" dirty="0">
                <a:solidFill>
                  <a:srgbClr val="857C6D"/>
                </a:solidFill>
                <a:latin typeface="Calibri" pitchFamily="34" charset="0"/>
                <a:ea typeface="Calibri" pitchFamily="34" charset="-122"/>
                <a:cs typeface="Calibri" pitchFamily="34" charset="-120"/>
              </a:rPr>
              <a:t>The page is rated 5. Its state before the rating is snapshotted.</a:t>
            </a:r>
            <a:endParaRPr lang="en-US" sz="1150" dirty="0"/>
          </a:p>
        </p:txBody>
      </p:sp>
      <p:sp>
        <p:nvSpPr>
          <p:cNvPr id="9" name="Shape 7"/>
          <p:cNvSpPr/>
          <p:nvPr/>
        </p:nvSpPr>
        <p:spPr>
          <a:xfrm>
            <a:off x="548640" y="2487168"/>
            <a:ext cx="402336" cy="402336"/>
          </a:xfrm>
          <a:prstGeom prst="ellipse">
            <a:avLst/>
          </a:prstGeom>
          <a:solidFill>
            <a:srgbClr val="2B5F9E"/>
          </a:solidFill>
          <a:ln/>
        </p:spPr>
      </p:sp>
      <p:sp>
        <p:nvSpPr>
          <p:cNvPr id="10" name="Text 8"/>
          <p:cNvSpPr txBox="1"/>
          <p:nvPr/>
        </p:nvSpPr>
        <p:spPr>
          <a:xfrm>
            <a:off x="548640" y="2542032"/>
            <a:ext cx="402336" cy="301752"/>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a:t>
            </a:r>
            <a:endParaRPr lang="en-US" sz="1350" dirty="0"/>
          </a:p>
        </p:txBody>
      </p:sp>
      <p:sp>
        <p:nvSpPr>
          <p:cNvPr id="11" name="Text 9"/>
          <p:cNvSpPr txBox="1"/>
          <p:nvPr/>
        </p:nvSpPr>
        <p:spPr>
          <a:xfrm>
            <a:off x="1115568" y="2450592"/>
            <a:ext cx="7479792" cy="274320"/>
          </a:xfrm>
          <a:prstGeom prst="rect">
            <a:avLst/>
          </a:prstGeom>
          <a:noFill/>
          <a:ln/>
        </p:spPr>
        <p:txBody>
          <a:bodyPr wrap="square" lIns="0" tIns="0" rIns="0" bIns="0" rtlCol="0" anchor="ctr"/>
          <a:lstStyle/>
          <a:p>
            <a:pPr indent="0" marL="0">
              <a:buNone/>
            </a:pPr>
            <a:r>
              <a:rPr lang="en-US" sz="1400" b="1" dirty="0">
                <a:solidFill>
                  <a:srgbClr val="23201B"/>
                </a:solidFill>
                <a:latin typeface="Calibri" pitchFamily="34" charset="0"/>
                <a:ea typeface="Calibri" pitchFamily="34" charset="-122"/>
                <a:cs typeface="Calibri" pitchFamily="34" charset="-120"/>
              </a:rPr>
              <a:t>Afternoon</a:t>
            </a:r>
            <a:endParaRPr lang="en-US" sz="1400" dirty="0"/>
          </a:p>
        </p:txBody>
      </p:sp>
      <p:sp>
        <p:nvSpPr>
          <p:cNvPr id="12" name="Text 10"/>
          <p:cNvSpPr txBox="1"/>
          <p:nvPr/>
        </p:nvSpPr>
        <p:spPr>
          <a:xfrm>
            <a:off x="1115568" y="2715768"/>
            <a:ext cx="7479792" cy="365760"/>
          </a:xfrm>
          <a:prstGeom prst="rect">
            <a:avLst/>
          </a:prstGeom>
          <a:noFill/>
          <a:ln/>
        </p:spPr>
        <p:txBody>
          <a:bodyPr wrap="square" lIns="0" tIns="0" rIns="0" bIns="0" rtlCol="0" anchor="ctr"/>
          <a:lstStyle/>
          <a:p>
            <a:pPr indent="0" marL="0">
              <a:lnSpc>
                <a:spcPct val="110000"/>
              </a:lnSpc>
              <a:buNone/>
            </a:pPr>
            <a:r>
              <a:rPr lang="en-US" sz="1150" dirty="0">
                <a:solidFill>
                  <a:srgbClr val="857C6D"/>
                </a:solidFill>
                <a:latin typeface="Calibri" pitchFamily="34" charset="0"/>
                <a:ea typeface="Calibri" pitchFamily="34" charset="-122"/>
                <a:cs typeface="Calibri" pitchFamily="34" charset="-120"/>
              </a:rPr>
              <a:t>Rated 5 again. The app rewinds to the snapshot and re-applies — the result is one 5, not two.</a:t>
            </a:r>
            <a:endParaRPr lang="en-US" sz="1150" dirty="0"/>
          </a:p>
        </p:txBody>
      </p:sp>
      <p:sp>
        <p:nvSpPr>
          <p:cNvPr id="13" name="Shape 11"/>
          <p:cNvSpPr/>
          <p:nvPr/>
        </p:nvSpPr>
        <p:spPr>
          <a:xfrm>
            <a:off x="548640" y="3145536"/>
            <a:ext cx="402336" cy="402336"/>
          </a:xfrm>
          <a:prstGeom prst="ellipse">
            <a:avLst/>
          </a:prstGeom>
          <a:solidFill>
            <a:srgbClr val="7A4B8F"/>
          </a:solidFill>
          <a:ln/>
        </p:spPr>
      </p:sp>
      <p:sp>
        <p:nvSpPr>
          <p:cNvPr id="14" name="Text 12"/>
          <p:cNvSpPr txBox="1"/>
          <p:nvPr/>
        </p:nvSpPr>
        <p:spPr>
          <a:xfrm>
            <a:off x="548640" y="3200400"/>
            <a:ext cx="402336" cy="301752"/>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a:t>
            </a:r>
            <a:endParaRPr lang="en-US" sz="1350" dirty="0"/>
          </a:p>
        </p:txBody>
      </p:sp>
      <p:sp>
        <p:nvSpPr>
          <p:cNvPr id="15" name="Text 13"/>
          <p:cNvSpPr txBox="1"/>
          <p:nvPr/>
        </p:nvSpPr>
        <p:spPr>
          <a:xfrm>
            <a:off x="1115568" y="3108960"/>
            <a:ext cx="7479792" cy="274320"/>
          </a:xfrm>
          <a:prstGeom prst="rect">
            <a:avLst/>
          </a:prstGeom>
          <a:noFill/>
          <a:ln/>
        </p:spPr>
        <p:txBody>
          <a:bodyPr wrap="square" lIns="0" tIns="0" rIns="0" bIns="0" rtlCol="0" anchor="ctr"/>
          <a:lstStyle/>
          <a:p>
            <a:pPr indent="0" marL="0">
              <a:buNone/>
            </a:pPr>
            <a:r>
              <a:rPr lang="en-US" sz="1400" b="1" dirty="0">
                <a:solidFill>
                  <a:srgbClr val="23201B"/>
                </a:solidFill>
                <a:latin typeface="Calibri" pitchFamily="34" charset="0"/>
                <a:ea typeface="Calibri" pitchFamily="34" charset="-122"/>
                <a:cs typeface="Calibri" pitchFamily="34" charset="-120"/>
              </a:rPr>
              <a:t>Evening</a:t>
            </a:r>
            <a:endParaRPr lang="en-US" sz="1400" dirty="0"/>
          </a:p>
        </p:txBody>
      </p:sp>
      <p:sp>
        <p:nvSpPr>
          <p:cNvPr id="16" name="Text 14"/>
          <p:cNvSpPr txBox="1"/>
          <p:nvPr/>
        </p:nvSpPr>
        <p:spPr>
          <a:xfrm>
            <a:off x="1115568" y="3374136"/>
            <a:ext cx="7479792" cy="365760"/>
          </a:xfrm>
          <a:prstGeom prst="rect">
            <a:avLst/>
          </a:prstGeom>
          <a:noFill/>
          <a:ln/>
        </p:spPr>
        <p:txBody>
          <a:bodyPr wrap="square" lIns="0" tIns="0" rIns="0" bIns="0" rtlCol="0" anchor="ctr"/>
          <a:lstStyle/>
          <a:p>
            <a:pPr indent="0" marL="0">
              <a:lnSpc>
                <a:spcPct val="110000"/>
              </a:lnSpc>
              <a:buNone/>
            </a:pPr>
            <a:r>
              <a:rPr lang="en-US" sz="1150" dirty="0">
                <a:solidFill>
                  <a:srgbClr val="857C6D"/>
                </a:solidFill>
                <a:latin typeface="Calibri" pitchFamily="34" charset="0"/>
                <a:ea typeface="Calibri" pitchFamily="34" charset="-122"/>
                <a:cs typeface="Calibri" pitchFamily="34" charset="-120"/>
              </a:rPr>
              <a:t>Rated 3, on reflection. Rewind, re-apply: the day now counts as a 3. The earlier ratings are corrections, not extra evidence.</a:t>
            </a:r>
            <a:endParaRPr lang="en-US" sz="1150" dirty="0"/>
          </a:p>
        </p:txBody>
      </p:sp>
      <p:sp>
        <p:nvSpPr>
          <p:cNvPr id="17" name="Shape 15"/>
          <p:cNvSpPr/>
          <p:nvPr/>
        </p:nvSpPr>
        <p:spPr>
          <a:xfrm>
            <a:off x="548640" y="3803904"/>
            <a:ext cx="402336" cy="402336"/>
          </a:xfrm>
          <a:prstGeom prst="ellipse">
            <a:avLst/>
          </a:prstGeom>
          <a:solidFill>
            <a:srgbClr val="B8860B"/>
          </a:solidFill>
          <a:ln/>
        </p:spPr>
      </p:sp>
      <p:sp>
        <p:nvSpPr>
          <p:cNvPr id="18" name="Text 16"/>
          <p:cNvSpPr txBox="1"/>
          <p:nvPr/>
        </p:nvSpPr>
        <p:spPr>
          <a:xfrm>
            <a:off x="548640" y="3858768"/>
            <a:ext cx="402336" cy="301752"/>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a:t>
            </a:r>
            <a:endParaRPr lang="en-US" sz="1350" dirty="0"/>
          </a:p>
        </p:txBody>
      </p:sp>
      <p:sp>
        <p:nvSpPr>
          <p:cNvPr id="19" name="Text 17"/>
          <p:cNvSpPr txBox="1"/>
          <p:nvPr/>
        </p:nvSpPr>
        <p:spPr>
          <a:xfrm>
            <a:off x="1115568" y="3767328"/>
            <a:ext cx="7479792" cy="274320"/>
          </a:xfrm>
          <a:prstGeom prst="rect">
            <a:avLst/>
          </a:prstGeom>
          <a:noFill/>
          <a:ln/>
        </p:spPr>
        <p:txBody>
          <a:bodyPr wrap="square" lIns="0" tIns="0" rIns="0" bIns="0" rtlCol="0" anchor="ctr"/>
          <a:lstStyle/>
          <a:p>
            <a:pPr indent="0" marL="0">
              <a:buNone/>
            </a:pPr>
            <a:r>
              <a:rPr lang="en-US" sz="1400" b="1" dirty="0">
                <a:solidFill>
                  <a:srgbClr val="23201B"/>
                </a:solidFill>
                <a:latin typeface="Calibri" pitchFamily="34" charset="0"/>
                <a:ea typeface="Calibri" pitchFamily="34" charset="-122"/>
                <a:cs typeface="Calibri" pitchFamily="34" charset="-120"/>
              </a:rPr>
              <a:t>Undo</a:t>
            </a:r>
            <a:endParaRPr lang="en-US" sz="1400" dirty="0"/>
          </a:p>
        </p:txBody>
      </p:sp>
      <p:sp>
        <p:nvSpPr>
          <p:cNvPr id="20" name="Text 18"/>
          <p:cNvSpPr txBox="1"/>
          <p:nvPr/>
        </p:nvSpPr>
        <p:spPr>
          <a:xfrm>
            <a:off x="1115568" y="4032504"/>
            <a:ext cx="7479792" cy="365760"/>
          </a:xfrm>
          <a:prstGeom prst="rect">
            <a:avLst/>
          </a:prstGeom>
          <a:noFill/>
          <a:ln/>
        </p:spPr>
        <p:txBody>
          <a:bodyPr wrap="square" lIns="0" tIns="0" rIns="0" bIns="0" rtlCol="0" anchor="ctr"/>
          <a:lstStyle/>
          <a:p>
            <a:pPr indent="0" marL="0">
              <a:lnSpc>
                <a:spcPct val="110000"/>
              </a:lnSpc>
              <a:buNone/>
            </a:pPr>
            <a:r>
              <a:rPr lang="en-US" sz="1150" dirty="0">
                <a:solidFill>
                  <a:srgbClr val="857C6D"/>
                </a:solidFill>
                <a:latin typeface="Calibri" pitchFamily="34" charset="0"/>
                <a:ea typeface="Calibri" pitchFamily="34" charset="-122"/>
                <a:cs typeface="Calibri" pitchFamily="34" charset="-120"/>
              </a:rPr>
              <a:t>Restores the page exactly as it was this morning, so a mistaken tap can never cost an interval.</a:t>
            </a:r>
            <a:endParaRPr lang="en-US" sz="1150" dirty="0"/>
          </a:p>
        </p:txBody>
      </p:sp>
      <p:sp>
        <p:nvSpPr>
          <p:cNvPr id="21" name="Text 19"/>
          <p:cNvSpPr txBox="1"/>
          <p:nvPr/>
        </p:nvSpPr>
        <p:spPr>
          <a:xfrm>
            <a:off x="548640" y="4572000"/>
            <a:ext cx="8046720" cy="365760"/>
          </a:xfrm>
          <a:prstGeom prst="rect">
            <a:avLst/>
          </a:prstGeom>
          <a:noFill/>
          <a:ln/>
        </p:spPr>
        <p:txBody>
          <a:bodyPr wrap="square" lIns="0" tIns="0" rIns="0" bIns="0" rtlCol="0" anchor="ctr"/>
          <a:lstStyle/>
          <a:p>
            <a:pPr indent="0" marL="0">
              <a:buNone/>
            </a:pPr>
            <a:r>
              <a:rPr lang="en-US" sz="1050" i="1" dirty="0">
                <a:solidFill>
                  <a:srgbClr val="857C6D"/>
                </a:solidFill>
                <a:latin typeface="Calibri" pitchFamily="34" charset="0"/>
                <a:ea typeface="Calibri" pitchFamily="34" charset="-122"/>
                <a:cs typeface="Calibri" pitchFamily="34" charset="-120"/>
              </a:rPr>
              <a:t>Every attempt is still counted and still recorded in the review history — it is only the interval arithmetic that is limited to one assessment a day.</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10896"/>
            <a:ext cx="8046720" cy="237744"/>
          </a:xfrm>
          <a:prstGeom prst="rect">
            <a:avLst/>
          </a:prstGeom>
          <a:noFill/>
          <a:ln/>
        </p:spPr>
        <p:txBody>
          <a:bodyPr wrap="square" lIns="0" tIns="0" rIns="0" bIns="0" rtlCol="0" anchor="ctr"/>
          <a:lstStyle/>
          <a:p>
            <a:pPr indent="0" marL="0">
              <a:buNone/>
            </a:pPr>
            <a:r>
              <a:rPr lang="en-US" sz="1100" b="1" spc="200" kern="0" dirty="0">
                <a:solidFill>
                  <a:srgbClr val="B8860B"/>
                </a:solidFill>
                <a:latin typeface="Calibri" pitchFamily="34" charset="0"/>
                <a:ea typeface="Calibri" pitchFamily="34" charset="-122"/>
                <a:cs typeface="Calibri" pitchFamily="34" charset="-120"/>
              </a:rPr>
              <a:t>A WORKED EXAMPLE</a:t>
            </a:r>
            <a:endParaRPr lang="en-US" sz="1100" dirty="0"/>
          </a:p>
        </p:txBody>
      </p:sp>
      <p:sp>
        <p:nvSpPr>
          <p:cNvPr id="3" name="Text 1"/>
          <p:cNvSpPr txBox="1"/>
          <p:nvPr/>
        </p:nvSpPr>
        <p:spPr>
          <a:xfrm>
            <a:off x="548640" y="530352"/>
            <a:ext cx="8046720" cy="603504"/>
          </a:xfrm>
          <a:prstGeom prst="rect">
            <a:avLst/>
          </a:prstGeom>
          <a:noFill/>
          <a:ln/>
        </p:spPr>
        <p:txBody>
          <a:bodyPr wrap="square" lIns="0" tIns="0" rIns="0" bIns="0" rtlCol="0" anchor="ctr"/>
          <a:lstStyle/>
          <a:p>
            <a:pPr indent="0" marL="0">
              <a:buNone/>
            </a:pPr>
            <a:r>
              <a:rPr lang="en-US" sz="2900" b="1" dirty="0">
                <a:solidFill>
                  <a:srgbClr val="1F6F5F"/>
                </a:solidFill>
                <a:latin typeface="Cambria" pitchFamily="34" charset="0"/>
                <a:ea typeface="Cambria" pitchFamily="34" charset="-122"/>
                <a:cs typeface="Cambria" pitchFamily="34" charset="-120"/>
              </a:rPr>
              <a:t>One page, four months</a:t>
            </a:r>
            <a:endParaRPr lang="en-US" sz="2900" dirty="0"/>
          </a:p>
        </p:txBody>
      </p:sp>
      <p:sp>
        <p:nvSpPr>
          <p:cNvPr id="4" name="Text 2"/>
          <p:cNvSpPr txBox="1"/>
          <p:nvPr/>
        </p:nvSpPr>
        <p:spPr>
          <a:xfrm>
            <a:off x="548640" y="1152144"/>
            <a:ext cx="8046720" cy="310896"/>
          </a:xfrm>
          <a:prstGeom prst="rect">
            <a:avLst/>
          </a:prstGeom>
          <a:noFill/>
          <a:ln/>
        </p:spPr>
        <p:txBody>
          <a:bodyPr wrap="square" lIns="0" tIns="0" rIns="0" bIns="0" rtlCol="0" anchor="ctr"/>
          <a:lstStyle/>
          <a:p>
            <a:pPr indent="0" marL="0">
              <a:buNone/>
            </a:pPr>
            <a:r>
              <a:rPr lang="en-US" sz="1350" dirty="0">
                <a:solidFill>
                  <a:srgbClr val="5D564B"/>
                </a:solidFill>
                <a:latin typeface="Calibri" pitchFamily="34" charset="0"/>
                <a:ea typeface="Calibri" pitchFamily="34" charset="-122"/>
                <a:cs typeface="Calibri" pitchFamily="34" charset="-120"/>
              </a:rPr>
              <a:t>Page 604, completed on day 0, with a lapse at the fourth review. The line is the scheduled gap in days.</a:t>
            </a:r>
            <a:endParaRPr lang="en-US" sz="1350" dirty="0"/>
          </a:p>
        </p:txBody>
      </p:sp>
      <p:graphicFrame>
        <p:nvGraphicFramePr>
          <p:cNvPr id="5" name="Chart 0" descr=""/>
          <p:cNvGraphicFramePr/>
          <p:nvPr/>
        </p:nvGraphicFramePr>
        <p:xfrm>
          <a:off x="548640" y="1645920"/>
          <a:ext cx="5212080" cy="26060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5943600" y="1645920"/>
            <a:ext cx="2651760" cy="2651760"/>
          </a:xfrm>
          <a:prstGeom prst="rect">
            <a:avLst/>
          </a:prstGeom>
          <a:noFill/>
          <a:ln/>
        </p:spPr>
        <p:txBody>
          <a:bodyPr wrap="square" lIns="0" tIns="0" rIns="0" bIns="0" rtlCol="0" anchor="ctr"/>
          <a:lstStyle/>
          <a:p>
            <a:pPr marL="342900" indent="-342900">
              <a:spcAft>
                <a:spcPts val="700"/>
              </a:spcAft>
              <a:buSzPct val="100000"/>
              <a:buChar char="▪"/>
            </a:pPr>
            <a:r>
              <a:rPr lang="en-US" sz="1100" dirty="0">
                <a:solidFill>
                  <a:srgbClr val="5D564B"/>
                </a:solidFill>
                <a:latin typeface="Calibri" pitchFamily="34" charset="0"/>
                <a:ea typeface="Calibri" pitchFamily="34" charset="-122"/>
                <a:cs typeface="Calibri" pitchFamily="34" charset="-120"/>
              </a:rPr>
              <a:t>R1–R4 rated 4 or 5: the page climbs 1 → 3 → 7 → 14.</a:t>
            </a:r>
            <a:endParaRPr lang="en-US" sz="1100" dirty="0"/>
          </a:p>
          <a:p>
            <a:pPr marL="342900" indent="-342900">
              <a:spcAft>
                <a:spcPts val="700"/>
              </a:spcAft>
              <a:buSzPct val="100000"/>
              <a:buChar char="▪"/>
            </a:pPr>
            <a:r>
              <a:rPr lang="en-US" sz="1100" dirty="0">
                <a:solidFill>
                  <a:srgbClr val="5D564B"/>
                </a:solidFill>
                <a:latin typeface="Calibri" pitchFamily="34" charset="0"/>
                <a:ea typeface="Calibri" pitchFamily="34" charset="-122"/>
                <a:cs typeface="Calibri" pitchFamily="34" charset="-120"/>
              </a:rPr>
              <a:t>R5 rated 1: interval collapses to a single day, ease drops from 2.3 to 2.0, the page is flagged weak and jumps to the front of the queue.</a:t>
            </a:r>
            <a:endParaRPr lang="en-US" sz="1100" dirty="0"/>
          </a:p>
          <a:p>
            <a:pPr marL="342900" indent="-342900">
              <a:spcAft>
                <a:spcPts val="700"/>
              </a:spcAft>
              <a:buSzPct val="100000"/>
              <a:buChar char="▪"/>
            </a:pPr>
            <a:r>
              <a:rPr lang="en-US" sz="1100" dirty="0">
                <a:solidFill>
                  <a:srgbClr val="5D564B"/>
                </a:solidFill>
                <a:latin typeface="Calibri" pitchFamily="34" charset="0"/>
                <a:ea typeface="Calibri" pitchFamily="34" charset="-122"/>
                <a:cs typeface="Calibri" pitchFamily="34" charset="-120"/>
              </a:rPr>
              <a:t>R6 rated 4: good, but the flag stays.</a:t>
            </a:r>
            <a:endParaRPr lang="en-US" sz="1100" dirty="0"/>
          </a:p>
          <a:p>
            <a:pPr marL="342900" indent="-342900">
              <a:spcAft>
                <a:spcPts val="700"/>
              </a:spcAft>
              <a:buSzPct val="100000"/>
              <a:buChar char="▪"/>
            </a:pPr>
            <a:r>
              <a:rPr lang="en-US" sz="1100" dirty="0">
                <a:solidFill>
                  <a:srgbClr val="5D564B"/>
                </a:solidFill>
                <a:latin typeface="Calibri" pitchFamily="34" charset="0"/>
                <a:ea typeface="Calibri" pitchFamily="34" charset="-122"/>
                <a:cs typeface="Calibri" pitchFamily="34" charset="-120"/>
              </a:rPr>
              <a:t>R7 rated 5: two consecutive good — the flag clears.</a:t>
            </a:r>
            <a:endParaRPr lang="en-US" sz="1100" dirty="0"/>
          </a:p>
          <a:p>
            <a:pPr marL="342900" indent="-342900">
              <a:spcAft>
                <a:spcPts val="700"/>
              </a:spcAft>
              <a:buSzPct val="100000"/>
              <a:buChar char="▪"/>
            </a:pPr>
            <a:r>
              <a:rPr lang="en-US" sz="1100" dirty="0">
                <a:solidFill>
                  <a:srgbClr val="5D564B"/>
                </a:solidFill>
                <a:latin typeface="Calibri" pitchFamily="34" charset="0"/>
                <a:ea typeface="Calibri" pitchFamily="34" charset="-122"/>
                <a:cs typeface="Calibri" pitchFamily="34" charset="-120"/>
              </a:rPr>
              <a:t>R9 reaches 30 days with three good in a row, so the page is promoted to manzil and enters the rotation.</a:t>
            </a:r>
            <a:endParaRPr lang="en-US" sz="1100" dirty="0"/>
          </a:p>
        </p:txBody>
      </p:sp>
      <p:sp>
        <p:nvSpPr>
          <p:cNvPr id="7" name="Text 4"/>
          <p:cNvSpPr txBox="1"/>
          <p:nvPr/>
        </p:nvSpPr>
        <p:spPr>
          <a:xfrm>
            <a:off x="548640" y="4407408"/>
            <a:ext cx="8046720" cy="365760"/>
          </a:xfrm>
          <a:prstGeom prst="rect">
            <a:avLst/>
          </a:prstGeom>
          <a:noFill/>
          <a:ln/>
        </p:spPr>
        <p:txBody>
          <a:bodyPr wrap="square" lIns="0" tIns="0" rIns="0" bIns="0" rtlCol="0" anchor="ctr"/>
          <a:lstStyle/>
          <a:p>
            <a:pPr indent="0" marL="0">
              <a:buNone/>
            </a:pPr>
            <a:r>
              <a:rPr lang="en-US" sz="1050" i="1" dirty="0">
                <a:solidFill>
                  <a:srgbClr val="857C6D"/>
                </a:solidFill>
                <a:latin typeface="Calibri" pitchFamily="34" charset="0"/>
                <a:ea typeface="Calibri" pitchFamily="34" charset="-122"/>
                <a:cs typeface="Calibri" pitchFamily="34" charset="-120"/>
              </a:rPr>
              <a:t>A recovering page is not put back where it was; it re-climbs. That is the cost of the lapse, and it is visible to the user in the Progress tab.</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310896"/>
            <a:ext cx="8046720" cy="237744"/>
          </a:xfrm>
          <a:prstGeom prst="rect">
            <a:avLst/>
          </a:prstGeom>
          <a:noFill/>
          <a:ln/>
        </p:spPr>
        <p:txBody>
          <a:bodyPr wrap="square" lIns="0" tIns="0" rIns="0" bIns="0" rtlCol="0" anchor="ctr"/>
          <a:lstStyle/>
          <a:p>
            <a:pPr indent="0" marL="0">
              <a:buNone/>
            </a:pPr>
            <a:r>
              <a:rPr lang="en-US" sz="1100" b="1" spc="200" kern="0" dirty="0">
                <a:solidFill>
                  <a:srgbClr val="B8860B"/>
                </a:solidFill>
                <a:latin typeface="Calibri" pitchFamily="34" charset="0"/>
                <a:ea typeface="Calibri" pitchFamily="34" charset="-122"/>
                <a:cs typeface="Calibri" pitchFamily="34" charset="-120"/>
              </a:rPr>
              <a:t>DESIGN CHOICES</a:t>
            </a:r>
            <a:endParaRPr lang="en-US" sz="1100" dirty="0"/>
          </a:p>
        </p:txBody>
      </p:sp>
      <p:sp>
        <p:nvSpPr>
          <p:cNvPr id="3" name="Text 1"/>
          <p:cNvSpPr txBox="1"/>
          <p:nvPr/>
        </p:nvSpPr>
        <p:spPr>
          <a:xfrm>
            <a:off x="548640" y="530352"/>
            <a:ext cx="8046720" cy="603504"/>
          </a:xfrm>
          <a:prstGeom prst="rect">
            <a:avLst/>
          </a:prstGeom>
          <a:noFill/>
          <a:ln/>
        </p:spPr>
        <p:txBody>
          <a:bodyPr wrap="square" lIns="0" tIns="0" rIns="0" bIns="0" rtlCol="0" anchor="ctr"/>
          <a:lstStyle/>
          <a:p>
            <a:pPr indent="0" marL="0">
              <a:buNone/>
            </a:pPr>
            <a:r>
              <a:rPr lang="en-US" sz="2900" b="1" dirty="0">
                <a:solidFill>
                  <a:srgbClr val="1F6F5F"/>
                </a:solidFill>
                <a:latin typeface="Cambria" pitchFamily="34" charset="0"/>
                <a:ea typeface="Cambria" pitchFamily="34" charset="-122"/>
                <a:cs typeface="Cambria" pitchFamily="34" charset="-120"/>
              </a:rPr>
              <a:t>How it differs from a flashcard scheduler</a:t>
            </a:r>
            <a:endParaRPr lang="en-US" sz="2900" dirty="0"/>
          </a:p>
        </p:txBody>
      </p:sp>
      <p:sp>
        <p:nvSpPr>
          <p:cNvPr id="4" name="Text 2"/>
          <p:cNvSpPr txBox="1"/>
          <p:nvPr/>
        </p:nvSpPr>
        <p:spPr>
          <a:xfrm>
            <a:off x="548640" y="1207008"/>
            <a:ext cx="1371600" cy="256032"/>
          </a:xfrm>
          <a:prstGeom prst="rect">
            <a:avLst/>
          </a:prstGeom>
          <a:noFill/>
          <a:ln/>
        </p:spPr>
        <p:txBody>
          <a:bodyPr wrap="square" lIns="0" tIns="0" rIns="0" bIns="0" rtlCol="0" anchor="ctr"/>
          <a:lstStyle/>
          <a:p>
            <a:pPr indent="0" marL="0">
              <a:buNone/>
            </a:pPr>
            <a:r>
              <a:rPr lang="en-US" sz="1050" b="1" spc="150" kern="0" dirty="0">
                <a:solidFill>
                  <a:srgbClr val="B8860B"/>
                </a:solidFill>
                <a:latin typeface="Calibri" pitchFamily="34" charset="0"/>
                <a:ea typeface="Calibri" pitchFamily="34" charset="-122"/>
                <a:cs typeface="Calibri" pitchFamily="34" charset="-120"/>
              </a:rPr>
              <a:t>Aspect</a:t>
            </a:r>
            <a:endParaRPr lang="en-US" sz="1050" dirty="0"/>
          </a:p>
        </p:txBody>
      </p:sp>
      <p:sp>
        <p:nvSpPr>
          <p:cNvPr id="5" name="Text 3"/>
          <p:cNvSpPr txBox="1"/>
          <p:nvPr/>
        </p:nvSpPr>
        <p:spPr>
          <a:xfrm>
            <a:off x="2011680" y="1207008"/>
            <a:ext cx="2743200" cy="256032"/>
          </a:xfrm>
          <a:prstGeom prst="rect">
            <a:avLst/>
          </a:prstGeom>
          <a:noFill/>
          <a:ln/>
        </p:spPr>
        <p:txBody>
          <a:bodyPr wrap="square" lIns="0" tIns="0" rIns="0" bIns="0" rtlCol="0" anchor="ctr"/>
          <a:lstStyle/>
          <a:p>
            <a:pPr indent="0" marL="0">
              <a:buNone/>
            </a:pPr>
            <a:r>
              <a:rPr lang="en-US" sz="1050" b="1" spc="150" kern="0" dirty="0">
                <a:solidFill>
                  <a:srgbClr val="857C6D"/>
                </a:solidFill>
                <a:latin typeface="Calibri" pitchFamily="34" charset="0"/>
                <a:ea typeface="Calibri" pitchFamily="34" charset="-122"/>
                <a:cs typeface="Calibri" pitchFamily="34" charset="-120"/>
              </a:rPr>
              <a:t>CLASSIC SM-2 FAMILY</a:t>
            </a:r>
            <a:endParaRPr lang="en-US" sz="1050" dirty="0"/>
          </a:p>
        </p:txBody>
      </p:sp>
      <p:sp>
        <p:nvSpPr>
          <p:cNvPr id="6" name="Text 4"/>
          <p:cNvSpPr txBox="1"/>
          <p:nvPr/>
        </p:nvSpPr>
        <p:spPr>
          <a:xfrm>
            <a:off x="4937760" y="1207008"/>
            <a:ext cx="3657600" cy="256032"/>
          </a:xfrm>
          <a:prstGeom prst="rect">
            <a:avLst/>
          </a:prstGeom>
          <a:noFill/>
          <a:ln/>
        </p:spPr>
        <p:txBody>
          <a:bodyPr wrap="square" lIns="0" tIns="0" rIns="0" bIns="0" rtlCol="0" anchor="ctr"/>
          <a:lstStyle/>
          <a:p>
            <a:pPr indent="0" marL="0">
              <a:buNone/>
            </a:pPr>
            <a:r>
              <a:rPr lang="en-US" sz="1050" b="1" spc="150" kern="0" dirty="0">
                <a:solidFill>
                  <a:srgbClr val="1F6F5F"/>
                </a:solidFill>
                <a:latin typeface="Calibri" pitchFamily="34" charset="0"/>
                <a:ea typeface="Calibri" pitchFamily="34" charset="-122"/>
                <a:cs typeface="Calibri" pitchFamily="34" charset="-120"/>
              </a:rPr>
              <a:t>HIFZ COMPANION</a:t>
            </a:r>
            <a:endParaRPr lang="en-US" sz="1050" dirty="0"/>
          </a:p>
        </p:txBody>
      </p:sp>
      <p:sp>
        <p:nvSpPr>
          <p:cNvPr id="7" name="Shape 5"/>
          <p:cNvSpPr/>
          <p:nvPr/>
        </p:nvSpPr>
        <p:spPr>
          <a:xfrm>
            <a:off x="502920" y="1517904"/>
            <a:ext cx="8138160" cy="457200"/>
          </a:xfrm>
          <a:prstGeom prst="roundRect">
            <a:avLst>
              <a:gd name="adj" fmla="val 10000"/>
            </a:avLst>
          </a:prstGeom>
          <a:solidFill>
            <a:srgbClr val="F6F1E7"/>
          </a:solidFill>
          <a:ln/>
        </p:spPr>
      </p:sp>
      <p:sp>
        <p:nvSpPr>
          <p:cNvPr id="8" name="Text 6"/>
          <p:cNvSpPr txBox="1"/>
          <p:nvPr/>
        </p:nvSpPr>
        <p:spPr>
          <a:xfrm>
            <a:off x="640080" y="1572768"/>
            <a:ext cx="1325880" cy="310896"/>
          </a:xfrm>
          <a:prstGeom prst="rect">
            <a:avLst/>
          </a:prstGeom>
          <a:noFill/>
          <a:ln/>
        </p:spPr>
        <p:txBody>
          <a:bodyPr wrap="square" lIns="0" tIns="0" rIns="0" bIns="0" rtlCol="0" anchor="ctr"/>
          <a:lstStyle/>
          <a:p>
            <a:pPr indent="0" marL="0">
              <a:buNone/>
            </a:pPr>
            <a:r>
              <a:rPr lang="en-US" sz="1150" b="1" dirty="0">
                <a:solidFill>
                  <a:srgbClr val="23201B"/>
                </a:solidFill>
                <a:latin typeface="Calibri" pitchFamily="34" charset="0"/>
                <a:ea typeface="Calibri" pitchFamily="34" charset="-122"/>
                <a:cs typeface="Calibri" pitchFamily="34" charset="-120"/>
              </a:rPr>
              <a:t>Unit</a:t>
            </a:r>
            <a:endParaRPr lang="en-US" sz="1150" dirty="0"/>
          </a:p>
        </p:txBody>
      </p:sp>
      <p:sp>
        <p:nvSpPr>
          <p:cNvPr id="9" name="Text 7"/>
          <p:cNvSpPr txBox="1"/>
          <p:nvPr/>
        </p:nvSpPr>
        <p:spPr>
          <a:xfrm>
            <a:off x="2011680" y="1572768"/>
            <a:ext cx="2834640" cy="365760"/>
          </a:xfrm>
          <a:prstGeom prst="rect">
            <a:avLst/>
          </a:prstGeom>
          <a:noFill/>
          <a:ln/>
        </p:spPr>
        <p:txBody>
          <a:bodyPr wrap="square" lIns="0" tIns="0" rIns="0" bIns="0" rtlCol="0" anchor="ctr"/>
          <a:lstStyle/>
          <a:p>
            <a:pPr indent="0" marL="0">
              <a:buNone/>
            </a:pPr>
            <a:r>
              <a:rPr lang="en-US" sz="1050" dirty="0">
                <a:solidFill>
                  <a:srgbClr val="857C6D"/>
                </a:solidFill>
                <a:latin typeface="Calibri" pitchFamily="34" charset="0"/>
                <a:ea typeface="Calibri" pitchFamily="34" charset="-122"/>
                <a:cs typeface="Calibri" pitchFamily="34" charset="-120"/>
              </a:rPr>
              <a:t>A card, a word, a fact</a:t>
            </a:r>
            <a:endParaRPr lang="en-US" sz="1050" dirty="0"/>
          </a:p>
        </p:txBody>
      </p:sp>
      <p:sp>
        <p:nvSpPr>
          <p:cNvPr id="10" name="Text 8"/>
          <p:cNvSpPr txBox="1"/>
          <p:nvPr/>
        </p:nvSpPr>
        <p:spPr>
          <a:xfrm>
            <a:off x="4937760" y="1572768"/>
            <a:ext cx="3611880" cy="365760"/>
          </a:xfrm>
          <a:prstGeom prst="rect">
            <a:avLst/>
          </a:prstGeom>
          <a:noFill/>
          <a:ln/>
        </p:spPr>
        <p:txBody>
          <a:bodyPr wrap="square" lIns="0" tIns="0" rIns="0" bIns="0" rtlCol="0" anchor="ctr"/>
          <a:lstStyle/>
          <a:p>
            <a:pPr indent="0" marL="0">
              <a:buNone/>
            </a:pPr>
            <a:r>
              <a:rPr lang="en-US" sz="1050" dirty="0">
                <a:solidFill>
                  <a:srgbClr val="5D564B"/>
                </a:solidFill>
                <a:latin typeface="Calibri" pitchFamily="34" charset="0"/>
                <a:ea typeface="Calibri" pitchFamily="34" charset="-122"/>
                <a:cs typeface="Calibri" pitchFamily="34" charset="-120"/>
              </a:rPr>
              <a:t>One printed page of the Madinah Mushaf, in the layout you hold</a:t>
            </a:r>
            <a:endParaRPr lang="en-US" sz="1050" dirty="0"/>
          </a:p>
        </p:txBody>
      </p:sp>
      <p:sp>
        <p:nvSpPr>
          <p:cNvPr id="11" name="Text 9"/>
          <p:cNvSpPr txBox="1"/>
          <p:nvPr/>
        </p:nvSpPr>
        <p:spPr>
          <a:xfrm>
            <a:off x="640080" y="2057400"/>
            <a:ext cx="1325880" cy="310896"/>
          </a:xfrm>
          <a:prstGeom prst="rect">
            <a:avLst/>
          </a:prstGeom>
          <a:noFill/>
          <a:ln/>
        </p:spPr>
        <p:txBody>
          <a:bodyPr wrap="square" lIns="0" tIns="0" rIns="0" bIns="0" rtlCol="0" anchor="ctr"/>
          <a:lstStyle/>
          <a:p>
            <a:pPr indent="0" marL="0">
              <a:buNone/>
            </a:pPr>
            <a:r>
              <a:rPr lang="en-US" sz="1150" b="1" dirty="0">
                <a:solidFill>
                  <a:srgbClr val="23201B"/>
                </a:solidFill>
                <a:latin typeface="Calibri" pitchFamily="34" charset="0"/>
                <a:ea typeface="Calibri" pitchFamily="34" charset="-122"/>
                <a:cs typeface="Calibri" pitchFamily="34" charset="-120"/>
              </a:rPr>
              <a:t>Growth</a:t>
            </a:r>
            <a:endParaRPr lang="en-US" sz="1150" dirty="0"/>
          </a:p>
        </p:txBody>
      </p:sp>
      <p:sp>
        <p:nvSpPr>
          <p:cNvPr id="12" name="Text 10"/>
          <p:cNvSpPr txBox="1"/>
          <p:nvPr/>
        </p:nvSpPr>
        <p:spPr>
          <a:xfrm>
            <a:off x="2011680" y="2057400"/>
            <a:ext cx="2834640" cy="365760"/>
          </a:xfrm>
          <a:prstGeom prst="rect">
            <a:avLst/>
          </a:prstGeom>
          <a:noFill/>
          <a:ln/>
        </p:spPr>
        <p:txBody>
          <a:bodyPr wrap="square" lIns="0" tIns="0" rIns="0" bIns="0" rtlCol="0" anchor="ctr"/>
          <a:lstStyle/>
          <a:p>
            <a:pPr indent="0" marL="0">
              <a:buNone/>
            </a:pPr>
            <a:r>
              <a:rPr lang="en-US" sz="1050" dirty="0">
                <a:solidFill>
                  <a:srgbClr val="857C6D"/>
                </a:solidFill>
                <a:latin typeface="Calibri" pitchFamily="34" charset="0"/>
                <a:ea typeface="Calibri" pitchFamily="34" charset="-122"/>
                <a:cs typeface="Calibri" pitchFamily="34" charset="-120"/>
              </a:rPr>
              <a:t>Ease from the first review; intervals grow fast</a:t>
            </a:r>
            <a:endParaRPr lang="en-US" sz="1050" dirty="0"/>
          </a:p>
        </p:txBody>
      </p:sp>
      <p:sp>
        <p:nvSpPr>
          <p:cNvPr id="13" name="Text 11"/>
          <p:cNvSpPr txBox="1"/>
          <p:nvPr/>
        </p:nvSpPr>
        <p:spPr>
          <a:xfrm>
            <a:off x="4937760" y="2057400"/>
            <a:ext cx="3611880" cy="365760"/>
          </a:xfrm>
          <a:prstGeom prst="rect">
            <a:avLst/>
          </a:prstGeom>
          <a:noFill/>
          <a:ln/>
        </p:spPr>
        <p:txBody>
          <a:bodyPr wrap="square" lIns="0" tIns="0" rIns="0" bIns="0" rtlCol="0" anchor="ctr"/>
          <a:lstStyle/>
          <a:p>
            <a:pPr indent="0" marL="0">
              <a:buNone/>
            </a:pPr>
            <a:r>
              <a:rPr lang="en-US" sz="1050" dirty="0">
                <a:solidFill>
                  <a:srgbClr val="5D564B"/>
                </a:solidFill>
                <a:latin typeface="Calibri" pitchFamily="34" charset="0"/>
                <a:ea typeface="Calibri" pitchFamily="34" charset="-122"/>
                <a:cs typeface="Calibri" pitchFamily="34" charset="-120"/>
              </a:rPr>
              <a:t>A fixed ladder first, ease only past 30 days — slower, more predictable</a:t>
            </a:r>
            <a:endParaRPr lang="en-US" sz="1050" dirty="0"/>
          </a:p>
        </p:txBody>
      </p:sp>
      <p:sp>
        <p:nvSpPr>
          <p:cNvPr id="14" name="Shape 12"/>
          <p:cNvSpPr/>
          <p:nvPr/>
        </p:nvSpPr>
        <p:spPr>
          <a:xfrm>
            <a:off x="502920" y="2487168"/>
            <a:ext cx="8138160" cy="457200"/>
          </a:xfrm>
          <a:prstGeom prst="roundRect">
            <a:avLst>
              <a:gd name="adj" fmla="val 10000"/>
            </a:avLst>
          </a:prstGeom>
          <a:solidFill>
            <a:srgbClr val="F6F1E7"/>
          </a:solidFill>
          <a:ln/>
        </p:spPr>
      </p:sp>
      <p:sp>
        <p:nvSpPr>
          <p:cNvPr id="15" name="Text 13"/>
          <p:cNvSpPr txBox="1"/>
          <p:nvPr/>
        </p:nvSpPr>
        <p:spPr>
          <a:xfrm>
            <a:off x="640080" y="2542032"/>
            <a:ext cx="1325880" cy="310896"/>
          </a:xfrm>
          <a:prstGeom prst="rect">
            <a:avLst/>
          </a:prstGeom>
          <a:noFill/>
          <a:ln/>
        </p:spPr>
        <p:txBody>
          <a:bodyPr wrap="square" lIns="0" tIns="0" rIns="0" bIns="0" rtlCol="0" anchor="ctr"/>
          <a:lstStyle/>
          <a:p>
            <a:pPr indent="0" marL="0">
              <a:buNone/>
            </a:pPr>
            <a:r>
              <a:rPr lang="en-US" sz="1150" b="1" dirty="0">
                <a:solidFill>
                  <a:srgbClr val="23201B"/>
                </a:solidFill>
                <a:latin typeface="Calibri" pitchFamily="34" charset="0"/>
                <a:ea typeface="Calibri" pitchFamily="34" charset="-122"/>
                <a:cs typeface="Calibri" pitchFamily="34" charset="-120"/>
              </a:rPr>
              <a:t>Ease band</a:t>
            </a:r>
            <a:endParaRPr lang="en-US" sz="1150" dirty="0"/>
          </a:p>
        </p:txBody>
      </p:sp>
      <p:sp>
        <p:nvSpPr>
          <p:cNvPr id="16" name="Text 14"/>
          <p:cNvSpPr txBox="1"/>
          <p:nvPr/>
        </p:nvSpPr>
        <p:spPr>
          <a:xfrm>
            <a:off x="2011680" y="2542032"/>
            <a:ext cx="2834640" cy="365760"/>
          </a:xfrm>
          <a:prstGeom prst="rect">
            <a:avLst/>
          </a:prstGeom>
          <a:noFill/>
          <a:ln/>
        </p:spPr>
        <p:txBody>
          <a:bodyPr wrap="square" lIns="0" tIns="0" rIns="0" bIns="0" rtlCol="0" anchor="ctr"/>
          <a:lstStyle/>
          <a:p>
            <a:pPr indent="0" marL="0">
              <a:buNone/>
            </a:pPr>
            <a:r>
              <a:rPr lang="en-US" sz="1050" dirty="0">
                <a:solidFill>
                  <a:srgbClr val="857C6D"/>
                </a:solidFill>
                <a:latin typeface="Calibri" pitchFamily="34" charset="0"/>
                <a:ea typeface="Calibri" pitchFamily="34" charset="-122"/>
                <a:cs typeface="Calibri" pitchFamily="34" charset="-120"/>
              </a:rPr>
              <a:t>Typically 1.3 upward, unbounded</a:t>
            </a:r>
            <a:endParaRPr lang="en-US" sz="1050" dirty="0"/>
          </a:p>
        </p:txBody>
      </p:sp>
      <p:sp>
        <p:nvSpPr>
          <p:cNvPr id="17" name="Text 15"/>
          <p:cNvSpPr txBox="1"/>
          <p:nvPr/>
        </p:nvSpPr>
        <p:spPr>
          <a:xfrm>
            <a:off x="4937760" y="2542032"/>
            <a:ext cx="3611880" cy="365760"/>
          </a:xfrm>
          <a:prstGeom prst="rect">
            <a:avLst/>
          </a:prstGeom>
          <a:noFill/>
          <a:ln/>
        </p:spPr>
        <p:txBody>
          <a:bodyPr wrap="square" lIns="0" tIns="0" rIns="0" bIns="0" rtlCol="0" anchor="ctr"/>
          <a:lstStyle/>
          <a:p>
            <a:pPr indent="0" marL="0">
              <a:buNone/>
            </a:pPr>
            <a:r>
              <a:rPr lang="en-US" sz="1050" dirty="0">
                <a:solidFill>
                  <a:srgbClr val="5D564B"/>
                </a:solidFill>
                <a:latin typeface="Calibri" pitchFamily="34" charset="0"/>
                <a:ea typeface="Calibri" pitchFamily="34" charset="-122"/>
                <a:cs typeface="Calibri" pitchFamily="34" charset="-120"/>
              </a:rPr>
              <a:t>Clamped 1.3 – 2.8, so no page runs away</a:t>
            </a:r>
            <a:endParaRPr lang="en-US" sz="1050" dirty="0"/>
          </a:p>
        </p:txBody>
      </p:sp>
      <p:sp>
        <p:nvSpPr>
          <p:cNvPr id="18" name="Text 16"/>
          <p:cNvSpPr txBox="1"/>
          <p:nvPr/>
        </p:nvSpPr>
        <p:spPr>
          <a:xfrm>
            <a:off x="640080" y="3026664"/>
            <a:ext cx="1325880" cy="310896"/>
          </a:xfrm>
          <a:prstGeom prst="rect">
            <a:avLst/>
          </a:prstGeom>
          <a:noFill/>
          <a:ln/>
        </p:spPr>
        <p:txBody>
          <a:bodyPr wrap="square" lIns="0" tIns="0" rIns="0" bIns="0" rtlCol="0" anchor="ctr"/>
          <a:lstStyle/>
          <a:p>
            <a:pPr indent="0" marL="0">
              <a:buNone/>
            </a:pPr>
            <a:r>
              <a:rPr lang="en-US" sz="1150" b="1" dirty="0">
                <a:solidFill>
                  <a:srgbClr val="23201B"/>
                </a:solidFill>
                <a:latin typeface="Calibri" pitchFamily="34" charset="0"/>
                <a:ea typeface="Calibri" pitchFamily="34" charset="-122"/>
                <a:cs typeface="Calibri" pitchFamily="34" charset="-120"/>
              </a:rPr>
              <a:t>Daily load</a:t>
            </a:r>
            <a:endParaRPr lang="en-US" sz="1150" dirty="0"/>
          </a:p>
        </p:txBody>
      </p:sp>
      <p:sp>
        <p:nvSpPr>
          <p:cNvPr id="19" name="Text 17"/>
          <p:cNvSpPr txBox="1"/>
          <p:nvPr/>
        </p:nvSpPr>
        <p:spPr>
          <a:xfrm>
            <a:off x="2011680" y="3026664"/>
            <a:ext cx="2834640" cy="365760"/>
          </a:xfrm>
          <a:prstGeom prst="rect">
            <a:avLst/>
          </a:prstGeom>
          <a:noFill/>
          <a:ln/>
        </p:spPr>
        <p:txBody>
          <a:bodyPr wrap="square" lIns="0" tIns="0" rIns="0" bIns="0" rtlCol="0" anchor="ctr"/>
          <a:lstStyle/>
          <a:p>
            <a:pPr indent="0" marL="0">
              <a:buNone/>
            </a:pPr>
            <a:r>
              <a:rPr lang="en-US" sz="1050" dirty="0">
                <a:solidFill>
                  <a:srgbClr val="857C6D"/>
                </a:solidFill>
                <a:latin typeface="Calibri" pitchFamily="34" charset="0"/>
                <a:ea typeface="Calibri" pitchFamily="34" charset="-122"/>
                <a:cs typeface="Calibri" pitchFamily="34" charset="-120"/>
              </a:rPr>
              <a:t>Whatever is due</a:t>
            </a:r>
            <a:endParaRPr lang="en-US" sz="1050" dirty="0"/>
          </a:p>
        </p:txBody>
      </p:sp>
      <p:sp>
        <p:nvSpPr>
          <p:cNvPr id="20" name="Text 18"/>
          <p:cNvSpPr txBox="1"/>
          <p:nvPr/>
        </p:nvSpPr>
        <p:spPr>
          <a:xfrm>
            <a:off x="4937760" y="3026664"/>
            <a:ext cx="3611880" cy="365760"/>
          </a:xfrm>
          <a:prstGeom prst="rect">
            <a:avLst/>
          </a:prstGeom>
          <a:noFill/>
          <a:ln/>
        </p:spPr>
        <p:txBody>
          <a:bodyPr wrap="square" lIns="0" tIns="0" rIns="0" bIns="0" rtlCol="0" anchor="ctr"/>
          <a:lstStyle/>
          <a:p>
            <a:pPr indent="0" marL="0">
              <a:buNone/>
            </a:pPr>
            <a:r>
              <a:rPr lang="en-US" sz="1050" dirty="0">
                <a:solidFill>
                  <a:srgbClr val="5D564B"/>
                </a:solidFill>
                <a:latin typeface="Calibri" pitchFamily="34" charset="0"/>
                <a:ea typeface="Calibri" pitchFamily="34" charset="-122"/>
                <a:cs typeface="Calibri" pitchFamily="34" charset="-120"/>
              </a:rPr>
              <a:t>Hard cap, explicit priority order, overflow spread honestly</a:t>
            </a:r>
            <a:endParaRPr lang="en-US" sz="1050" dirty="0"/>
          </a:p>
        </p:txBody>
      </p:sp>
      <p:sp>
        <p:nvSpPr>
          <p:cNvPr id="21" name="Shape 19"/>
          <p:cNvSpPr/>
          <p:nvPr/>
        </p:nvSpPr>
        <p:spPr>
          <a:xfrm>
            <a:off x="502920" y="3456432"/>
            <a:ext cx="8138160" cy="457200"/>
          </a:xfrm>
          <a:prstGeom prst="roundRect">
            <a:avLst>
              <a:gd name="adj" fmla="val 10000"/>
            </a:avLst>
          </a:prstGeom>
          <a:solidFill>
            <a:srgbClr val="F6F1E7"/>
          </a:solidFill>
          <a:ln/>
        </p:spPr>
      </p:sp>
      <p:sp>
        <p:nvSpPr>
          <p:cNvPr id="22" name="Text 20"/>
          <p:cNvSpPr txBox="1"/>
          <p:nvPr/>
        </p:nvSpPr>
        <p:spPr>
          <a:xfrm>
            <a:off x="640080" y="3511296"/>
            <a:ext cx="1325880" cy="310896"/>
          </a:xfrm>
          <a:prstGeom prst="rect">
            <a:avLst/>
          </a:prstGeom>
          <a:noFill/>
          <a:ln/>
        </p:spPr>
        <p:txBody>
          <a:bodyPr wrap="square" lIns="0" tIns="0" rIns="0" bIns="0" rtlCol="0" anchor="ctr"/>
          <a:lstStyle/>
          <a:p>
            <a:pPr indent="0" marL="0">
              <a:buNone/>
            </a:pPr>
            <a:r>
              <a:rPr lang="en-US" sz="1150" b="1" dirty="0">
                <a:solidFill>
                  <a:srgbClr val="23201B"/>
                </a:solidFill>
                <a:latin typeface="Calibri" pitchFamily="34" charset="0"/>
                <a:ea typeface="Calibri" pitchFamily="34" charset="-122"/>
                <a:cs typeface="Calibri" pitchFamily="34" charset="-120"/>
              </a:rPr>
              <a:t>Same-day repeats</a:t>
            </a:r>
            <a:endParaRPr lang="en-US" sz="1150" dirty="0"/>
          </a:p>
        </p:txBody>
      </p:sp>
      <p:sp>
        <p:nvSpPr>
          <p:cNvPr id="23" name="Text 21"/>
          <p:cNvSpPr txBox="1"/>
          <p:nvPr/>
        </p:nvSpPr>
        <p:spPr>
          <a:xfrm>
            <a:off x="2011680" y="3511296"/>
            <a:ext cx="2834640" cy="365760"/>
          </a:xfrm>
          <a:prstGeom prst="rect">
            <a:avLst/>
          </a:prstGeom>
          <a:noFill/>
          <a:ln/>
        </p:spPr>
        <p:txBody>
          <a:bodyPr wrap="square" lIns="0" tIns="0" rIns="0" bIns="0" rtlCol="0" anchor="ctr"/>
          <a:lstStyle/>
          <a:p>
            <a:pPr indent="0" marL="0">
              <a:buNone/>
            </a:pPr>
            <a:r>
              <a:rPr lang="en-US" sz="1050" dirty="0">
                <a:solidFill>
                  <a:srgbClr val="857C6D"/>
                </a:solidFill>
                <a:latin typeface="Calibri" pitchFamily="34" charset="0"/>
                <a:ea typeface="Calibri" pitchFamily="34" charset="-122"/>
                <a:cs typeface="Calibri" pitchFamily="34" charset="-120"/>
              </a:rPr>
              <a:t>Often compound</a:t>
            </a:r>
            <a:endParaRPr lang="en-US" sz="1050" dirty="0"/>
          </a:p>
        </p:txBody>
      </p:sp>
      <p:sp>
        <p:nvSpPr>
          <p:cNvPr id="24" name="Text 22"/>
          <p:cNvSpPr txBox="1"/>
          <p:nvPr/>
        </p:nvSpPr>
        <p:spPr>
          <a:xfrm>
            <a:off x="4937760" y="3511296"/>
            <a:ext cx="3611880" cy="365760"/>
          </a:xfrm>
          <a:prstGeom prst="rect">
            <a:avLst/>
          </a:prstGeom>
          <a:noFill/>
          <a:ln/>
        </p:spPr>
        <p:txBody>
          <a:bodyPr wrap="square" lIns="0" tIns="0" rIns="0" bIns="0" rtlCol="0" anchor="ctr"/>
          <a:lstStyle/>
          <a:p>
            <a:pPr indent="0" marL="0">
              <a:buNone/>
            </a:pPr>
            <a:r>
              <a:rPr lang="en-US" sz="1050" dirty="0">
                <a:solidFill>
                  <a:srgbClr val="5D564B"/>
                </a:solidFill>
                <a:latin typeface="Calibri" pitchFamily="34" charset="0"/>
                <a:ea typeface="Calibri" pitchFamily="34" charset="-122"/>
                <a:cs typeface="Calibri" pitchFamily="34" charset="-120"/>
              </a:rPr>
              <a:t>One assessment per page per day, with undo</a:t>
            </a:r>
            <a:endParaRPr lang="en-US" sz="1050" dirty="0"/>
          </a:p>
        </p:txBody>
      </p:sp>
      <p:sp>
        <p:nvSpPr>
          <p:cNvPr id="25" name="Text 23"/>
          <p:cNvSpPr txBox="1"/>
          <p:nvPr/>
        </p:nvSpPr>
        <p:spPr>
          <a:xfrm>
            <a:off x="640080" y="3995928"/>
            <a:ext cx="1325880" cy="310896"/>
          </a:xfrm>
          <a:prstGeom prst="rect">
            <a:avLst/>
          </a:prstGeom>
          <a:noFill/>
          <a:ln/>
        </p:spPr>
        <p:txBody>
          <a:bodyPr wrap="square" lIns="0" tIns="0" rIns="0" bIns="0" rtlCol="0" anchor="ctr"/>
          <a:lstStyle/>
          <a:p>
            <a:pPr indent="0" marL="0">
              <a:buNone/>
            </a:pPr>
            <a:r>
              <a:rPr lang="en-US" sz="1150" b="1" dirty="0">
                <a:solidFill>
                  <a:srgbClr val="23201B"/>
                </a:solidFill>
                <a:latin typeface="Calibri" pitchFamily="34" charset="0"/>
                <a:ea typeface="Calibri" pitchFamily="34" charset="-122"/>
                <a:cs typeface="Calibri" pitchFamily="34" charset="-120"/>
              </a:rPr>
              <a:t>Layers</a:t>
            </a:r>
            <a:endParaRPr lang="en-US" sz="1150" dirty="0"/>
          </a:p>
        </p:txBody>
      </p:sp>
      <p:sp>
        <p:nvSpPr>
          <p:cNvPr id="26" name="Text 24"/>
          <p:cNvSpPr txBox="1"/>
          <p:nvPr/>
        </p:nvSpPr>
        <p:spPr>
          <a:xfrm>
            <a:off x="2011680" y="3995928"/>
            <a:ext cx="2834640" cy="365760"/>
          </a:xfrm>
          <a:prstGeom prst="rect">
            <a:avLst/>
          </a:prstGeom>
          <a:noFill/>
          <a:ln/>
        </p:spPr>
        <p:txBody>
          <a:bodyPr wrap="square" lIns="0" tIns="0" rIns="0" bIns="0" rtlCol="0" anchor="ctr"/>
          <a:lstStyle/>
          <a:p>
            <a:pPr indent="0" marL="0">
              <a:buNone/>
            </a:pPr>
            <a:r>
              <a:rPr lang="en-US" sz="1050" dirty="0">
                <a:solidFill>
                  <a:srgbClr val="857C6D"/>
                </a:solidFill>
                <a:latin typeface="Calibri" pitchFamily="34" charset="0"/>
                <a:ea typeface="Calibri" pitchFamily="34" charset="-122"/>
                <a:cs typeface="Calibri" pitchFamily="34" charset="-120"/>
              </a:rPr>
              <a:t>One pool</a:t>
            </a:r>
            <a:endParaRPr lang="en-US" sz="1050" dirty="0"/>
          </a:p>
        </p:txBody>
      </p:sp>
      <p:sp>
        <p:nvSpPr>
          <p:cNvPr id="27" name="Text 25"/>
          <p:cNvSpPr txBox="1"/>
          <p:nvPr/>
        </p:nvSpPr>
        <p:spPr>
          <a:xfrm>
            <a:off x="4937760" y="3995928"/>
            <a:ext cx="3611880" cy="365760"/>
          </a:xfrm>
          <a:prstGeom prst="rect">
            <a:avLst/>
          </a:prstGeom>
          <a:noFill/>
          <a:ln/>
        </p:spPr>
        <p:txBody>
          <a:bodyPr wrap="square" lIns="0" tIns="0" rIns="0" bIns="0" rtlCol="0" anchor="ctr"/>
          <a:lstStyle/>
          <a:p>
            <a:pPr indent="0" marL="0">
              <a:buNone/>
            </a:pPr>
            <a:r>
              <a:rPr lang="en-US" sz="1050" dirty="0">
                <a:solidFill>
                  <a:srgbClr val="5D564B"/>
                </a:solidFill>
                <a:latin typeface="Calibri" pitchFamily="34" charset="0"/>
                <a:ea typeface="Calibri" pitchFamily="34" charset="-122"/>
                <a:cs typeface="Calibri" pitchFamily="34" charset="-120"/>
              </a:rPr>
              <a:t>Three: sabaq, sabqi, manzil — with promotion and demotion</a:t>
            </a:r>
            <a:endParaRPr lang="en-US" sz="1050" dirty="0"/>
          </a:p>
        </p:txBody>
      </p:sp>
      <p:sp>
        <p:nvSpPr>
          <p:cNvPr id="28" name="Text 26"/>
          <p:cNvSpPr txBox="1"/>
          <p:nvPr/>
        </p:nvSpPr>
        <p:spPr>
          <a:xfrm>
            <a:off x="548640" y="4553712"/>
            <a:ext cx="8046720" cy="365760"/>
          </a:xfrm>
          <a:prstGeom prst="rect">
            <a:avLst/>
          </a:prstGeom>
          <a:noFill/>
          <a:ln/>
        </p:spPr>
        <p:txBody>
          <a:bodyPr wrap="square" lIns="0" tIns="0" rIns="0" bIns="0" rtlCol="0" anchor="ctr"/>
          <a:lstStyle/>
          <a:p>
            <a:pPr indent="0" marL="0">
              <a:buNone/>
            </a:pPr>
            <a:r>
              <a:rPr lang="en-US" sz="1050" i="1" dirty="0">
                <a:solidFill>
                  <a:srgbClr val="857C6D"/>
                </a:solidFill>
                <a:latin typeface="Calibri" pitchFamily="34" charset="0"/>
                <a:ea typeface="Calibri" pitchFamily="34" charset="-122"/>
                <a:cs typeface="Calibri" pitchFamily="34" charset="-120"/>
              </a:rPr>
              <a:t>SM-2: Woźniak &amp; Gorzelańczyk (1994). The differences all pull the same way — toward a schedule a human being can sustain and predict.</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310896"/>
            <a:ext cx="8046720" cy="237744"/>
          </a:xfrm>
          <a:prstGeom prst="rect">
            <a:avLst/>
          </a:prstGeom>
          <a:noFill/>
          <a:ln/>
        </p:spPr>
        <p:txBody>
          <a:bodyPr wrap="square" lIns="0" tIns="0" rIns="0" bIns="0" rtlCol="0" anchor="ctr"/>
          <a:lstStyle/>
          <a:p>
            <a:pPr indent="0" marL="0">
              <a:buNone/>
            </a:pPr>
            <a:r>
              <a:rPr lang="en-US" sz="1100" b="1" spc="200" kern="0" dirty="0">
                <a:solidFill>
                  <a:srgbClr val="B8860B"/>
                </a:solidFill>
                <a:latin typeface="Calibri" pitchFamily="34" charset="0"/>
                <a:ea typeface="Calibri" pitchFamily="34" charset="-122"/>
                <a:cs typeface="Calibri" pitchFamily="34" charset="-120"/>
              </a:rPr>
              <a:t>VERIFICATION</a:t>
            </a:r>
            <a:endParaRPr lang="en-US" sz="1100" dirty="0"/>
          </a:p>
        </p:txBody>
      </p:sp>
      <p:sp>
        <p:nvSpPr>
          <p:cNvPr id="3" name="Text 1"/>
          <p:cNvSpPr txBox="1"/>
          <p:nvPr/>
        </p:nvSpPr>
        <p:spPr>
          <a:xfrm>
            <a:off x="548640" y="530352"/>
            <a:ext cx="8046720" cy="603504"/>
          </a:xfrm>
          <a:prstGeom prst="rect">
            <a:avLst/>
          </a:prstGeom>
          <a:noFill/>
          <a:ln/>
        </p:spPr>
        <p:txBody>
          <a:bodyPr wrap="square" lIns="0" tIns="0" rIns="0" bIns="0" rtlCol="0" anchor="ctr"/>
          <a:lstStyle/>
          <a:p>
            <a:pPr indent="0" marL="0">
              <a:buNone/>
            </a:pPr>
            <a:r>
              <a:rPr lang="en-US" sz="2900" b="1" dirty="0">
                <a:solidFill>
                  <a:srgbClr val="1F6F5F"/>
                </a:solidFill>
                <a:latin typeface="Cambria" pitchFamily="34" charset="0"/>
                <a:ea typeface="Cambria" pitchFamily="34" charset="-122"/>
                <a:cs typeface="Cambria" pitchFamily="34" charset="-120"/>
              </a:rPr>
              <a:t>The scheduler is testable, and tested</a:t>
            </a:r>
            <a:endParaRPr lang="en-US" sz="2900" dirty="0"/>
          </a:p>
        </p:txBody>
      </p:sp>
      <p:sp>
        <p:nvSpPr>
          <p:cNvPr id="4" name="Text 2"/>
          <p:cNvSpPr txBox="1"/>
          <p:nvPr/>
        </p:nvSpPr>
        <p:spPr>
          <a:xfrm>
            <a:off x="548640" y="1152144"/>
            <a:ext cx="8046720" cy="365760"/>
          </a:xfrm>
          <a:prstGeom prst="rect">
            <a:avLst/>
          </a:prstGeom>
          <a:noFill/>
          <a:ln/>
        </p:spPr>
        <p:txBody>
          <a:bodyPr wrap="square" lIns="0" tIns="0" rIns="0" bIns="0" rtlCol="0" anchor="ctr"/>
          <a:lstStyle/>
          <a:p>
            <a:pPr indent="0" marL="0">
              <a:buNone/>
            </a:pPr>
            <a:r>
              <a:rPr lang="en-US" sz="1350" dirty="0">
                <a:solidFill>
                  <a:srgbClr val="5D564B"/>
                </a:solidFill>
                <a:latin typeface="Calibri" pitchFamily="34" charset="0"/>
                <a:ea typeface="Calibri" pitchFamily="34" charset="-122"/>
                <a:cs typeface="Calibri" pitchFamily="34" charset="-120"/>
              </a:rPr>
              <a:t>The scheduling logic is a pure module: no clock, no network, no interface. Every function takes today’s date as an argument, so any day can be simulated.</a:t>
            </a:r>
            <a:endParaRPr lang="en-US" sz="1350" dirty="0"/>
          </a:p>
        </p:txBody>
      </p:sp>
      <p:sp>
        <p:nvSpPr>
          <p:cNvPr id="5" name="Text 3"/>
          <p:cNvSpPr txBox="1"/>
          <p:nvPr/>
        </p:nvSpPr>
        <p:spPr>
          <a:xfrm>
            <a:off x="548640" y="1691640"/>
            <a:ext cx="2468880" cy="658368"/>
          </a:xfrm>
          <a:prstGeom prst="rect">
            <a:avLst/>
          </a:prstGeom>
          <a:noFill/>
          <a:ln/>
        </p:spPr>
        <p:txBody>
          <a:bodyPr wrap="square" lIns="0" tIns="0" rIns="0" bIns="0" rtlCol="0" anchor="ctr"/>
          <a:lstStyle/>
          <a:p>
            <a:pPr algn="ctr" indent="0" marL="0">
              <a:buNone/>
            </a:pPr>
            <a:r>
              <a:rPr lang="en-US" sz="4400" b="1" dirty="0">
                <a:solidFill>
                  <a:srgbClr val="1F6F5F"/>
                </a:solidFill>
                <a:latin typeface="Cambria" pitchFamily="34" charset="0"/>
                <a:ea typeface="Cambria" pitchFamily="34" charset="-122"/>
                <a:cs typeface="Cambria" pitchFamily="34" charset="-120"/>
              </a:rPr>
              <a:t>22</a:t>
            </a:r>
            <a:endParaRPr lang="en-US" sz="4400" dirty="0"/>
          </a:p>
        </p:txBody>
      </p:sp>
      <p:sp>
        <p:nvSpPr>
          <p:cNvPr id="6" name="Text 4"/>
          <p:cNvSpPr txBox="1"/>
          <p:nvPr/>
        </p:nvSpPr>
        <p:spPr>
          <a:xfrm>
            <a:off x="548640" y="2368296"/>
            <a:ext cx="2468880" cy="548640"/>
          </a:xfrm>
          <a:prstGeom prst="rect">
            <a:avLst/>
          </a:prstGeom>
          <a:noFill/>
          <a:ln/>
        </p:spPr>
        <p:txBody>
          <a:bodyPr wrap="square" lIns="0" tIns="0" rIns="0" bIns="0" rtlCol="0" anchor="ctr"/>
          <a:lstStyle/>
          <a:p>
            <a:pPr algn="ctr" indent="0" marL="0">
              <a:lnSpc>
                <a:spcPct val="110000"/>
              </a:lnSpc>
              <a:buNone/>
            </a:pPr>
            <a:r>
              <a:rPr lang="en-US" sz="1150" dirty="0">
                <a:solidFill>
                  <a:srgbClr val="5D564B"/>
                </a:solidFill>
                <a:latin typeface="Calibri" pitchFamily="34" charset="0"/>
                <a:ea typeface="Calibri" pitchFamily="34" charset="-122"/>
                <a:cs typeface="Calibri" pitchFamily="34" charset="-120"/>
              </a:rPr>
              <a:t>scheduler self-tests, runnable from inside the app</a:t>
            </a:r>
            <a:endParaRPr lang="en-US" sz="1150" dirty="0"/>
          </a:p>
        </p:txBody>
      </p:sp>
      <p:sp>
        <p:nvSpPr>
          <p:cNvPr id="7" name="Text 5"/>
          <p:cNvSpPr txBox="1"/>
          <p:nvPr/>
        </p:nvSpPr>
        <p:spPr>
          <a:xfrm>
            <a:off x="3337560" y="1691640"/>
            <a:ext cx="2468880" cy="658368"/>
          </a:xfrm>
          <a:prstGeom prst="rect">
            <a:avLst/>
          </a:prstGeom>
          <a:noFill/>
          <a:ln/>
        </p:spPr>
        <p:txBody>
          <a:bodyPr wrap="square" lIns="0" tIns="0" rIns="0" bIns="0" rtlCol="0" anchor="ctr"/>
          <a:lstStyle/>
          <a:p>
            <a:pPr algn="ctr" indent="0" marL="0">
              <a:buNone/>
            </a:pPr>
            <a:r>
              <a:rPr lang="en-US" sz="4400" b="1" dirty="0">
                <a:solidFill>
                  <a:srgbClr val="1F6F5F"/>
                </a:solidFill>
                <a:latin typeface="Cambria" pitchFamily="34" charset="0"/>
                <a:ea typeface="Cambria" pitchFamily="34" charset="-122"/>
                <a:cs typeface="Cambria" pitchFamily="34" charset="-120"/>
              </a:rPr>
              <a:t>49</a:t>
            </a:r>
            <a:endParaRPr lang="en-US" sz="4400" dirty="0"/>
          </a:p>
        </p:txBody>
      </p:sp>
      <p:sp>
        <p:nvSpPr>
          <p:cNvPr id="8" name="Text 6"/>
          <p:cNvSpPr txBox="1"/>
          <p:nvPr/>
        </p:nvSpPr>
        <p:spPr>
          <a:xfrm>
            <a:off x="3337560" y="2368296"/>
            <a:ext cx="2468880" cy="548640"/>
          </a:xfrm>
          <a:prstGeom prst="rect">
            <a:avLst/>
          </a:prstGeom>
          <a:noFill/>
          <a:ln/>
        </p:spPr>
        <p:txBody>
          <a:bodyPr wrap="square" lIns="0" tIns="0" rIns="0" bIns="0" rtlCol="0" anchor="ctr"/>
          <a:lstStyle/>
          <a:p>
            <a:pPr algn="ctr" indent="0" marL="0">
              <a:lnSpc>
                <a:spcPct val="110000"/>
              </a:lnSpc>
              <a:buNone/>
            </a:pPr>
            <a:r>
              <a:rPr lang="en-US" sz="1150" dirty="0">
                <a:solidFill>
                  <a:srgbClr val="5D564B"/>
                </a:solidFill>
                <a:latin typeface="Calibri" pitchFamily="34" charset="0"/>
                <a:ea typeface="Calibri" pitchFamily="34" charset="-122"/>
                <a:cs typeface="Calibri" pitchFamily="34" charset="-120"/>
              </a:rPr>
              <a:t>browser test suites over the whole application</a:t>
            </a:r>
            <a:endParaRPr lang="en-US" sz="1150" dirty="0"/>
          </a:p>
        </p:txBody>
      </p:sp>
      <p:sp>
        <p:nvSpPr>
          <p:cNvPr id="9" name="Text 7"/>
          <p:cNvSpPr txBox="1"/>
          <p:nvPr/>
        </p:nvSpPr>
        <p:spPr>
          <a:xfrm>
            <a:off x="6126480" y="1691640"/>
            <a:ext cx="2468880" cy="658368"/>
          </a:xfrm>
          <a:prstGeom prst="rect">
            <a:avLst/>
          </a:prstGeom>
          <a:noFill/>
          <a:ln/>
        </p:spPr>
        <p:txBody>
          <a:bodyPr wrap="square" lIns="0" tIns="0" rIns="0" bIns="0" rtlCol="0" anchor="ctr"/>
          <a:lstStyle/>
          <a:p>
            <a:pPr algn="ctr" indent="0" marL="0">
              <a:buNone/>
            </a:pPr>
            <a:r>
              <a:rPr lang="en-US" sz="4400" b="1" dirty="0">
                <a:solidFill>
                  <a:srgbClr val="1F6F5F"/>
                </a:solidFill>
                <a:latin typeface="Cambria" pitchFamily="34" charset="0"/>
                <a:ea typeface="Cambria" pitchFamily="34" charset="-122"/>
                <a:cs typeface="Cambria" pitchFamily="34" charset="-120"/>
              </a:rPr>
              <a:t>0</a:t>
            </a:r>
            <a:endParaRPr lang="en-US" sz="4400" dirty="0"/>
          </a:p>
        </p:txBody>
      </p:sp>
      <p:sp>
        <p:nvSpPr>
          <p:cNvPr id="10" name="Text 8"/>
          <p:cNvSpPr txBox="1"/>
          <p:nvPr/>
        </p:nvSpPr>
        <p:spPr>
          <a:xfrm>
            <a:off x="6126480" y="2368296"/>
            <a:ext cx="2468880" cy="548640"/>
          </a:xfrm>
          <a:prstGeom prst="rect">
            <a:avLst/>
          </a:prstGeom>
          <a:noFill/>
          <a:ln/>
        </p:spPr>
        <p:txBody>
          <a:bodyPr wrap="square" lIns="0" tIns="0" rIns="0" bIns="0" rtlCol="0" anchor="ctr"/>
          <a:lstStyle/>
          <a:p>
            <a:pPr algn="ctr" indent="0" marL="0">
              <a:lnSpc>
                <a:spcPct val="110000"/>
              </a:lnSpc>
              <a:buNone/>
            </a:pPr>
            <a:r>
              <a:rPr lang="en-US" sz="1150" dirty="0">
                <a:solidFill>
                  <a:srgbClr val="5D564B"/>
                </a:solidFill>
                <a:latin typeface="Calibri" pitchFamily="34" charset="0"/>
                <a:ea typeface="Calibri" pitchFamily="34" charset="-122"/>
                <a:cs typeface="Calibri" pitchFamily="34" charset="-120"/>
              </a:rPr>
              <a:t>external services required for any of it</a:t>
            </a:r>
            <a:endParaRPr lang="en-US" sz="1150" dirty="0"/>
          </a:p>
        </p:txBody>
      </p:sp>
      <p:sp>
        <p:nvSpPr>
          <p:cNvPr id="11" name="Shape 9"/>
          <p:cNvSpPr/>
          <p:nvPr/>
        </p:nvSpPr>
        <p:spPr>
          <a:xfrm>
            <a:off x="548640" y="3108960"/>
            <a:ext cx="3931920" cy="1298448"/>
          </a:xfrm>
          <a:prstGeom prst="roundRect">
            <a:avLst>
              <a:gd name="adj" fmla="val 5634"/>
            </a:avLst>
          </a:prstGeom>
          <a:solidFill>
            <a:srgbClr val="F6F1E7"/>
          </a:solidFill>
          <a:ln w="12700">
            <a:solidFill>
              <a:srgbClr val="E2D9C8"/>
            </a:solidFill>
            <a:prstDash val="solid"/>
          </a:ln>
        </p:spPr>
      </p:sp>
      <p:sp>
        <p:nvSpPr>
          <p:cNvPr id="12" name="Text 10"/>
          <p:cNvSpPr txBox="1"/>
          <p:nvPr/>
        </p:nvSpPr>
        <p:spPr>
          <a:xfrm>
            <a:off x="786384" y="3328416"/>
            <a:ext cx="3474720" cy="310896"/>
          </a:xfrm>
          <a:prstGeom prst="rect">
            <a:avLst/>
          </a:prstGeom>
          <a:noFill/>
          <a:ln/>
        </p:spPr>
        <p:txBody>
          <a:bodyPr wrap="square" lIns="0" tIns="0" rIns="0" bIns="0" rtlCol="0" anchor="ctr"/>
          <a:lstStyle/>
          <a:p>
            <a:pPr indent="0" marL="0">
              <a:buNone/>
            </a:pPr>
            <a:r>
              <a:rPr lang="en-US" sz="1500" b="1" dirty="0">
                <a:solidFill>
                  <a:srgbClr val="1F6F5F"/>
                </a:solidFill>
                <a:latin typeface="Cambria" pitchFamily="34" charset="0"/>
                <a:ea typeface="Cambria" pitchFamily="34" charset="-122"/>
                <a:cs typeface="Cambria" pitchFamily="34" charset="-120"/>
              </a:rPr>
              <a:t>What the self-tests assert</a:t>
            </a:r>
            <a:endParaRPr lang="en-US" sz="1500" dirty="0"/>
          </a:p>
        </p:txBody>
      </p:sp>
      <p:sp>
        <p:nvSpPr>
          <p:cNvPr id="13" name="Text 11"/>
          <p:cNvSpPr txBox="1"/>
          <p:nvPr/>
        </p:nvSpPr>
        <p:spPr>
          <a:xfrm>
            <a:off x="786384" y="3712464"/>
            <a:ext cx="3456432" cy="475488"/>
          </a:xfrm>
          <a:prstGeom prst="rect">
            <a:avLst/>
          </a:prstGeom>
          <a:noFill/>
          <a:ln/>
        </p:spPr>
        <p:txBody>
          <a:bodyPr wrap="square" lIns="0" tIns="0" rIns="0" bIns="0" rtlCol="0" anchor="t"/>
          <a:lstStyle/>
          <a:p>
            <a:pPr indent="0" marL="0">
              <a:lnSpc>
                <a:spcPct val="112000"/>
              </a:lnSpc>
              <a:buNone/>
            </a:pPr>
            <a:r>
              <a:rPr lang="en-US" sz="1150" dirty="0">
                <a:solidFill>
                  <a:srgbClr val="5D564B"/>
                </a:solidFill>
                <a:latin typeface="Calibri" pitchFamily="34" charset="0"/>
                <a:ea typeface="Calibri" pitchFamily="34" charset="-122"/>
                <a:cs typeface="Calibri" pitchFamily="34" charset="-120"/>
              </a:rPr>
              <a:t>That five consecutive 5s produce exactly 3, 7, 14, 30; that a 1 resets to one day and flags weak; that the flag clears only after two good recitations; that a 3 repeats the interval; that the cap holds.</a:t>
            </a:r>
            <a:endParaRPr lang="en-US" sz="1150" dirty="0"/>
          </a:p>
        </p:txBody>
      </p:sp>
      <p:sp>
        <p:nvSpPr>
          <p:cNvPr id="14" name="Shape 12"/>
          <p:cNvSpPr/>
          <p:nvPr/>
        </p:nvSpPr>
        <p:spPr>
          <a:xfrm>
            <a:off x="4663440" y="3108960"/>
            <a:ext cx="3931920" cy="1298448"/>
          </a:xfrm>
          <a:prstGeom prst="roundRect">
            <a:avLst>
              <a:gd name="adj" fmla="val 5634"/>
            </a:avLst>
          </a:prstGeom>
          <a:solidFill>
            <a:srgbClr val="F6F1E7"/>
          </a:solidFill>
          <a:ln w="12700">
            <a:solidFill>
              <a:srgbClr val="E2D9C8"/>
            </a:solidFill>
            <a:prstDash val="solid"/>
          </a:ln>
        </p:spPr>
      </p:sp>
      <p:sp>
        <p:nvSpPr>
          <p:cNvPr id="15" name="Text 13"/>
          <p:cNvSpPr txBox="1"/>
          <p:nvPr/>
        </p:nvSpPr>
        <p:spPr>
          <a:xfrm>
            <a:off x="4901184" y="3328416"/>
            <a:ext cx="3474720" cy="310896"/>
          </a:xfrm>
          <a:prstGeom prst="rect">
            <a:avLst/>
          </a:prstGeom>
          <a:noFill/>
          <a:ln/>
        </p:spPr>
        <p:txBody>
          <a:bodyPr wrap="square" lIns="0" tIns="0" rIns="0" bIns="0" rtlCol="0" anchor="ctr"/>
          <a:lstStyle/>
          <a:p>
            <a:pPr indent="0" marL="0">
              <a:buNone/>
            </a:pPr>
            <a:r>
              <a:rPr lang="en-US" sz="1500" b="1" dirty="0">
                <a:solidFill>
                  <a:srgbClr val="2B5F9E"/>
                </a:solidFill>
                <a:latin typeface="Cambria" pitchFamily="34" charset="0"/>
                <a:ea typeface="Cambria" pitchFamily="34" charset="-122"/>
                <a:cs typeface="Cambria" pitchFamily="34" charset="-120"/>
              </a:rPr>
              <a:t>Why it is written this way</a:t>
            </a:r>
            <a:endParaRPr lang="en-US" sz="1500" dirty="0"/>
          </a:p>
        </p:txBody>
      </p:sp>
      <p:sp>
        <p:nvSpPr>
          <p:cNvPr id="16" name="Text 14"/>
          <p:cNvSpPr txBox="1"/>
          <p:nvPr/>
        </p:nvSpPr>
        <p:spPr>
          <a:xfrm>
            <a:off x="4901184" y="3712464"/>
            <a:ext cx="3456432" cy="475488"/>
          </a:xfrm>
          <a:prstGeom prst="rect">
            <a:avLst/>
          </a:prstGeom>
          <a:noFill/>
          <a:ln/>
        </p:spPr>
        <p:txBody>
          <a:bodyPr wrap="square" lIns="0" tIns="0" rIns="0" bIns="0" rtlCol="0" anchor="t"/>
          <a:lstStyle/>
          <a:p>
            <a:pPr indent="0" marL="0">
              <a:lnSpc>
                <a:spcPct val="112000"/>
              </a:lnSpc>
              <a:buNone/>
            </a:pPr>
            <a:r>
              <a:rPr lang="en-US" sz="1150" dirty="0">
                <a:solidFill>
                  <a:srgbClr val="5D564B"/>
                </a:solidFill>
                <a:latin typeface="Calibri" pitchFamily="34" charset="0"/>
                <a:ea typeface="Calibri" pitchFamily="34" charset="-122"/>
                <a:cs typeface="Calibri" pitchFamily="34" charset="-120"/>
              </a:rPr>
              <a:t>Because a learner’s years of work are in this arithmetic. A scheduler that cannot be re-run over a simulated decade, in a second, cannot honestly be trusted with it.</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310896"/>
            <a:ext cx="8046720" cy="237744"/>
          </a:xfrm>
          <a:prstGeom prst="rect">
            <a:avLst/>
          </a:prstGeom>
          <a:noFill/>
          <a:ln/>
        </p:spPr>
        <p:txBody>
          <a:bodyPr wrap="square" lIns="0" tIns="0" rIns="0" bIns="0" rtlCol="0" anchor="ctr"/>
          <a:lstStyle/>
          <a:p>
            <a:pPr indent="0" marL="0">
              <a:buNone/>
            </a:pPr>
            <a:r>
              <a:rPr lang="en-US" sz="1100" b="1" spc="200" kern="0" dirty="0">
                <a:solidFill>
                  <a:srgbClr val="B8860B"/>
                </a:solidFill>
                <a:latin typeface="Calibri" pitchFamily="34" charset="0"/>
                <a:ea typeface="Calibri" pitchFamily="34" charset="-122"/>
                <a:cs typeface="Calibri" pitchFamily="34" charset="-120"/>
              </a:rPr>
              <a:t>HONESTY</a:t>
            </a:r>
            <a:endParaRPr lang="en-US" sz="1100" dirty="0"/>
          </a:p>
        </p:txBody>
      </p:sp>
      <p:sp>
        <p:nvSpPr>
          <p:cNvPr id="3" name="Text 1"/>
          <p:cNvSpPr txBox="1"/>
          <p:nvPr/>
        </p:nvSpPr>
        <p:spPr>
          <a:xfrm>
            <a:off x="548640" y="530352"/>
            <a:ext cx="8046720" cy="603504"/>
          </a:xfrm>
          <a:prstGeom prst="rect">
            <a:avLst/>
          </a:prstGeom>
          <a:noFill/>
          <a:ln/>
        </p:spPr>
        <p:txBody>
          <a:bodyPr wrap="square" lIns="0" tIns="0" rIns="0" bIns="0" rtlCol="0" anchor="ctr"/>
          <a:lstStyle/>
          <a:p>
            <a:pPr indent="0" marL="0">
              <a:buNone/>
            </a:pPr>
            <a:r>
              <a:rPr lang="en-US" sz="2900" b="1" dirty="0">
                <a:solidFill>
                  <a:srgbClr val="1F6F5F"/>
                </a:solidFill>
                <a:latin typeface="Cambria" pitchFamily="34" charset="0"/>
                <a:ea typeface="Cambria" pitchFamily="34" charset="-122"/>
                <a:cs typeface="Cambria" pitchFamily="34" charset="-120"/>
              </a:rPr>
              <a:t>What this app does not claim</a:t>
            </a:r>
            <a:endParaRPr lang="en-US" sz="2900" dirty="0"/>
          </a:p>
        </p:txBody>
      </p:sp>
      <p:sp>
        <p:nvSpPr>
          <p:cNvPr id="4" name="Shape 2"/>
          <p:cNvSpPr/>
          <p:nvPr/>
        </p:nvSpPr>
        <p:spPr>
          <a:xfrm>
            <a:off x="548640" y="1188720"/>
            <a:ext cx="8046720" cy="768096"/>
          </a:xfrm>
          <a:prstGeom prst="roundRect">
            <a:avLst>
              <a:gd name="adj" fmla="val 7143"/>
            </a:avLst>
          </a:prstGeom>
          <a:solidFill>
            <a:srgbClr val="FFFFFF"/>
          </a:solidFill>
          <a:ln w="12700">
            <a:solidFill>
              <a:srgbClr val="E2D9C8"/>
            </a:solidFill>
            <a:prstDash val="solid"/>
          </a:ln>
        </p:spPr>
      </p:sp>
      <p:sp>
        <p:nvSpPr>
          <p:cNvPr id="5" name="Shape 3"/>
          <p:cNvSpPr/>
          <p:nvPr/>
        </p:nvSpPr>
        <p:spPr>
          <a:xfrm>
            <a:off x="749808" y="1408176"/>
            <a:ext cx="310896" cy="310896"/>
          </a:xfrm>
          <a:prstGeom prst="ellipse">
            <a:avLst/>
          </a:prstGeom>
          <a:solidFill>
            <a:srgbClr val="C0392B"/>
          </a:solidFill>
          <a:ln/>
        </p:spPr>
      </p:sp>
      <p:sp>
        <p:nvSpPr>
          <p:cNvPr id="6" name="Text 4"/>
          <p:cNvSpPr txBox="1"/>
          <p:nvPr/>
        </p:nvSpPr>
        <p:spPr>
          <a:xfrm>
            <a:off x="749808" y="1453896"/>
            <a:ext cx="310896" cy="23774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7" name="Text 5"/>
          <p:cNvSpPr txBox="1"/>
          <p:nvPr/>
        </p:nvSpPr>
        <p:spPr>
          <a:xfrm>
            <a:off x="1188720" y="1298448"/>
            <a:ext cx="7315200" cy="274320"/>
          </a:xfrm>
          <a:prstGeom prst="rect">
            <a:avLst/>
          </a:prstGeom>
          <a:noFill/>
          <a:ln/>
        </p:spPr>
        <p:txBody>
          <a:bodyPr wrap="square" lIns="0" tIns="0" rIns="0" bIns="0" rtlCol="0" anchor="ctr"/>
          <a:lstStyle/>
          <a:p>
            <a:pPr indent="0" marL="0">
              <a:buNone/>
            </a:pPr>
            <a:r>
              <a:rPr lang="en-US" sz="1250" b="1" dirty="0">
                <a:solidFill>
                  <a:srgbClr val="23201B"/>
                </a:solidFill>
                <a:latin typeface="Calibri" pitchFamily="34" charset="0"/>
                <a:ea typeface="Calibri" pitchFamily="34" charset="-122"/>
                <a:cs typeface="Calibri" pitchFamily="34" charset="-120"/>
              </a:rPr>
              <a:t>No efficacy trial of this app</a:t>
            </a:r>
            <a:endParaRPr lang="en-US" sz="1250" dirty="0"/>
          </a:p>
        </p:txBody>
      </p:sp>
      <p:sp>
        <p:nvSpPr>
          <p:cNvPr id="8" name="Text 6"/>
          <p:cNvSpPr txBox="1"/>
          <p:nvPr/>
        </p:nvSpPr>
        <p:spPr>
          <a:xfrm>
            <a:off x="1188720" y="1572768"/>
            <a:ext cx="7315200" cy="347472"/>
          </a:xfrm>
          <a:prstGeom prst="rect">
            <a:avLst/>
          </a:prstGeom>
          <a:noFill/>
          <a:ln/>
        </p:spPr>
        <p:txBody>
          <a:bodyPr wrap="square" lIns="0" tIns="0" rIns="0" bIns="0" rtlCol="0" anchor="ctr"/>
          <a:lstStyle/>
          <a:p>
            <a:pPr indent="0" marL="0">
              <a:lnSpc>
                <a:spcPct val="105000"/>
              </a:lnSpc>
              <a:buNone/>
            </a:pPr>
            <a:r>
              <a:rPr lang="en-US" sz="1050" dirty="0">
                <a:solidFill>
                  <a:srgbClr val="5D564B"/>
                </a:solidFill>
                <a:latin typeface="Calibri" pitchFamily="34" charset="0"/>
                <a:ea typeface="Calibri" pitchFamily="34" charset="-122"/>
                <a:cs typeface="Calibri" pitchFamily="34" charset="-120"/>
              </a:rPr>
              <a:t>The design rests on published research about memory in general. The app itself has not been tested in a controlled study against any other method of ḥifẓ, and no such claim is made anywhere in it.</a:t>
            </a:r>
            <a:endParaRPr lang="en-US" sz="1050" dirty="0"/>
          </a:p>
        </p:txBody>
      </p:sp>
      <p:sp>
        <p:nvSpPr>
          <p:cNvPr id="9" name="Shape 7"/>
          <p:cNvSpPr/>
          <p:nvPr/>
        </p:nvSpPr>
        <p:spPr>
          <a:xfrm>
            <a:off x="548640" y="2039112"/>
            <a:ext cx="8046720" cy="768096"/>
          </a:xfrm>
          <a:prstGeom prst="roundRect">
            <a:avLst>
              <a:gd name="adj" fmla="val 7143"/>
            </a:avLst>
          </a:prstGeom>
          <a:solidFill>
            <a:srgbClr val="FFFFFF"/>
          </a:solidFill>
          <a:ln w="12700">
            <a:solidFill>
              <a:srgbClr val="E2D9C8"/>
            </a:solidFill>
            <a:prstDash val="solid"/>
          </a:ln>
        </p:spPr>
      </p:sp>
      <p:sp>
        <p:nvSpPr>
          <p:cNvPr id="10" name="Shape 8"/>
          <p:cNvSpPr/>
          <p:nvPr/>
        </p:nvSpPr>
        <p:spPr>
          <a:xfrm>
            <a:off x="749808" y="2258568"/>
            <a:ext cx="310896" cy="310896"/>
          </a:xfrm>
          <a:prstGeom prst="ellipse">
            <a:avLst/>
          </a:prstGeom>
          <a:solidFill>
            <a:srgbClr val="B8860B"/>
          </a:solidFill>
          <a:ln/>
        </p:spPr>
      </p:sp>
      <p:sp>
        <p:nvSpPr>
          <p:cNvPr id="11" name="Text 9"/>
          <p:cNvSpPr txBox="1"/>
          <p:nvPr/>
        </p:nvSpPr>
        <p:spPr>
          <a:xfrm>
            <a:off x="749808" y="2304288"/>
            <a:ext cx="310896" cy="23774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2" name="Text 10"/>
          <p:cNvSpPr txBox="1"/>
          <p:nvPr/>
        </p:nvSpPr>
        <p:spPr>
          <a:xfrm>
            <a:off x="1188720" y="2148840"/>
            <a:ext cx="7315200" cy="274320"/>
          </a:xfrm>
          <a:prstGeom prst="rect">
            <a:avLst/>
          </a:prstGeom>
          <a:noFill/>
          <a:ln/>
        </p:spPr>
        <p:txBody>
          <a:bodyPr wrap="square" lIns="0" tIns="0" rIns="0" bIns="0" rtlCol="0" anchor="ctr"/>
          <a:lstStyle/>
          <a:p>
            <a:pPr indent="0" marL="0">
              <a:buNone/>
            </a:pPr>
            <a:r>
              <a:rPr lang="en-US" sz="1250" b="1" dirty="0">
                <a:solidFill>
                  <a:srgbClr val="23201B"/>
                </a:solidFill>
                <a:latin typeface="Calibri" pitchFamily="34" charset="0"/>
                <a:ea typeface="Calibri" pitchFamily="34" charset="-122"/>
                <a:cs typeface="Calibri" pitchFamily="34" charset="-120"/>
              </a:rPr>
              <a:t>The spacing evidence is general, not Qur’anic</a:t>
            </a:r>
            <a:endParaRPr lang="en-US" sz="1250" dirty="0"/>
          </a:p>
        </p:txBody>
      </p:sp>
      <p:sp>
        <p:nvSpPr>
          <p:cNvPr id="13" name="Text 11"/>
          <p:cNvSpPr txBox="1"/>
          <p:nvPr/>
        </p:nvSpPr>
        <p:spPr>
          <a:xfrm>
            <a:off x="1188720" y="2423160"/>
            <a:ext cx="7315200" cy="347472"/>
          </a:xfrm>
          <a:prstGeom prst="rect">
            <a:avLst/>
          </a:prstGeom>
          <a:noFill/>
          <a:ln/>
        </p:spPr>
        <p:txBody>
          <a:bodyPr wrap="square" lIns="0" tIns="0" rIns="0" bIns="0" rtlCol="0" anchor="ctr"/>
          <a:lstStyle/>
          <a:p>
            <a:pPr indent="0" marL="0">
              <a:lnSpc>
                <a:spcPct val="105000"/>
              </a:lnSpc>
              <a:buNone/>
            </a:pPr>
            <a:r>
              <a:rPr lang="en-US" sz="1050" dirty="0">
                <a:solidFill>
                  <a:srgbClr val="5D564B"/>
                </a:solidFill>
                <a:latin typeface="Calibri" pitchFamily="34" charset="0"/>
                <a:ea typeface="Calibri" pitchFamily="34" charset="-122"/>
                <a:cs typeface="Calibri" pitchFamily="34" charset="-120"/>
              </a:rPr>
              <a:t>The studies cited used word pairs, passages, facts and faces — not memorisation of a sacred text recited aloud in a fixed rhythm. The principles are well established; their exact quantities are not transferable.</a:t>
            </a:r>
            <a:endParaRPr lang="en-US" sz="1050" dirty="0"/>
          </a:p>
        </p:txBody>
      </p:sp>
      <p:sp>
        <p:nvSpPr>
          <p:cNvPr id="14" name="Shape 12"/>
          <p:cNvSpPr/>
          <p:nvPr/>
        </p:nvSpPr>
        <p:spPr>
          <a:xfrm>
            <a:off x="548640" y="2889504"/>
            <a:ext cx="8046720" cy="768096"/>
          </a:xfrm>
          <a:prstGeom prst="roundRect">
            <a:avLst>
              <a:gd name="adj" fmla="val 7143"/>
            </a:avLst>
          </a:prstGeom>
          <a:solidFill>
            <a:srgbClr val="FFFFFF"/>
          </a:solidFill>
          <a:ln w="12700">
            <a:solidFill>
              <a:srgbClr val="E2D9C8"/>
            </a:solidFill>
            <a:prstDash val="solid"/>
          </a:ln>
        </p:spPr>
      </p:sp>
      <p:sp>
        <p:nvSpPr>
          <p:cNvPr id="15" name="Shape 13"/>
          <p:cNvSpPr/>
          <p:nvPr/>
        </p:nvSpPr>
        <p:spPr>
          <a:xfrm>
            <a:off x="749808" y="3108960"/>
            <a:ext cx="310896" cy="310896"/>
          </a:xfrm>
          <a:prstGeom prst="ellipse">
            <a:avLst/>
          </a:prstGeom>
          <a:solidFill>
            <a:srgbClr val="B8860B"/>
          </a:solidFill>
          <a:ln/>
        </p:spPr>
      </p:sp>
      <p:sp>
        <p:nvSpPr>
          <p:cNvPr id="16" name="Text 14"/>
          <p:cNvSpPr txBox="1"/>
          <p:nvPr/>
        </p:nvSpPr>
        <p:spPr>
          <a:xfrm>
            <a:off x="749808" y="3154680"/>
            <a:ext cx="310896" cy="23774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7" name="Text 15"/>
          <p:cNvSpPr txBox="1"/>
          <p:nvPr/>
        </p:nvSpPr>
        <p:spPr>
          <a:xfrm>
            <a:off x="1188720" y="2999232"/>
            <a:ext cx="7315200" cy="274320"/>
          </a:xfrm>
          <a:prstGeom prst="rect">
            <a:avLst/>
          </a:prstGeom>
          <a:noFill/>
          <a:ln/>
        </p:spPr>
        <p:txBody>
          <a:bodyPr wrap="square" lIns="0" tIns="0" rIns="0" bIns="0" rtlCol="0" anchor="ctr"/>
          <a:lstStyle/>
          <a:p>
            <a:pPr indent="0" marL="0">
              <a:buNone/>
            </a:pPr>
            <a:r>
              <a:rPr lang="en-US" sz="1250" b="1" dirty="0">
                <a:solidFill>
                  <a:srgbClr val="23201B"/>
                </a:solidFill>
                <a:latin typeface="Calibri" pitchFamily="34" charset="0"/>
                <a:ea typeface="Calibri" pitchFamily="34" charset="-122"/>
                <a:cs typeface="Calibri" pitchFamily="34" charset="-120"/>
              </a:rPr>
              <a:t>The intervals are a reasoned choice, not a proof</a:t>
            </a:r>
            <a:endParaRPr lang="en-US" sz="1250" dirty="0"/>
          </a:p>
        </p:txBody>
      </p:sp>
      <p:sp>
        <p:nvSpPr>
          <p:cNvPr id="18" name="Text 16"/>
          <p:cNvSpPr txBox="1"/>
          <p:nvPr/>
        </p:nvSpPr>
        <p:spPr>
          <a:xfrm>
            <a:off x="1188720" y="3273552"/>
            <a:ext cx="7315200" cy="347472"/>
          </a:xfrm>
          <a:prstGeom prst="rect">
            <a:avLst/>
          </a:prstGeom>
          <a:noFill/>
          <a:ln/>
        </p:spPr>
        <p:txBody>
          <a:bodyPr wrap="square" lIns="0" tIns="0" rIns="0" bIns="0" rtlCol="0" anchor="ctr"/>
          <a:lstStyle/>
          <a:p>
            <a:pPr indent="0" marL="0">
              <a:lnSpc>
                <a:spcPct val="105000"/>
              </a:lnSpc>
              <a:buNone/>
            </a:pPr>
            <a:r>
              <a:rPr lang="en-US" sz="1050" dirty="0">
                <a:solidFill>
                  <a:srgbClr val="5D564B"/>
                </a:solidFill>
                <a:latin typeface="Calibri" pitchFamily="34" charset="0"/>
                <a:ea typeface="Calibri" pitchFamily="34" charset="-122"/>
                <a:cs typeface="Calibri" pitchFamily="34" charset="-120"/>
              </a:rPr>
              <a:t>1-3-7-14-30 is defensible and consistent with the literature. It is not derived from an optimisation, and other schedules would also be defensible.</a:t>
            </a:r>
            <a:endParaRPr lang="en-US" sz="1050" dirty="0"/>
          </a:p>
        </p:txBody>
      </p:sp>
      <p:sp>
        <p:nvSpPr>
          <p:cNvPr id="19" name="Shape 17"/>
          <p:cNvSpPr/>
          <p:nvPr/>
        </p:nvSpPr>
        <p:spPr>
          <a:xfrm>
            <a:off x="548640" y="3739896"/>
            <a:ext cx="8046720" cy="768096"/>
          </a:xfrm>
          <a:prstGeom prst="roundRect">
            <a:avLst>
              <a:gd name="adj" fmla="val 7143"/>
            </a:avLst>
          </a:prstGeom>
          <a:solidFill>
            <a:srgbClr val="FFFFFF"/>
          </a:solidFill>
          <a:ln w="12700">
            <a:solidFill>
              <a:srgbClr val="E2D9C8"/>
            </a:solidFill>
            <a:prstDash val="solid"/>
          </a:ln>
        </p:spPr>
      </p:sp>
      <p:sp>
        <p:nvSpPr>
          <p:cNvPr id="20" name="Shape 18"/>
          <p:cNvSpPr/>
          <p:nvPr/>
        </p:nvSpPr>
        <p:spPr>
          <a:xfrm>
            <a:off x="749808" y="3959352"/>
            <a:ext cx="310896" cy="310896"/>
          </a:xfrm>
          <a:prstGeom prst="ellipse">
            <a:avLst/>
          </a:prstGeom>
          <a:solidFill>
            <a:srgbClr val="2B5F9E"/>
          </a:solidFill>
          <a:ln/>
        </p:spPr>
      </p:sp>
      <p:sp>
        <p:nvSpPr>
          <p:cNvPr id="21" name="Text 19"/>
          <p:cNvSpPr txBox="1"/>
          <p:nvPr/>
        </p:nvSpPr>
        <p:spPr>
          <a:xfrm>
            <a:off x="749808" y="4005072"/>
            <a:ext cx="310896" cy="23774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2" name="Text 20"/>
          <p:cNvSpPr txBox="1"/>
          <p:nvPr/>
        </p:nvSpPr>
        <p:spPr>
          <a:xfrm>
            <a:off x="1188720" y="3849624"/>
            <a:ext cx="7315200" cy="274320"/>
          </a:xfrm>
          <a:prstGeom prst="rect">
            <a:avLst/>
          </a:prstGeom>
          <a:noFill/>
          <a:ln/>
        </p:spPr>
        <p:txBody>
          <a:bodyPr wrap="square" lIns="0" tIns="0" rIns="0" bIns="0" rtlCol="0" anchor="ctr"/>
          <a:lstStyle/>
          <a:p>
            <a:pPr indent="0" marL="0">
              <a:buNone/>
            </a:pPr>
            <a:r>
              <a:rPr lang="en-US" sz="1250" b="1" dirty="0">
                <a:solidFill>
                  <a:srgbClr val="23201B"/>
                </a:solidFill>
                <a:latin typeface="Calibri" pitchFamily="34" charset="0"/>
                <a:ea typeface="Calibri" pitchFamily="34" charset="-122"/>
                <a:cs typeface="Calibri" pitchFamily="34" charset="-120"/>
              </a:rPr>
              <a:t>It does not replace a teacher</a:t>
            </a:r>
            <a:endParaRPr lang="en-US" sz="1250" dirty="0"/>
          </a:p>
        </p:txBody>
      </p:sp>
      <p:sp>
        <p:nvSpPr>
          <p:cNvPr id="23" name="Text 21"/>
          <p:cNvSpPr txBox="1"/>
          <p:nvPr/>
        </p:nvSpPr>
        <p:spPr>
          <a:xfrm>
            <a:off x="1188720" y="4123944"/>
            <a:ext cx="7315200" cy="347472"/>
          </a:xfrm>
          <a:prstGeom prst="rect">
            <a:avLst/>
          </a:prstGeom>
          <a:noFill/>
          <a:ln/>
        </p:spPr>
        <p:txBody>
          <a:bodyPr wrap="square" lIns="0" tIns="0" rIns="0" bIns="0" rtlCol="0" anchor="ctr"/>
          <a:lstStyle/>
          <a:p>
            <a:pPr indent="0" marL="0">
              <a:lnSpc>
                <a:spcPct val="105000"/>
              </a:lnSpc>
              <a:buNone/>
            </a:pPr>
            <a:r>
              <a:rPr lang="en-US" sz="1050" dirty="0">
                <a:solidFill>
                  <a:srgbClr val="5D564B"/>
                </a:solidFill>
                <a:latin typeface="Calibri" pitchFamily="34" charset="0"/>
                <a:ea typeface="Calibri" pitchFamily="34" charset="-122"/>
                <a:cs typeface="Calibri" pitchFamily="34" charset="-120"/>
              </a:rPr>
              <a:t>The app schedules and records. It cannot hear your recitation, and it makes no judgement of tajwīd. Nothing in it substitutes for reciting to a qualified teacher.</a:t>
            </a:r>
            <a:endParaRPr lang="en-US" sz="1050" dirty="0"/>
          </a:p>
        </p:txBody>
      </p:sp>
      <p:sp>
        <p:nvSpPr>
          <p:cNvPr id="24" name="Text 22"/>
          <p:cNvSpPr txBox="1"/>
          <p:nvPr/>
        </p:nvSpPr>
        <p:spPr>
          <a:xfrm>
            <a:off x="548640" y="4626864"/>
            <a:ext cx="8046720" cy="365760"/>
          </a:xfrm>
          <a:prstGeom prst="rect">
            <a:avLst/>
          </a:prstGeom>
          <a:noFill/>
          <a:ln/>
        </p:spPr>
        <p:txBody>
          <a:bodyPr wrap="square" lIns="0" tIns="0" rIns="0" bIns="0" rtlCol="0" anchor="ctr"/>
          <a:lstStyle/>
          <a:p>
            <a:pPr indent="0" marL="0">
              <a:buNone/>
            </a:pPr>
            <a:r>
              <a:rPr lang="en-US" sz="1050" i="1" dirty="0">
                <a:solidFill>
                  <a:srgbClr val="857C6D"/>
                </a:solidFill>
                <a:latin typeface="Calibri" pitchFamily="34" charset="0"/>
                <a:ea typeface="Calibri" pitchFamily="34" charset="-122"/>
                <a:cs typeface="Calibri" pitchFamily="34" charset="-120"/>
              </a:rPr>
              <a:t>Terminology also varies by region; the app uses the South-Asian naming of the three layers and says so in its own documentation.</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310896"/>
            <a:ext cx="8046720" cy="237744"/>
          </a:xfrm>
          <a:prstGeom prst="rect">
            <a:avLst/>
          </a:prstGeom>
          <a:noFill/>
          <a:ln/>
        </p:spPr>
        <p:txBody>
          <a:bodyPr wrap="square" lIns="0" tIns="0" rIns="0" bIns="0" rtlCol="0" anchor="ctr"/>
          <a:lstStyle/>
          <a:p>
            <a:pPr indent="0" marL="0">
              <a:buNone/>
            </a:pPr>
            <a:r>
              <a:rPr lang="en-US" sz="1100" b="1" spc="200" kern="0" dirty="0">
                <a:solidFill>
                  <a:srgbClr val="B8860B"/>
                </a:solidFill>
                <a:latin typeface="Calibri" pitchFamily="34" charset="0"/>
                <a:ea typeface="Calibri" pitchFamily="34" charset="-122"/>
                <a:cs typeface="Calibri" pitchFamily="34" charset="-120"/>
              </a:rPr>
              <a:t>SOURCES</a:t>
            </a:r>
            <a:endParaRPr lang="en-US" sz="1100" dirty="0"/>
          </a:p>
        </p:txBody>
      </p:sp>
      <p:sp>
        <p:nvSpPr>
          <p:cNvPr id="3" name="Text 1"/>
          <p:cNvSpPr txBox="1"/>
          <p:nvPr/>
        </p:nvSpPr>
        <p:spPr>
          <a:xfrm>
            <a:off x="548640" y="530352"/>
            <a:ext cx="8046720" cy="603504"/>
          </a:xfrm>
          <a:prstGeom prst="rect">
            <a:avLst/>
          </a:prstGeom>
          <a:noFill/>
          <a:ln/>
        </p:spPr>
        <p:txBody>
          <a:bodyPr wrap="square" lIns="0" tIns="0" rIns="0" bIns="0" rtlCol="0" anchor="ctr"/>
          <a:lstStyle/>
          <a:p>
            <a:pPr indent="0" marL="0">
              <a:buNone/>
            </a:pPr>
            <a:r>
              <a:rPr lang="en-US" sz="2900" b="1" dirty="0">
                <a:solidFill>
                  <a:srgbClr val="1F6F5F"/>
                </a:solidFill>
                <a:latin typeface="Cambria" pitchFamily="34" charset="0"/>
                <a:ea typeface="Cambria" pitchFamily="34" charset="-122"/>
                <a:cs typeface="Cambria" pitchFamily="34" charset="-120"/>
              </a:rPr>
              <a:t>References</a:t>
            </a:r>
            <a:endParaRPr lang="en-US" sz="2900" dirty="0"/>
          </a:p>
        </p:txBody>
      </p:sp>
      <p:sp>
        <p:nvSpPr>
          <p:cNvPr id="4" name="Text 2"/>
          <p:cNvSpPr txBox="1"/>
          <p:nvPr/>
        </p:nvSpPr>
        <p:spPr>
          <a:xfrm>
            <a:off x="548640" y="1188720"/>
            <a:ext cx="8046720" cy="3291840"/>
          </a:xfrm>
          <a:prstGeom prst="rect">
            <a:avLst/>
          </a:prstGeom>
          <a:noFill/>
          <a:ln/>
        </p:spPr>
        <p:txBody>
          <a:bodyPr wrap="square" lIns="0" tIns="0" rIns="0" bIns="0" rtlCol="0" anchor="ctr"/>
          <a:lstStyle/>
          <a:p>
            <a:pPr marL="342900" indent="-342900">
              <a:lnSpc>
                <a:spcPct val="105000"/>
              </a:lnSpc>
              <a:spcAft>
                <a:spcPts val="500"/>
              </a:spcAft>
              <a:buSzPct val="100000"/>
              <a:buChar char="▪"/>
            </a:pPr>
            <a:r>
              <a:rPr lang="en-US" sz="1000" dirty="0">
                <a:solidFill>
                  <a:srgbClr val="5D564B"/>
                </a:solidFill>
              </a:rPr>
              <a:t>Bjork, E. L., &amp; Bjork, R. A. (2011). Making things hard on yourself, but in a good way: Creating desirable difficulties to enhance learning. In Psychology and the Real World (pp. 56–64). Worth.</a:t>
            </a:r>
            <a:endParaRPr lang="en-US" sz="1000" dirty="0"/>
          </a:p>
          <a:p>
            <a:pPr marL="342900" indent="-342900">
              <a:lnSpc>
                <a:spcPct val="105000"/>
              </a:lnSpc>
              <a:spcAft>
                <a:spcPts val="500"/>
              </a:spcAft>
              <a:buSzPct val="100000"/>
              <a:buChar char="▪"/>
            </a:pPr>
            <a:r>
              <a:rPr lang="en-US" sz="1000" dirty="0">
                <a:solidFill>
                  <a:srgbClr val="5D564B"/>
                </a:solidFill>
              </a:rPr>
              <a:t>Cepeda, N. J., Pashler, H., Vul, E., Wixted, J. T., &amp; Rohrer, D. (2006). Distributed practice in verbal recall tasks: A review and quantitative synthesis. Psychological Bulletin, 132(3), 354–380.</a:t>
            </a:r>
            <a:endParaRPr lang="en-US" sz="1000" dirty="0"/>
          </a:p>
          <a:p>
            <a:pPr marL="342900" indent="-342900">
              <a:lnSpc>
                <a:spcPct val="105000"/>
              </a:lnSpc>
              <a:spcAft>
                <a:spcPts val="500"/>
              </a:spcAft>
              <a:buSzPct val="100000"/>
              <a:buChar char="▪"/>
            </a:pPr>
            <a:r>
              <a:rPr lang="en-US" sz="1000" dirty="0">
                <a:solidFill>
                  <a:srgbClr val="5D564B"/>
                </a:solidFill>
              </a:rPr>
              <a:t>Dunlosky, J., Rawson, K. A., Marsh, E. J., Nathan, M. J., &amp; Willingham, D. T. (2013). Improving students’ learning with effective learning techniques. Psychological Science in the Public Interest, 14(1), 4–58.</a:t>
            </a:r>
            <a:endParaRPr lang="en-US" sz="1000" dirty="0"/>
          </a:p>
          <a:p>
            <a:pPr marL="342900" indent="-342900">
              <a:lnSpc>
                <a:spcPct val="105000"/>
              </a:lnSpc>
              <a:spcAft>
                <a:spcPts val="500"/>
              </a:spcAft>
              <a:buSzPct val="100000"/>
              <a:buChar char="▪"/>
            </a:pPr>
            <a:r>
              <a:rPr lang="en-US" sz="1000" dirty="0">
                <a:solidFill>
                  <a:srgbClr val="5D564B"/>
                </a:solidFill>
              </a:rPr>
              <a:t>Ebbinghaus, H. (1885/1913). Memory: A Contribution to Experimental Psychology. Teachers College, Columbia University.</a:t>
            </a:r>
            <a:endParaRPr lang="en-US" sz="1000" dirty="0"/>
          </a:p>
          <a:p>
            <a:pPr marL="342900" indent="-342900">
              <a:lnSpc>
                <a:spcPct val="105000"/>
              </a:lnSpc>
              <a:spcAft>
                <a:spcPts val="500"/>
              </a:spcAft>
              <a:buSzPct val="100000"/>
              <a:buChar char="▪"/>
            </a:pPr>
            <a:r>
              <a:rPr lang="en-US" sz="1000" dirty="0">
                <a:solidFill>
                  <a:srgbClr val="5D564B"/>
                </a:solidFill>
              </a:rPr>
              <a:t>Kang, S. H. K., Lindsey, R. V., Mozer, M. C., &amp; Pashler, H. (2014). Retrieval practice over the long term: Should spacing be expanding or equal-interval? Psychonomic Bulletin &amp; Review, 21(6), 1544–1550.</a:t>
            </a:r>
            <a:endParaRPr lang="en-US" sz="1000" dirty="0"/>
          </a:p>
          <a:p>
            <a:pPr marL="342900" indent="-342900">
              <a:lnSpc>
                <a:spcPct val="105000"/>
              </a:lnSpc>
              <a:spcAft>
                <a:spcPts val="500"/>
              </a:spcAft>
              <a:buSzPct val="100000"/>
              <a:buChar char="▪"/>
            </a:pPr>
            <a:r>
              <a:rPr lang="en-US" sz="1000" dirty="0">
                <a:solidFill>
                  <a:srgbClr val="5D564B"/>
                </a:solidFill>
              </a:rPr>
              <a:t>Landauer, T. K., &amp; Bjork, R. A. (1978). Optimum rehearsal patterns and name learning. In Practical Aspects of Memory (pp. 625–632). Academic Press.</a:t>
            </a:r>
            <a:endParaRPr lang="en-US" sz="1000" dirty="0"/>
          </a:p>
          <a:p>
            <a:pPr marL="342900" indent="-342900">
              <a:lnSpc>
                <a:spcPct val="105000"/>
              </a:lnSpc>
              <a:spcAft>
                <a:spcPts val="500"/>
              </a:spcAft>
              <a:buSzPct val="100000"/>
              <a:buChar char="▪"/>
            </a:pPr>
            <a:r>
              <a:rPr lang="en-US" sz="1000" dirty="0">
                <a:solidFill>
                  <a:srgbClr val="5D564B"/>
                </a:solidFill>
              </a:rPr>
              <a:t>Roediger, H. L., &amp; Karpicke, J. D. (2006). Test-enhanced learning: Taking memory tests improves long-term retention. Psychological Science, 17(3), 249–255.</a:t>
            </a:r>
            <a:endParaRPr lang="en-US" sz="1000" dirty="0"/>
          </a:p>
          <a:p>
            <a:pPr marL="342900" indent="-342900">
              <a:lnSpc>
                <a:spcPct val="105000"/>
              </a:lnSpc>
              <a:spcAft>
                <a:spcPts val="500"/>
              </a:spcAft>
              <a:buSzPct val="100000"/>
              <a:buChar char="▪"/>
            </a:pPr>
            <a:r>
              <a:rPr lang="en-US" sz="1000" dirty="0">
                <a:solidFill>
                  <a:srgbClr val="5D564B"/>
                </a:solidFill>
              </a:rPr>
              <a:t>Storm, B. C., Bjork, R. A., &amp; Storm, J. C. (2010). Optimizing retrieval as a learning event. Memory &amp; Cognition, 38(2), 244–253.</a:t>
            </a:r>
            <a:endParaRPr lang="en-US" sz="1000" dirty="0"/>
          </a:p>
          <a:p>
            <a:pPr marL="342900" indent="-342900">
              <a:lnSpc>
                <a:spcPct val="105000"/>
              </a:lnSpc>
              <a:spcAft>
                <a:spcPts val="500"/>
              </a:spcAft>
              <a:buSzPct val="100000"/>
              <a:buChar char="▪"/>
            </a:pPr>
            <a:r>
              <a:rPr lang="en-US" sz="1000" dirty="0">
                <a:solidFill>
                  <a:srgbClr val="5D564B"/>
                </a:solidFill>
              </a:rPr>
              <a:t>Woźniak, P. A., &amp; Gorzelańczyk, E. J. (1994). Optimization of repetition spacing in the practice of learning. Acta Neurobiologiae Experimentalis, 54(1), 59–62.</a:t>
            </a:r>
            <a:endParaRPr lang="en-US" sz="1000" dirty="0"/>
          </a:p>
          <a:p>
            <a:pPr marL="342900" indent="-342900">
              <a:lnSpc>
                <a:spcPct val="105000"/>
              </a:lnSpc>
              <a:spcAft>
                <a:spcPts val="500"/>
              </a:spcAft>
              <a:buSzPct val="100000"/>
              <a:buChar char="▪"/>
            </a:pPr>
            <a:r>
              <a:rPr lang="en-US" sz="1000" dirty="0">
                <a:solidFill>
                  <a:srgbClr val="5D564B"/>
                </a:solidFill>
              </a:rPr>
              <a:t>Ṣaḥīḥ al-Bukhārī 4997–4998 and 5033, Book 66 (Virtues of the Qur’an), as translated on sunnah.com.</a:t>
            </a:r>
            <a:endParaRPr lang="en-US" sz="1000" dirty="0"/>
          </a:p>
        </p:txBody>
      </p:sp>
      <p:sp>
        <p:nvSpPr>
          <p:cNvPr id="5" name="Text 3"/>
          <p:cNvSpPr txBox="1"/>
          <p:nvPr/>
        </p:nvSpPr>
        <p:spPr>
          <a:xfrm>
            <a:off x="548640" y="4590288"/>
            <a:ext cx="8046720" cy="365760"/>
          </a:xfrm>
          <a:prstGeom prst="rect">
            <a:avLst/>
          </a:prstGeom>
          <a:noFill/>
          <a:ln/>
        </p:spPr>
        <p:txBody>
          <a:bodyPr wrap="square" lIns="0" tIns="0" rIns="0" bIns="0" rtlCol="0" anchor="ctr"/>
          <a:lstStyle/>
          <a:p>
            <a:pPr indent="0" marL="0">
              <a:buNone/>
            </a:pPr>
            <a:r>
              <a:rPr lang="en-US" sz="1050" i="1" dirty="0">
                <a:solidFill>
                  <a:srgbClr val="857C6D"/>
                </a:solidFill>
                <a:latin typeface="Calibri" pitchFamily="34" charset="0"/>
                <a:ea typeface="Calibri" pitchFamily="34" charset="-122"/>
                <a:cs typeface="Calibri" pitchFamily="34" charset="-120"/>
              </a:rPr>
              <a:t>Terminology of the three layers: madrasa pedagogical usage, transmitted through teachers; no single canonical text fixes it.</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4453C"/>
        </a:solidFill>
      </p:bgPr>
    </p:bg>
    <p:spTree>
      <p:nvGrpSpPr>
        <p:cNvPr id="1" name=""/>
        <p:cNvGrpSpPr/>
        <p:nvPr/>
      </p:nvGrpSpPr>
      <p:grpSpPr>
        <a:xfrm>
          <a:off x="0" y="0"/>
          <a:ext cx="0" cy="0"/>
          <a:chOff x="0" y="0"/>
          <a:chExt cx="0" cy="0"/>
        </a:xfrm>
      </p:grpSpPr>
      <p:sp>
        <p:nvSpPr>
          <p:cNvPr id="2" name="Text 0"/>
          <p:cNvSpPr txBox="1"/>
          <p:nvPr/>
        </p:nvSpPr>
        <p:spPr>
          <a:xfrm>
            <a:off x="731520" y="960120"/>
            <a:ext cx="7680960" cy="457200"/>
          </a:xfrm>
          <a:prstGeom prst="rect">
            <a:avLst/>
          </a:prstGeom>
          <a:noFill/>
          <a:ln/>
        </p:spPr>
        <p:txBody>
          <a:bodyPr wrap="square" lIns="0" tIns="0" rIns="0" bIns="0" rtlCol="0" anchor="ctr"/>
          <a:lstStyle/>
          <a:p>
            <a:pPr indent="0" marL="0">
              <a:buNone/>
            </a:pPr>
            <a:r>
              <a:rPr lang="en-US" sz="1500" b="1" spc="200" kern="0" dirty="0">
                <a:solidFill>
                  <a:srgbClr val="B8860B"/>
                </a:solidFill>
                <a:latin typeface="Calibri" pitchFamily="34" charset="0"/>
                <a:ea typeface="Calibri" pitchFamily="34" charset="-122"/>
                <a:cs typeface="Calibri" pitchFamily="34" charset="-120"/>
              </a:rPr>
              <a:t>In one sentence</a:t>
            </a:r>
            <a:endParaRPr lang="en-US" sz="1500" dirty="0"/>
          </a:p>
        </p:txBody>
      </p:sp>
      <p:sp>
        <p:nvSpPr>
          <p:cNvPr id="3" name="Text 1"/>
          <p:cNvSpPr txBox="1"/>
          <p:nvPr/>
        </p:nvSpPr>
        <p:spPr>
          <a:xfrm>
            <a:off x="731520" y="1481328"/>
            <a:ext cx="7680960" cy="1097280"/>
          </a:xfrm>
          <a:prstGeom prst="rect">
            <a:avLst/>
          </a:prstGeom>
          <a:noFill/>
          <a:ln/>
        </p:spPr>
        <p:txBody>
          <a:bodyPr wrap="square" lIns="0" tIns="0" rIns="0" bIns="0" rtlCol="0" anchor="ctr"/>
          <a:lstStyle/>
          <a:p>
            <a:pPr indent="0" marL="0">
              <a:lnSpc>
                <a:spcPct val="120000"/>
              </a:lnSpc>
              <a:buNone/>
            </a:pPr>
            <a:r>
              <a:rPr lang="en-US" sz="2700" b="1" dirty="0">
                <a:solidFill>
                  <a:srgbClr val="FFFFFF"/>
                </a:solidFill>
                <a:latin typeface="Cambria" pitchFamily="34" charset="0"/>
                <a:ea typeface="Cambria" pitchFamily="34" charset="-122"/>
                <a:cs typeface="Cambria" pitchFamily="34" charset="-120"/>
              </a:rPr>
              <a:t>Recite from memory, say honestly how it went,</a:t>
            </a:r>
            <a:endParaRPr lang="en-US" sz="2700" dirty="0"/>
          </a:p>
          <a:p>
            <a:pPr indent="0" marL="0">
              <a:lnSpc>
                <a:spcPct val="120000"/>
              </a:lnSpc>
              <a:buNone/>
            </a:pPr>
            <a:r>
              <a:rPr lang="en-US" sz="2700" b="1" dirty="0">
                <a:solidFill>
                  <a:srgbClr val="FFFFFF"/>
                </a:solidFill>
                <a:latin typeface="Cambria" pitchFamily="34" charset="0"/>
                <a:ea typeface="Cambria" pitchFamily="34" charset="-122"/>
                <a:cs typeface="Cambria" pitchFamily="34" charset="-120"/>
              </a:rPr>
              <a:t>and let the schedule decide when the page returns.</a:t>
            </a:r>
            <a:endParaRPr lang="en-US" sz="2700" dirty="0"/>
          </a:p>
        </p:txBody>
      </p:sp>
      <p:sp>
        <p:nvSpPr>
          <p:cNvPr id="4" name="Text 2"/>
          <p:cNvSpPr txBox="1"/>
          <p:nvPr/>
        </p:nvSpPr>
        <p:spPr>
          <a:xfrm>
            <a:off x="731520" y="2697480"/>
            <a:ext cx="7680960" cy="731520"/>
          </a:xfrm>
          <a:prstGeom prst="rect">
            <a:avLst/>
          </a:prstGeom>
          <a:noFill/>
          <a:ln/>
        </p:spPr>
        <p:txBody>
          <a:bodyPr wrap="square" lIns="0" tIns="0" rIns="0" bIns="0" rtlCol="0" anchor="ctr"/>
          <a:lstStyle/>
          <a:p>
            <a:pPr indent="0" marL="0">
              <a:lnSpc>
                <a:spcPct val="130000"/>
              </a:lnSpc>
              <a:buNone/>
            </a:pPr>
            <a:r>
              <a:rPr lang="en-US" sz="1400" dirty="0">
                <a:solidFill>
                  <a:srgbClr val="A9C7BE"/>
                </a:solidFill>
                <a:latin typeface="Calibri" pitchFamily="34" charset="0"/>
                <a:ea typeface="Calibri" pitchFamily="34" charset="-122"/>
                <a:cs typeface="Calibri" pitchFamily="34" charset="-120"/>
              </a:rPr>
              <a:t>The three layers are the tradition. The arithmetic between them is spaced repetition.</a:t>
            </a:r>
            <a:endParaRPr lang="en-US" sz="1400" dirty="0"/>
          </a:p>
          <a:p>
            <a:pPr indent="0" marL="0">
              <a:lnSpc>
                <a:spcPct val="130000"/>
              </a:lnSpc>
              <a:buNone/>
            </a:pPr>
            <a:r>
              <a:rPr lang="en-US" sz="1400" dirty="0">
                <a:solidFill>
                  <a:srgbClr val="A9C7BE"/>
                </a:solidFill>
                <a:latin typeface="Calibri" pitchFamily="34" charset="0"/>
                <a:ea typeface="Calibri" pitchFamily="34" charset="-122"/>
                <a:cs typeface="Calibri" pitchFamily="34" charset="-120"/>
              </a:rPr>
              <a:t>The app is only the part that remembers.</a:t>
            </a:r>
            <a:endParaRPr lang="en-US" sz="1400" dirty="0"/>
          </a:p>
        </p:txBody>
      </p:sp>
      <p:sp>
        <p:nvSpPr>
          <p:cNvPr id="5" name="Text 3"/>
          <p:cNvSpPr txBox="1"/>
          <p:nvPr/>
        </p:nvSpPr>
        <p:spPr>
          <a:xfrm>
            <a:off x="731520" y="3611880"/>
            <a:ext cx="2468880" cy="256032"/>
          </a:xfrm>
          <a:prstGeom prst="rect">
            <a:avLst/>
          </a:prstGeom>
          <a:noFill/>
          <a:ln/>
        </p:spPr>
        <p:txBody>
          <a:bodyPr wrap="square" lIns="0" tIns="0" rIns="0" bIns="0"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The app</a:t>
            </a:r>
            <a:endParaRPr lang="en-US" sz="1100" dirty="0"/>
          </a:p>
        </p:txBody>
      </p:sp>
      <p:sp>
        <p:nvSpPr>
          <p:cNvPr id="6" name="Text 4"/>
          <p:cNvSpPr txBox="1"/>
          <p:nvPr/>
        </p:nvSpPr>
        <p:spPr>
          <a:xfrm>
            <a:off x="731520" y="3858768"/>
            <a:ext cx="2468880" cy="274320"/>
          </a:xfrm>
          <a:prstGeom prst="rect">
            <a:avLst/>
          </a:prstGeom>
          <a:noFill/>
          <a:ln/>
        </p:spPr>
        <p:txBody>
          <a:bodyPr wrap="square" lIns="0" tIns="0" rIns="0" bIns="0" rtlCol="0" anchor="ctr"/>
          <a:lstStyle/>
          <a:p>
            <a:pPr indent="0" marL="0">
              <a:buNone/>
            </a:pPr>
            <a:r>
              <a:rPr lang="en-US" sz="1100" dirty="0">
                <a:solidFill>
                  <a:srgbClr val="CFE3DC"/>
                </a:solidFill>
                <a:latin typeface="Calibri" pitchFamily="34" charset="0"/>
                <a:ea typeface="Calibri" pitchFamily="34" charset="-122"/>
                <a:cs typeface="Calibri" pitchFamily="34" charset="-120"/>
              </a:rPr>
              <a:t>mazhar17.github.io/hc</a:t>
            </a:r>
            <a:endParaRPr lang="en-US" sz="1100" dirty="0"/>
          </a:p>
        </p:txBody>
      </p:sp>
      <p:sp>
        <p:nvSpPr>
          <p:cNvPr id="7" name="Text 5"/>
          <p:cNvSpPr txBox="1"/>
          <p:nvPr/>
        </p:nvSpPr>
        <p:spPr>
          <a:xfrm>
            <a:off x="3383280" y="3611880"/>
            <a:ext cx="2468880" cy="256032"/>
          </a:xfrm>
          <a:prstGeom prst="rect">
            <a:avLst/>
          </a:prstGeom>
          <a:noFill/>
          <a:ln/>
        </p:spPr>
        <p:txBody>
          <a:bodyPr wrap="square" lIns="0" tIns="0" rIns="0" bIns="0"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User Guide</a:t>
            </a:r>
            <a:endParaRPr lang="en-US" sz="1100" dirty="0"/>
          </a:p>
        </p:txBody>
      </p:sp>
      <p:sp>
        <p:nvSpPr>
          <p:cNvPr id="8" name="Text 6"/>
          <p:cNvSpPr txBox="1"/>
          <p:nvPr/>
        </p:nvSpPr>
        <p:spPr>
          <a:xfrm>
            <a:off x="3383280" y="3858768"/>
            <a:ext cx="2468880" cy="274320"/>
          </a:xfrm>
          <a:prstGeom prst="rect">
            <a:avLst/>
          </a:prstGeom>
          <a:noFill/>
          <a:ln/>
        </p:spPr>
        <p:txBody>
          <a:bodyPr wrap="square" lIns="0" tIns="0" rIns="0" bIns="0" rtlCol="0" anchor="ctr"/>
          <a:lstStyle/>
          <a:p>
            <a:pPr indent="0" marL="0">
              <a:buNone/>
            </a:pPr>
            <a:r>
              <a:rPr lang="en-US" sz="1100" dirty="0">
                <a:solidFill>
                  <a:srgbClr val="CFE3DC"/>
                </a:solidFill>
                <a:latin typeface="Calibri" pitchFamily="34" charset="0"/>
                <a:ea typeface="Calibri" pitchFamily="34" charset="-122"/>
                <a:cs typeface="Calibri" pitchFamily="34" charset="-120"/>
              </a:rPr>
              <a:t>…/Hifz-Companion-User-Guide.html</a:t>
            </a:r>
            <a:endParaRPr lang="en-US" sz="1100" dirty="0"/>
          </a:p>
        </p:txBody>
      </p:sp>
      <p:sp>
        <p:nvSpPr>
          <p:cNvPr id="9" name="Text 7"/>
          <p:cNvSpPr txBox="1"/>
          <p:nvPr/>
        </p:nvSpPr>
        <p:spPr>
          <a:xfrm>
            <a:off x="6035040" y="3611880"/>
            <a:ext cx="2468880" cy="256032"/>
          </a:xfrm>
          <a:prstGeom prst="rect">
            <a:avLst/>
          </a:prstGeom>
          <a:noFill/>
          <a:ln/>
        </p:spPr>
        <p:txBody>
          <a:bodyPr wrap="square" lIns="0" tIns="0" rIns="0" bIns="0" rtlCol="0" anchor="ctr"/>
          <a:lstStyle/>
          <a:p>
            <a:pPr indent="0" marL="0">
              <a:buNone/>
            </a:pPr>
            <a:r>
              <a:rPr lang="en-US" sz="1100" b="1" dirty="0">
                <a:solidFill>
                  <a:srgbClr val="B8860B"/>
                </a:solidFill>
                <a:latin typeface="Calibri" pitchFamily="34" charset="0"/>
                <a:ea typeface="Calibri" pitchFamily="34" charset="-122"/>
                <a:cs typeface="Calibri" pitchFamily="34" charset="-120"/>
              </a:rPr>
              <a:t>Tutorial (PDF)</a:t>
            </a:r>
            <a:endParaRPr lang="en-US" sz="1100" dirty="0"/>
          </a:p>
        </p:txBody>
      </p:sp>
      <p:sp>
        <p:nvSpPr>
          <p:cNvPr id="10" name="Text 8"/>
          <p:cNvSpPr txBox="1"/>
          <p:nvPr/>
        </p:nvSpPr>
        <p:spPr>
          <a:xfrm>
            <a:off x="6035040" y="3858768"/>
            <a:ext cx="2468880" cy="274320"/>
          </a:xfrm>
          <a:prstGeom prst="rect">
            <a:avLst/>
          </a:prstGeom>
          <a:noFill/>
          <a:ln/>
        </p:spPr>
        <p:txBody>
          <a:bodyPr wrap="square" lIns="0" tIns="0" rIns="0" bIns="0" rtlCol="0" anchor="ctr"/>
          <a:lstStyle/>
          <a:p>
            <a:pPr indent="0" marL="0">
              <a:buNone/>
            </a:pPr>
            <a:r>
              <a:rPr lang="en-US" sz="1100" dirty="0">
                <a:solidFill>
                  <a:srgbClr val="CFE3DC"/>
                </a:solidFill>
                <a:latin typeface="Calibri" pitchFamily="34" charset="0"/>
                <a:ea typeface="Calibri" pitchFamily="34" charset="-122"/>
                <a:cs typeface="Calibri" pitchFamily="34" charset="-120"/>
              </a:rPr>
              <a:t>…/Hifz-Companion-Tutorial.pdf</a:t>
            </a:r>
            <a:endParaRPr lang="en-US" sz="1100" dirty="0"/>
          </a:p>
        </p:txBody>
      </p:sp>
      <p:sp>
        <p:nvSpPr>
          <p:cNvPr id="11" name="Text 9"/>
          <p:cNvSpPr txBox="1"/>
          <p:nvPr/>
        </p:nvSpPr>
        <p:spPr>
          <a:xfrm>
            <a:off x="731520" y="4407408"/>
            <a:ext cx="7680960" cy="274320"/>
          </a:xfrm>
          <a:prstGeom prst="rect">
            <a:avLst/>
          </a:prstGeom>
          <a:noFill/>
          <a:ln/>
        </p:spPr>
        <p:txBody>
          <a:bodyPr wrap="square" lIns="0" tIns="0" rIns="0" bIns="0" rtlCol="0" anchor="ctr"/>
          <a:lstStyle/>
          <a:p>
            <a:pPr indent="0" marL="0">
              <a:buNone/>
            </a:pPr>
            <a:r>
              <a:rPr lang="en-US" sz="1050" i="1" dirty="0">
                <a:solidFill>
                  <a:srgbClr val="7FA79C"/>
                </a:solidFill>
                <a:latin typeface="Calibri" pitchFamily="34" charset="0"/>
                <a:ea typeface="Calibri" pitchFamily="34" charset="-122"/>
                <a:cs typeface="Calibri" pitchFamily="34" charset="-120"/>
              </a:rPr>
              <a:t>Free for personal and non-commercial use · comments and suggestions: mazhar1970@gmail.com</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Hifz Companion — the method</dc:title>
  <dc:subject>PptxGenJS Presentation</dc:subject>
  <dc:creator>Hifz Companion</dc:creator>
  <cp:lastModifiedBy>Hifz Companion</cp:lastModifiedBy>
  <cp:revision>1</cp:revision>
  <dcterms:created xsi:type="dcterms:W3CDTF">2026-09-13T01:19:53Z</dcterms:created>
  <dcterms:modified xsi:type="dcterms:W3CDTF">2026-09-13T01:19:53Z</dcterms:modified>
</cp:coreProperties>
</file>